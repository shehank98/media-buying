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7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595360" y="-2011680"/>
            <a:ext cx="5486400" cy="5486400"/>
          </a:xfrm>
          <a:prstGeom prst="ellipse">
            <a:avLst/>
          </a:prstGeom>
          <a:solidFill>
            <a:srgbClr val="1E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41832" y="1124712"/>
            <a:ext cx="950976" cy="950976"/>
          </a:xfrm>
          <a:prstGeom prst="ellipse">
            <a:avLst/>
          </a:prstGeom>
          <a:noFill/>
          <a:ln w="12700">
            <a:solidFill>
              <a:srgbClr val="3A4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2517" y="1305397"/>
            <a:ext cx="589605" cy="589605"/>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2517" y="1287109"/>
            <a:ext cx="589605" cy="589605"/>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FFFFFF"/>
                </a:solidFill>
                <a:latin typeface="Hanken Grotesk"/>
              </a:rPr>
              <a:t>O</a:t>
            </a:r>
          </a:p>
        </p:txBody>
      </p:sp>
      <p:sp>
        <p:nvSpPr>
          <p:cNvPr id="7" name="Oval 6"/>
          <p:cNvSpPr/>
          <p:nvPr/>
        </p:nvSpPr>
        <p:spPr>
          <a:xfrm>
            <a:off x="1712122" y="1153241"/>
            <a:ext cx="152156" cy="152156"/>
          </a:xfrm>
          <a:prstGeom prst="ellipse">
            <a:avLst/>
          </a:prstGeom>
          <a:solidFill>
            <a:srgbClr val="F07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41094" y="1961570"/>
            <a:ext cx="95097" cy="95097"/>
          </a:xfrm>
          <a:prstGeom prst="ellipse">
            <a:avLst/>
          </a:prstGeom>
          <a:solidFill>
            <a:srgbClr val="6E8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48840" y="1170432"/>
            <a:ext cx="7315200" cy="365760"/>
          </a:xfrm>
          <a:prstGeom prst="rect">
            <a:avLst/>
          </a:prstGeom>
          <a:noFill/>
        </p:spPr>
        <p:txBody>
          <a:bodyPr wrap="square" anchor="t" lIns="0" rIns="0" tIns="0" bIns="0">
            <a:spAutoFit/>
          </a:bodyPr>
          <a:lstStyle/>
          <a:p>
            <a:pPr algn="l">
              <a:lnSpc>
                <a:spcPct val="100000"/>
              </a:lnSpc>
              <a:spcBef>
                <a:spcPts val="0"/>
              </a:spcBef>
              <a:spcAft>
                <a:spcPts val="400"/>
              </a:spcAft>
            </a:pPr>
            <a:r>
              <a:rPr sz="1200" b="1" i="0" spc="260">
                <a:solidFill>
                  <a:srgbClr val="9AA6BC"/>
                </a:solidFill>
                <a:latin typeface="Hanken Grotesk"/>
              </a:rPr>
              <a:t>OGILVY MEDIA</a:t>
            </a:r>
          </a:p>
        </p:txBody>
      </p:sp>
      <p:sp>
        <p:nvSpPr>
          <p:cNvPr id="10" name="TextBox 9"/>
          <p:cNvSpPr txBox="1"/>
          <p:nvPr/>
        </p:nvSpPr>
        <p:spPr>
          <a:xfrm>
            <a:off x="2121408" y="1481328"/>
            <a:ext cx="8229600" cy="914400"/>
          </a:xfrm>
          <a:prstGeom prst="rect">
            <a:avLst/>
          </a:prstGeom>
          <a:noFill/>
        </p:spPr>
        <p:txBody>
          <a:bodyPr wrap="square" anchor="t" lIns="0" rIns="0" tIns="0" bIns="0">
            <a:spAutoFit/>
          </a:bodyPr>
          <a:lstStyle/>
          <a:p>
            <a:pPr algn="l">
              <a:lnSpc>
                <a:spcPct val="100000"/>
              </a:lnSpc>
              <a:spcBef>
                <a:spcPts val="0"/>
              </a:spcBef>
              <a:spcAft>
                <a:spcPts val="400"/>
              </a:spcAft>
            </a:pPr>
            <a:r>
              <a:rPr sz="4000" b="1" i="0">
                <a:solidFill>
                  <a:srgbClr val="FFFFFF"/>
                </a:solidFill>
                <a:latin typeface="Hanken Grotesk"/>
              </a:rPr>
              <a:t>Ogilvy </a:t>
            </a:r>
            <a:r>
              <a:rPr sz="4000" b="1" i="1">
                <a:solidFill>
                  <a:srgbClr val="F0703F"/>
                </a:solidFill>
                <a:latin typeface="Newsreader"/>
              </a:rPr>
              <a:t>Orbit</a:t>
            </a:r>
          </a:p>
        </p:txBody>
      </p:sp>
      <p:sp>
        <p:nvSpPr>
          <p:cNvPr id="11" name="TextBox 10"/>
          <p:cNvSpPr txBox="1"/>
          <p:nvPr/>
        </p:nvSpPr>
        <p:spPr>
          <a:xfrm>
            <a:off x="566928" y="3154680"/>
            <a:ext cx="10881360" cy="1828800"/>
          </a:xfrm>
          <a:prstGeom prst="rect">
            <a:avLst/>
          </a:prstGeom>
          <a:noFill/>
        </p:spPr>
        <p:txBody>
          <a:bodyPr wrap="square" anchor="t" lIns="0" rIns="0" tIns="0" bIns="0">
            <a:spAutoFit/>
          </a:bodyPr>
          <a:lstStyle/>
          <a:p>
            <a:pPr algn="l">
              <a:lnSpc>
                <a:spcPct val="106000"/>
              </a:lnSpc>
              <a:spcBef>
                <a:spcPts val="0"/>
              </a:spcBef>
              <a:spcAft>
                <a:spcPts val="400"/>
              </a:spcAft>
            </a:pPr>
            <a:r>
              <a:rPr sz="3300" b="1" i="0">
                <a:solidFill>
                  <a:srgbClr val="FFFFFF"/>
                </a:solidFill>
                <a:latin typeface="Hanken Grotesk"/>
              </a:rPr>
              <a:t>The Media Buying Records System,</a:t>
            </a:r>
          </a:p>
          <a:p>
            <a:pPr algn="l">
              <a:lnSpc>
                <a:spcPct val="106000"/>
              </a:lnSpc>
              <a:spcBef>
                <a:spcPts val="0"/>
              </a:spcBef>
              <a:spcAft>
                <a:spcPts val="400"/>
              </a:spcAft>
            </a:pPr>
            <a:r>
              <a:rPr sz="3300" b="1" i="0">
                <a:solidFill>
                  <a:srgbClr val="B9C6DE"/>
                </a:solidFill>
                <a:latin typeface="Hanken Grotesk"/>
              </a:rPr>
              <a:t>explained for Managers.</a:t>
            </a:r>
          </a:p>
        </p:txBody>
      </p:sp>
      <p:sp>
        <p:nvSpPr>
          <p:cNvPr id="12" name="TextBox 11"/>
          <p:cNvSpPr txBox="1"/>
          <p:nvPr/>
        </p:nvSpPr>
        <p:spPr>
          <a:xfrm>
            <a:off x="603504" y="4937760"/>
            <a:ext cx="10332720" cy="822960"/>
          </a:xfrm>
          <a:prstGeom prst="rect">
            <a:avLst/>
          </a:prstGeom>
          <a:noFill/>
        </p:spPr>
        <p:txBody>
          <a:bodyPr wrap="square" anchor="t" lIns="0" rIns="0" tIns="0" bIns="0">
            <a:spAutoFit/>
          </a:bodyPr>
          <a:lstStyle/>
          <a:p>
            <a:pPr algn="l">
              <a:lnSpc>
                <a:spcPct val="120000"/>
              </a:lnSpc>
              <a:spcBef>
                <a:spcPts val="0"/>
              </a:spcBef>
              <a:spcAft>
                <a:spcPts val="400"/>
              </a:spcAft>
            </a:pPr>
            <a:r>
              <a:rPr sz="1450" b="0" i="0">
                <a:solidFill>
                  <a:srgbClr val="9FB0CE"/>
                </a:solidFill>
                <a:latin typeface="Hanken Grotesk"/>
              </a:rPr>
              <a:t>A read-only tour of the analytics you oversee, with every chart on every screen explained: what it shows, how to read it, and what data drives it.</a:t>
            </a:r>
          </a:p>
        </p:txBody>
      </p:sp>
      <p:sp>
        <p:nvSpPr>
          <p:cNvPr id="13" name="Rectangle 12"/>
          <p:cNvSpPr/>
          <p:nvPr/>
        </p:nvSpPr>
        <p:spPr>
          <a:xfrm>
            <a:off x="603504" y="5943600"/>
            <a:ext cx="457200" cy="2743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3504" y="6080760"/>
            <a:ext cx="10058400" cy="365760"/>
          </a:xfrm>
          <a:prstGeom prst="rect">
            <a:avLst/>
          </a:prstGeom>
          <a:noFill/>
        </p:spPr>
        <p:txBody>
          <a:bodyPr wrap="square" anchor="t" lIns="0" rIns="0" tIns="0" bIns="0">
            <a:spAutoFit/>
          </a:bodyPr>
          <a:lstStyle/>
          <a:p>
            <a:pPr algn="l">
              <a:lnSpc>
                <a:spcPct val="100000"/>
              </a:lnSpc>
              <a:spcBef>
                <a:spcPts val="0"/>
              </a:spcBef>
              <a:spcAft>
                <a:spcPts val="400"/>
              </a:spcAft>
            </a:pPr>
            <a:r>
              <a:rPr sz="1150" b="0" i="0">
                <a:solidFill>
                  <a:srgbClr val="9AA6BC"/>
                </a:solidFill>
                <a:latin typeface="Hanken Grotesk"/>
              </a:rPr>
              <a:t>Prepared for the Managers team</a:t>
            </a:r>
            <a:r>
              <a:rPr sz="1150" b="0" i="0">
                <a:solidFill>
                  <a:srgbClr val="9AA6BC"/>
                </a:solidFill>
                <a:latin typeface="Spline Sans Mono"/>
              </a:rPr>
              <a: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7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48840"/>
            <a:ext cx="2743200" cy="1280160"/>
          </a:xfrm>
          <a:prstGeom prst="rect">
            <a:avLst/>
          </a:prstGeom>
          <a:noFill/>
        </p:spPr>
        <p:txBody>
          <a:bodyPr wrap="square" anchor="t" lIns="0" rIns="0" tIns="0" bIns="0">
            <a:spAutoFit/>
          </a:bodyPr>
          <a:lstStyle/>
          <a:p>
            <a:pPr algn="l">
              <a:lnSpc>
                <a:spcPct val="100000"/>
              </a:lnSpc>
              <a:spcBef>
                <a:spcPts val="0"/>
              </a:spcBef>
              <a:spcAft>
                <a:spcPts val="400"/>
              </a:spcAft>
            </a:pPr>
            <a:r>
              <a:rPr sz="9200" b="1" i="1">
                <a:solidFill>
                  <a:srgbClr val="243452"/>
                </a:solidFill>
                <a:latin typeface="Newsreader"/>
              </a:rPr>
              <a:t>01</a:t>
            </a:r>
          </a:p>
        </p:txBody>
      </p:sp>
      <p:sp>
        <p:nvSpPr>
          <p:cNvPr id="5" name="TextBox 4"/>
          <p:cNvSpPr txBox="1"/>
          <p:nvPr/>
        </p:nvSpPr>
        <p:spPr>
          <a:xfrm>
            <a:off x="2514600" y="2240280"/>
            <a:ext cx="8686800" cy="457200"/>
          </a:xfrm>
          <a:prstGeom prst="rect">
            <a:avLst/>
          </a:prstGeom>
          <a:noFill/>
        </p:spPr>
        <p:txBody>
          <a:bodyPr wrap="square" anchor="t" lIns="0" rIns="0" tIns="0" bIns="0">
            <a:spAutoFit/>
          </a:bodyPr>
          <a:lstStyle/>
          <a:p>
            <a:pPr algn="l">
              <a:lnSpc>
                <a:spcPct val="100000"/>
              </a:lnSpc>
              <a:spcBef>
                <a:spcPts val="0"/>
              </a:spcBef>
              <a:spcAft>
                <a:spcPts val="400"/>
              </a:spcAft>
            </a:pPr>
            <a:r>
              <a:rPr sz="1300" b="1" i="0" spc="240">
                <a:solidFill>
                  <a:srgbClr val="F0703F"/>
                </a:solidFill>
                <a:latin typeface="Hanken Grotesk"/>
              </a:rPr>
              <a:t>THE MANAGER'S VIEW</a:t>
            </a:r>
          </a:p>
        </p:txBody>
      </p:sp>
      <p:sp>
        <p:nvSpPr>
          <p:cNvPr id="6" name="TextBox 5"/>
          <p:cNvSpPr txBox="1"/>
          <p:nvPr/>
        </p:nvSpPr>
        <p:spPr>
          <a:xfrm>
            <a:off x="2487168" y="2651760"/>
            <a:ext cx="8869680" cy="1280160"/>
          </a:xfrm>
          <a:prstGeom prst="rect">
            <a:avLst/>
          </a:prstGeom>
          <a:noFill/>
        </p:spPr>
        <p:txBody>
          <a:bodyPr wrap="square" anchor="t" lIns="0" rIns="0" tIns="0" bIns="0">
            <a:spAutoFit/>
          </a:bodyPr>
          <a:lstStyle/>
          <a:p>
            <a:pPr algn="l">
              <a:lnSpc>
                <a:spcPct val="102000"/>
              </a:lnSpc>
              <a:spcBef>
                <a:spcPts val="0"/>
              </a:spcBef>
              <a:spcAft>
                <a:spcPts val="400"/>
              </a:spcAft>
            </a:pPr>
            <a:r>
              <a:rPr sz="4000" b="1" i="0">
                <a:solidFill>
                  <a:srgbClr val="FFFFFF"/>
                </a:solidFill>
                <a:latin typeface="Hanken Grotesk"/>
              </a:rPr>
              <a:t>Oversight, without
the spreadsheets</a:t>
            </a:r>
          </a:p>
        </p:txBody>
      </p:sp>
      <p:sp>
        <p:nvSpPr>
          <p:cNvPr id="7" name="TextBox 6"/>
          <p:cNvSpPr txBox="1"/>
          <p:nvPr/>
        </p:nvSpPr>
        <p:spPr>
          <a:xfrm>
            <a:off x="2514600" y="3977639"/>
            <a:ext cx="7955279" cy="914400"/>
          </a:xfrm>
          <a:prstGeom prst="rect">
            <a:avLst/>
          </a:prstGeom>
          <a:noFill/>
        </p:spPr>
        <p:txBody>
          <a:bodyPr wrap="square" anchor="t" lIns="0" rIns="0" tIns="0" bIns="0">
            <a:spAutoFit/>
          </a:bodyPr>
          <a:lstStyle/>
          <a:p>
            <a:pPr algn="l">
              <a:lnSpc>
                <a:spcPct val="120000"/>
              </a:lnSpc>
              <a:spcBef>
                <a:spcPts val="0"/>
              </a:spcBef>
              <a:spcAft>
                <a:spcPts val="400"/>
              </a:spcAft>
            </a:pPr>
            <a:r>
              <a:rPr sz="1450" b="0" i="0">
                <a:solidFill>
                  <a:srgbClr val="9FB0CE"/>
                </a:solidFill>
                <a:latin typeface="Hanken Grotesk"/>
              </a:rPr>
              <a:t>Orbit gives you a live, read only window into billings and performance across every agency you own.</a:t>
            </a:r>
          </a:p>
        </p:txBody>
      </p:sp>
      <p:sp>
        <p:nvSpPr>
          <p:cNvPr id="8" name="Oval 7"/>
          <p:cNvSpPr/>
          <p:nvPr/>
        </p:nvSpPr>
        <p:spPr>
          <a:xfrm>
            <a:off x="10981944" y="466344"/>
            <a:ext cx="621792" cy="621792"/>
          </a:xfrm>
          <a:prstGeom prst="ellipse">
            <a:avLst/>
          </a:prstGeom>
          <a:noFill/>
          <a:ln w="12700">
            <a:solidFill>
              <a:srgbClr val="3A4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100084" y="584484"/>
            <a:ext cx="385511" cy="385511"/>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100084" y="566196"/>
            <a:ext cx="385511" cy="385511"/>
          </a:xfrm>
          <a:prstGeom prst="rect">
            <a:avLst/>
          </a:prstGeom>
          <a:noFill/>
        </p:spPr>
        <p:txBody>
          <a:bodyPr wrap="square" anchor="ctr" lIns="0" rIns="0" tIns="0" bIns="0">
            <a:spAutoFit/>
          </a:bodyPr>
          <a:lstStyle/>
          <a:p>
            <a:pPr algn="ctr">
              <a:lnSpc>
                <a:spcPct val="100000"/>
              </a:lnSpc>
              <a:spcBef>
                <a:spcPts val="0"/>
              </a:spcBef>
              <a:spcAft>
                <a:spcPts val="400"/>
              </a:spcAft>
            </a:pPr>
            <a:r>
              <a:rPr sz="800" b="1" i="0">
                <a:solidFill>
                  <a:srgbClr val="FFFFFF"/>
                </a:solidFill>
                <a:latin typeface="Hanken Grotesk"/>
              </a:rPr>
              <a:t>O</a:t>
            </a:r>
          </a:p>
        </p:txBody>
      </p:sp>
      <p:sp>
        <p:nvSpPr>
          <p:cNvPr id="11" name="Oval 10"/>
          <p:cNvSpPr/>
          <p:nvPr/>
        </p:nvSpPr>
        <p:spPr>
          <a:xfrm>
            <a:off x="11485595" y="484997"/>
            <a:ext cx="99486" cy="99486"/>
          </a:xfrm>
          <a:prstGeom prst="ellipse">
            <a:avLst/>
          </a:prstGeom>
          <a:solidFill>
            <a:srgbClr val="F07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308384" y="1013520"/>
            <a:ext cx="62179" cy="62179"/>
          </a:xfrm>
          <a:prstGeom prst="ellipse">
            <a:avLst/>
          </a:prstGeom>
          <a:solidFill>
            <a:srgbClr val="6E8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640080"/>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786384"/>
            <a:ext cx="1005840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1" i="0" spc="180">
                <a:solidFill>
                  <a:srgbClr val="D9521C"/>
                </a:solidFill>
                <a:latin typeface="Hanken Grotesk"/>
              </a:rPr>
              <a:t>THE BIG PICTURE</a:t>
            </a:r>
          </a:p>
        </p:txBody>
      </p:sp>
      <p:sp>
        <p:nvSpPr>
          <p:cNvPr id="5" name="TextBox 4"/>
          <p:cNvSpPr txBox="1"/>
          <p:nvPr/>
        </p:nvSpPr>
        <p:spPr>
          <a:xfrm>
            <a:off x="548640" y="1097280"/>
            <a:ext cx="10789920" cy="64008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16243C"/>
                </a:solidFill>
                <a:latin typeface="Hanken Grotesk"/>
              </a:rPr>
              <a:t>One console for oversight</a:t>
            </a:r>
          </a:p>
        </p:txBody>
      </p:sp>
      <p:sp>
        <p:nvSpPr>
          <p:cNvPr id="6" name="TextBox 5"/>
          <p:cNvSpPr txBox="1"/>
          <p:nvPr/>
        </p:nvSpPr>
        <p:spPr>
          <a:xfrm>
            <a:off x="566928" y="1783080"/>
            <a:ext cx="10607040" cy="548640"/>
          </a:xfrm>
          <a:prstGeom prst="rect">
            <a:avLst/>
          </a:prstGeom>
          <a:noFill/>
        </p:spPr>
        <p:txBody>
          <a:bodyPr wrap="square" anchor="t" lIns="0" rIns="0" tIns="0" bIns="0">
            <a:spAutoFit/>
          </a:bodyPr>
          <a:lstStyle/>
          <a:p>
            <a:pPr algn="l">
              <a:lnSpc>
                <a:spcPct val="120000"/>
              </a:lnSpc>
              <a:spcBef>
                <a:spcPts val="0"/>
              </a:spcBef>
              <a:spcAft>
                <a:spcPts val="400"/>
              </a:spcAft>
            </a:pPr>
            <a:r>
              <a:rPr sz="1400" b="0" i="0">
                <a:solidFill>
                  <a:srgbClr val="3B4A63"/>
                </a:solidFill>
                <a:latin typeface="Hanken Grotesk"/>
              </a:rPr>
              <a:t>As a Manager you do not enter data. You review it, across agencies, the moment it lands.</a:t>
            </a:r>
          </a:p>
        </p:txBody>
      </p:sp>
      <p:sp>
        <p:nvSpPr>
          <p:cNvPr id="7" name="Rounded Rectangle 6"/>
          <p:cNvSpPr/>
          <p:nvPr/>
        </p:nvSpPr>
        <p:spPr>
          <a:xfrm>
            <a:off x="566928" y="2697480"/>
            <a:ext cx="3444239" cy="3108960"/>
          </a:xfrm>
          <a:prstGeom prst="roundRect">
            <a:avLst>
              <a:gd name="adj" fmla="val 4000"/>
            </a:avLst>
          </a:prstGeom>
          <a:solidFill>
            <a:srgbClr val="FFFFFF"/>
          </a:solidFill>
          <a:ln w="12700">
            <a:solidFill>
              <a:srgbClr val="E5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2697480"/>
            <a:ext cx="3444239" cy="82296"/>
          </a:xfrm>
          <a:prstGeom prst="round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86968" y="3081528"/>
            <a:ext cx="640080" cy="640080"/>
          </a:xfrm>
          <a:prstGeom prst="roundRect">
            <a:avLst>
              <a:gd name="adj" fmla="val 25000"/>
            </a:avLst>
          </a:prstGeom>
          <a:solidFill>
            <a:srgbClr val="0A17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3081528"/>
            <a:ext cx="640080" cy="640080"/>
          </a:xfrm>
          <a:prstGeom prst="rect">
            <a:avLst/>
          </a:prstGeom>
          <a:noFill/>
        </p:spPr>
        <p:txBody>
          <a:bodyPr wrap="square" anchor="ctr" lIns="0" rIns="0" tIns="0" bIns="0">
            <a:spAutoFit/>
          </a:bodyPr>
          <a:lstStyle/>
          <a:p>
            <a:pPr algn="ctr">
              <a:lnSpc>
                <a:spcPct val="100000"/>
              </a:lnSpc>
              <a:spcBef>
                <a:spcPts val="0"/>
              </a:spcBef>
              <a:spcAft>
                <a:spcPts val="400"/>
              </a:spcAft>
            </a:pPr>
            <a:r>
              <a:rPr sz="2200" b="1" i="0">
                <a:solidFill>
                  <a:srgbClr val="FFFFFF"/>
                </a:solidFill>
                <a:latin typeface="Hanken Grotesk"/>
              </a:rPr>
              <a:t>1</a:t>
            </a:r>
          </a:p>
        </p:txBody>
      </p:sp>
      <p:sp>
        <p:nvSpPr>
          <p:cNvPr id="11" name="TextBox 10"/>
          <p:cNvSpPr txBox="1"/>
          <p:nvPr/>
        </p:nvSpPr>
        <p:spPr>
          <a:xfrm>
            <a:off x="886968" y="3931920"/>
            <a:ext cx="2804160" cy="640080"/>
          </a:xfrm>
          <a:prstGeom prst="rect">
            <a:avLst/>
          </a:prstGeom>
          <a:noFill/>
        </p:spPr>
        <p:txBody>
          <a:bodyPr wrap="square" anchor="t" lIns="0" rIns="0" tIns="0" bIns="0">
            <a:spAutoFit/>
          </a:bodyPr>
          <a:lstStyle/>
          <a:p>
            <a:pPr algn="l">
              <a:lnSpc>
                <a:spcPct val="100000"/>
              </a:lnSpc>
              <a:spcBef>
                <a:spcPts val="0"/>
              </a:spcBef>
              <a:spcAft>
                <a:spcPts val="400"/>
              </a:spcAft>
            </a:pPr>
            <a:r>
              <a:rPr sz="1650" b="1" i="0">
                <a:solidFill>
                  <a:srgbClr val="16243C"/>
                </a:solidFill>
                <a:latin typeface="Hanken Grotesk"/>
              </a:rPr>
              <a:t>See every account</a:t>
            </a:r>
          </a:p>
        </p:txBody>
      </p:sp>
      <p:sp>
        <p:nvSpPr>
          <p:cNvPr id="12" name="TextBox 11"/>
          <p:cNvSpPr txBox="1"/>
          <p:nvPr/>
        </p:nvSpPr>
        <p:spPr>
          <a:xfrm>
            <a:off x="886968" y="4480560"/>
            <a:ext cx="2804160" cy="1280160"/>
          </a:xfrm>
          <a:prstGeom prst="rect">
            <a:avLst/>
          </a:prstGeom>
          <a:noFill/>
        </p:spPr>
        <p:txBody>
          <a:bodyPr wrap="square" anchor="t" lIns="0" rIns="0" tIns="0" bIns="0">
            <a:spAutoFit/>
          </a:bodyPr>
          <a:lstStyle/>
          <a:p>
            <a:pPr algn="l">
              <a:lnSpc>
                <a:spcPct val="118000"/>
              </a:lnSpc>
              <a:spcBef>
                <a:spcPts val="0"/>
              </a:spcBef>
              <a:spcAft>
                <a:spcPts val="400"/>
              </a:spcAft>
            </a:pPr>
            <a:r>
              <a:rPr sz="1200" b="0" i="0">
                <a:solidFill>
                  <a:srgbClr val="3B4A63"/>
                </a:solidFill>
                <a:latin typeface="Hanken Grotesk"/>
              </a:rPr>
              <a:t>Read access spans all agencies assigned to you, with billings, pacing and performance in one place.</a:t>
            </a:r>
          </a:p>
        </p:txBody>
      </p:sp>
      <p:sp>
        <p:nvSpPr>
          <p:cNvPr id="13" name="Rounded Rectangle 12"/>
          <p:cNvSpPr/>
          <p:nvPr/>
        </p:nvSpPr>
        <p:spPr>
          <a:xfrm>
            <a:off x="4376928" y="2697480"/>
            <a:ext cx="3444239" cy="3108960"/>
          </a:xfrm>
          <a:prstGeom prst="roundRect">
            <a:avLst>
              <a:gd name="adj" fmla="val 4000"/>
            </a:avLst>
          </a:prstGeom>
          <a:solidFill>
            <a:srgbClr val="FFFFFF"/>
          </a:solidFill>
          <a:ln w="12700">
            <a:solidFill>
              <a:srgbClr val="E5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76928" y="2697480"/>
            <a:ext cx="3444239" cy="82296"/>
          </a:xfrm>
          <a:prstGeom prst="round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696967" y="3081528"/>
            <a:ext cx="640080" cy="640080"/>
          </a:xfrm>
          <a:prstGeom prst="roundRect">
            <a:avLst>
              <a:gd name="adj" fmla="val 25000"/>
            </a:avLst>
          </a:prstGeom>
          <a:solidFill>
            <a:srgbClr val="0A17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96967" y="3081528"/>
            <a:ext cx="640080" cy="640080"/>
          </a:xfrm>
          <a:prstGeom prst="rect">
            <a:avLst/>
          </a:prstGeom>
          <a:noFill/>
        </p:spPr>
        <p:txBody>
          <a:bodyPr wrap="square" anchor="ctr" lIns="0" rIns="0" tIns="0" bIns="0">
            <a:spAutoFit/>
          </a:bodyPr>
          <a:lstStyle/>
          <a:p>
            <a:pPr algn="ctr">
              <a:lnSpc>
                <a:spcPct val="100000"/>
              </a:lnSpc>
              <a:spcBef>
                <a:spcPts val="0"/>
              </a:spcBef>
              <a:spcAft>
                <a:spcPts val="400"/>
              </a:spcAft>
            </a:pPr>
            <a:r>
              <a:rPr sz="2200" b="1" i="0">
                <a:solidFill>
                  <a:srgbClr val="FFFFFF"/>
                </a:solidFill>
                <a:latin typeface="Hanken Grotesk"/>
              </a:rPr>
              <a:t>2</a:t>
            </a:r>
          </a:p>
        </p:txBody>
      </p:sp>
      <p:sp>
        <p:nvSpPr>
          <p:cNvPr id="17" name="TextBox 16"/>
          <p:cNvSpPr txBox="1"/>
          <p:nvPr/>
        </p:nvSpPr>
        <p:spPr>
          <a:xfrm>
            <a:off x="4696967" y="3931920"/>
            <a:ext cx="2804160" cy="640080"/>
          </a:xfrm>
          <a:prstGeom prst="rect">
            <a:avLst/>
          </a:prstGeom>
          <a:noFill/>
        </p:spPr>
        <p:txBody>
          <a:bodyPr wrap="square" anchor="t" lIns="0" rIns="0" tIns="0" bIns="0">
            <a:spAutoFit/>
          </a:bodyPr>
          <a:lstStyle/>
          <a:p>
            <a:pPr algn="l">
              <a:lnSpc>
                <a:spcPct val="100000"/>
              </a:lnSpc>
              <a:spcBef>
                <a:spcPts val="0"/>
              </a:spcBef>
              <a:spcAft>
                <a:spcPts val="400"/>
              </a:spcAft>
            </a:pPr>
            <a:r>
              <a:rPr sz="1650" b="1" i="0">
                <a:solidFill>
                  <a:srgbClr val="16243C"/>
                </a:solidFill>
                <a:latin typeface="Hanken Grotesk"/>
              </a:rPr>
              <a:t>Read the story in charts</a:t>
            </a:r>
          </a:p>
        </p:txBody>
      </p:sp>
      <p:sp>
        <p:nvSpPr>
          <p:cNvPr id="18" name="TextBox 17"/>
          <p:cNvSpPr txBox="1"/>
          <p:nvPr/>
        </p:nvSpPr>
        <p:spPr>
          <a:xfrm>
            <a:off x="4696967" y="4480560"/>
            <a:ext cx="2804160" cy="1280160"/>
          </a:xfrm>
          <a:prstGeom prst="rect">
            <a:avLst/>
          </a:prstGeom>
          <a:noFill/>
        </p:spPr>
        <p:txBody>
          <a:bodyPr wrap="square" anchor="t" lIns="0" rIns="0" tIns="0" bIns="0">
            <a:spAutoFit/>
          </a:bodyPr>
          <a:lstStyle/>
          <a:p>
            <a:pPr algn="l">
              <a:lnSpc>
                <a:spcPct val="118000"/>
              </a:lnSpc>
              <a:spcBef>
                <a:spcPts val="0"/>
              </a:spcBef>
              <a:spcAft>
                <a:spcPts val="400"/>
              </a:spcAft>
            </a:pPr>
            <a:r>
              <a:rPr sz="1200" b="0" i="0">
                <a:solidFill>
                  <a:srgbClr val="3B4A63"/>
                </a:solidFill>
                <a:latin typeface="Hanken Grotesk"/>
              </a:rPr>
              <a:t>Dashboards turn raw schedules into trends, splits and rankings you can act on in a review.</a:t>
            </a:r>
          </a:p>
        </p:txBody>
      </p:sp>
      <p:sp>
        <p:nvSpPr>
          <p:cNvPr id="19" name="Rounded Rectangle 18"/>
          <p:cNvSpPr/>
          <p:nvPr/>
        </p:nvSpPr>
        <p:spPr>
          <a:xfrm>
            <a:off x="8186928" y="2697480"/>
            <a:ext cx="3444239" cy="3108960"/>
          </a:xfrm>
          <a:prstGeom prst="roundRect">
            <a:avLst>
              <a:gd name="adj" fmla="val 4000"/>
            </a:avLst>
          </a:prstGeom>
          <a:solidFill>
            <a:srgbClr val="FFFFFF"/>
          </a:solidFill>
          <a:ln w="12700">
            <a:solidFill>
              <a:srgbClr val="E5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186928" y="2697480"/>
            <a:ext cx="3444239" cy="82296"/>
          </a:xfrm>
          <a:prstGeom prst="round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506968" y="3081528"/>
            <a:ext cx="640080" cy="640080"/>
          </a:xfrm>
          <a:prstGeom prst="roundRect">
            <a:avLst>
              <a:gd name="adj" fmla="val 25000"/>
            </a:avLst>
          </a:prstGeom>
          <a:solidFill>
            <a:srgbClr val="0A17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968" y="3081528"/>
            <a:ext cx="640080" cy="640080"/>
          </a:xfrm>
          <a:prstGeom prst="rect">
            <a:avLst/>
          </a:prstGeom>
          <a:noFill/>
        </p:spPr>
        <p:txBody>
          <a:bodyPr wrap="square" anchor="ctr" lIns="0" rIns="0" tIns="0" bIns="0">
            <a:spAutoFit/>
          </a:bodyPr>
          <a:lstStyle/>
          <a:p>
            <a:pPr algn="ctr">
              <a:lnSpc>
                <a:spcPct val="100000"/>
              </a:lnSpc>
              <a:spcBef>
                <a:spcPts val="0"/>
              </a:spcBef>
              <a:spcAft>
                <a:spcPts val="400"/>
              </a:spcAft>
            </a:pPr>
            <a:r>
              <a:rPr sz="2200" b="1" i="0">
                <a:solidFill>
                  <a:srgbClr val="FFFFFF"/>
                </a:solidFill>
                <a:latin typeface="Hanken Grotesk"/>
              </a:rPr>
              <a:t>3</a:t>
            </a:r>
          </a:p>
        </p:txBody>
      </p:sp>
      <p:sp>
        <p:nvSpPr>
          <p:cNvPr id="23" name="TextBox 22"/>
          <p:cNvSpPr txBox="1"/>
          <p:nvPr/>
        </p:nvSpPr>
        <p:spPr>
          <a:xfrm>
            <a:off x="8506968" y="3931920"/>
            <a:ext cx="2804160" cy="640080"/>
          </a:xfrm>
          <a:prstGeom prst="rect">
            <a:avLst/>
          </a:prstGeom>
          <a:noFill/>
        </p:spPr>
        <p:txBody>
          <a:bodyPr wrap="square" anchor="t" lIns="0" rIns="0" tIns="0" bIns="0">
            <a:spAutoFit/>
          </a:bodyPr>
          <a:lstStyle/>
          <a:p>
            <a:pPr algn="l">
              <a:lnSpc>
                <a:spcPct val="100000"/>
              </a:lnSpc>
              <a:spcBef>
                <a:spcPts val="0"/>
              </a:spcBef>
              <a:spcAft>
                <a:spcPts val="400"/>
              </a:spcAft>
            </a:pPr>
            <a:r>
              <a:rPr sz="1650" b="1" i="0">
                <a:solidFill>
                  <a:srgbClr val="16243C"/>
                </a:solidFill>
                <a:latin typeface="Hanken Grotesk"/>
              </a:rPr>
              <a:t>Report and export</a:t>
            </a:r>
          </a:p>
        </p:txBody>
      </p:sp>
      <p:sp>
        <p:nvSpPr>
          <p:cNvPr id="24" name="TextBox 23"/>
          <p:cNvSpPr txBox="1"/>
          <p:nvPr/>
        </p:nvSpPr>
        <p:spPr>
          <a:xfrm>
            <a:off x="8506968" y="4480560"/>
            <a:ext cx="2804160" cy="1280160"/>
          </a:xfrm>
          <a:prstGeom prst="rect">
            <a:avLst/>
          </a:prstGeom>
          <a:noFill/>
        </p:spPr>
        <p:txBody>
          <a:bodyPr wrap="square" anchor="t" lIns="0" rIns="0" tIns="0" bIns="0">
            <a:spAutoFit/>
          </a:bodyPr>
          <a:lstStyle/>
          <a:p>
            <a:pPr algn="l">
              <a:lnSpc>
                <a:spcPct val="118000"/>
              </a:lnSpc>
              <a:spcBef>
                <a:spcPts val="0"/>
              </a:spcBef>
              <a:spcAft>
                <a:spcPts val="400"/>
              </a:spcAft>
            </a:pPr>
            <a:r>
              <a:rPr sz="1200" b="0" i="0">
                <a:solidFill>
                  <a:srgbClr val="3B4A63"/>
                </a:solidFill>
                <a:latin typeface="Hanken Grotesk"/>
              </a:rPr>
              <a:t>Pull branded Excel and PDF reports for any agency, client or channel on demand.</a:t>
            </a:r>
          </a:p>
        </p:txBody>
      </p:sp>
      <p:sp>
        <p:nvSpPr>
          <p:cNvPr id="25" name="Rectangle 24"/>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7" name="TextBox 26"/>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THE MANAGER'S VIEW</a:t>
            </a:r>
          </a:p>
        </p:txBody>
      </p:sp>
      <p:sp>
        <p:nvSpPr>
          <p:cNvPr id="28" name="TextBox 27"/>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03 / 41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640080"/>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786384"/>
            <a:ext cx="1005840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1" i="0" spc="180">
                <a:solidFill>
                  <a:srgbClr val="D9521C"/>
                </a:solidFill>
                <a:latin typeface="Hanken Grotesk"/>
              </a:rPr>
              <a:t>YOUR ACCESS</a:t>
            </a:r>
          </a:p>
        </p:txBody>
      </p:sp>
      <p:sp>
        <p:nvSpPr>
          <p:cNvPr id="5" name="TextBox 4"/>
          <p:cNvSpPr txBox="1"/>
          <p:nvPr/>
        </p:nvSpPr>
        <p:spPr>
          <a:xfrm>
            <a:off x="548640" y="1097280"/>
            <a:ext cx="10972800" cy="64008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16243C"/>
                </a:solidFill>
                <a:latin typeface="Hanken Grotesk"/>
              </a:rPr>
              <a:t>What a Manager can reach</a:t>
            </a:r>
          </a:p>
        </p:txBody>
      </p:sp>
      <p:sp>
        <p:nvSpPr>
          <p:cNvPr id="6" name="TextBox 5"/>
          <p:cNvSpPr txBox="1"/>
          <p:nvPr/>
        </p:nvSpPr>
        <p:spPr>
          <a:xfrm>
            <a:off x="566928" y="1810512"/>
            <a:ext cx="10698480" cy="640080"/>
          </a:xfrm>
          <a:prstGeom prst="rect">
            <a:avLst/>
          </a:prstGeom>
          <a:noFill/>
        </p:spPr>
        <p:txBody>
          <a:bodyPr wrap="square" anchor="t" lIns="0" rIns="0" tIns="0" bIns="0">
            <a:spAutoFit/>
          </a:bodyPr>
          <a:lstStyle/>
          <a:p>
            <a:pPr algn="l">
              <a:lnSpc>
                <a:spcPct val="120000"/>
              </a:lnSpc>
              <a:spcBef>
                <a:spcPts val="0"/>
              </a:spcBef>
              <a:spcAft>
                <a:spcPts val="400"/>
              </a:spcAft>
            </a:pPr>
            <a:r>
              <a:rPr sz="1350" b="0" i="0">
                <a:solidFill>
                  <a:srgbClr val="3B4A63"/>
                </a:solidFill>
                <a:latin typeface="Hanken Grotesk"/>
              </a:rPr>
              <a:t>You have read access across every agency assigned to you. You cannot edit records, which keeps the numbers you review clean and trustworthy.</a:t>
            </a:r>
          </a:p>
        </p:txBody>
      </p:sp>
      <p:sp>
        <p:nvSpPr>
          <p:cNvPr id="7" name="Rounded Rectangle 6"/>
          <p:cNvSpPr/>
          <p:nvPr/>
        </p:nvSpPr>
        <p:spPr>
          <a:xfrm>
            <a:off x="566928" y="2743200"/>
            <a:ext cx="5440680" cy="841248"/>
          </a:xfrm>
          <a:prstGeom prst="roundRect">
            <a:avLst>
              <a:gd name="adj" fmla="val 12000"/>
            </a:avLst>
          </a:prstGeom>
          <a:solidFill>
            <a:srgbClr val="FFFFFF"/>
          </a:solidFill>
          <a:ln w="12700">
            <a:solidFill>
              <a:srgbClr val="E5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2889504"/>
            <a:ext cx="64008" cy="548640"/>
          </a:xfrm>
          <a:prstGeom prst="round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871216"/>
            <a:ext cx="4983480" cy="365760"/>
          </a:xfrm>
          <a:prstGeom prst="rect">
            <a:avLst/>
          </a:prstGeom>
          <a:noFill/>
        </p:spPr>
        <p:txBody>
          <a:bodyPr wrap="square" anchor="t" lIns="0" rIns="0" tIns="0" bIns="0">
            <a:spAutoFit/>
          </a:bodyPr>
          <a:lstStyle/>
          <a:p>
            <a:pPr algn="l">
              <a:lnSpc>
                <a:spcPct val="100000"/>
              </a:lnSpc>
              <a:spcBef>
                <a:spcPts val="0"/>
              </a:spcBef>
              <a:spcAft>
                <a:spcPts val="400"/>
              </a:spcAft>
            </a:pPr>
            <a:r>
              <a:rPr sz="1450" b="1" i="0">
                <a:solidFill>
                  <a:srgbClr val="16243C"/>
                </a:solidFill>
                <a:latin typeface="Hanken Grotesk"/>
              </a:rPr>
              <a:t>Executive Dashboard</a:t>
            </a:r>
          </a:p>
        </p:txBody>
      </p:sp>
      <p:sp>
        <p:nvSpPr>
          <p:cNvPr id="10" name="TextBox 9"/>
          <p:cNvSpPr txBox="1"/>
          <p:nvPr/>
        </p:nvSpPr>
        <p:spPr>
          <a:xfrm>
            <a:off x="859536" y="3182112"/>
            <a:ext cx="498348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0" i="0">
                <a:solidFill>
                  <a:srgbClr val="6B7790"/>
                </a:solidFill>
                <a:latin typeface="Hanken Grotesk"/>
              </a:rPr>
              <a:t>Your home: billings and pacing across agencies</a:t>
            </a:r>
          </a:p>
        </p:txBody>
      </p:sp>
      <p:sp>
        <p:nvSpPr>
          <p:cNvPr id="11" name="Rounded Rectangle 10"/>
          <p:cNvSpPr/>
          <p:nvPr/>
        </p:nvSpPr>
        <p:spPr>
          <a:xfrm>
            <a:off x="6236208" y="2743200"/>
            <a:ext cx="5440680" cy="841248"/>
          </a:xfrm>
          <a:prstGeom prst="roundRect">
            <a:avLst>
              <a:gd name="adj" fmla="val 12000"/>
            </a:avLst>
          </a:prstGeom>
          <a:solidFill>
            <a:srgbClr val="FFFFFF"/>
          </a:solidFill>
          <a:ln w="12700">
            <a:solidFill>
              <a:srgbClr val="E5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36208" y="2889504"/>
            <a:ext cx="64008" cy="548640"/>
          </a:xfrm>
          <a:prstGeom prst="round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2871216"/>
            <a:ext cx="4983480" cy="365760"/>
          </a:xfrm>
          <a:prstGeom prst="rect">
            <a:avLst/>
          </a:prstGeom>
          <a:noFill/>
        </p:spPr>
        <p:txBody>
          <a:bodyPr wrap="square" anchor="t" lIns="0" rIns="0" tIns="0" bIns="0">
            <a:spAutoFit/>
          </a:bodyPr>
          <a:lstStyle/>
          <a:p>
            <a:pPr algn="l">
              <a:lnSpc>
                <a:spcPct val="100000"/>
              </a:lnSpc>
              <a:spcBef>
                <a:spcPts val="0"/>
              </a:spcBef>
              <a:spcAft>
                <a:spcPts val="400"/>
              </a:spcAft>
            </a:pPr>
            <a:r>
              <a:rPr sz="1450" b="1" i="0">
                <a:solidFill>
                  <a:srgbClr val="16243C"/>
                </a:solidFill>
                <a:latin typeface="Hanken Grotesk"/>
              </a:rPr>
              <a:t>Spend Analytics</a:t>
            </a:r>
          </a:p>
        </p:txBody>
      </p:sp>
      <p:sp>
        <p:nvSpPr>
          <p:cNvPr id="14" name="TextBox 13"/>
          <p:cNvSpPr txBox="1"/>
          <p:nvPr/>
        </p:nvSpPr>
        <p:spPr>
          <a:xfrm>
            <a:off x="6528816" y="3182112"/>
            <a:ext cx="498348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0" i="0">
                <a:solidFill>
                  <a:srgbClr val="6B7790"/>
                </a:solidFill>
                <a:latin typeface="Hanken Grotesk"/>
              </a:rPr>
              <a:t>Deep charts and breakdowns of committed spend</a:t>
            </a:r>
          </a:p>
        </p:txBody>
      </p:sp>
      <p:sp>
        <p:nvSpPr>
          <p:cNvPr id="15" name="Rounded Rectangle 14"/>
          <p:cNvSpPr/>
          <p:nvPr/>
        </p:nvSpPr>
        <p:spPr>
          <a:xfrm>
            <a:off x="566928" y="3767328"/>
            <a:ext cx="5440680" cy="841248"/>
          </a:xfrm>
          <a:prstGeom prst="roundRect">
            <a:avLst>
              <a:gd name="adj" fmla="val 12000"/>
            </a:avLst>
          </a:prstGeom>
          <a:solidFill>
            <a:srgbClr val="FFFFFF"/>
          </a:solidFill>
          <a:ln w="12700">
            <a:solidFill>
              <a:srgbClr val="E5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66928" y="3913632"/>
            <a:ext cx="64008" cy="548640"/>
          </a:xfrm>
          <a:prstGeom prst="round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3895344"/>
            <a:ext cx="4983480" cy="365760"/>
          </a:xfrm>
          <a:prstGeom prst="rect">
            <a:avLst/>
          </a:prstGeom>
          <a:noFill/>
        </p:spPr>
        <p:txBody>
          <a:bodyPr wrap="square" anchor="t" lIns="0" rIns="0" tIns="0" bIns="0">
            <a:spAutoFit/>
          </a:bodyPr>
          <a:lstStyle/>
          <a:p>
            <a:pPr algn="l">
              <a:lnSpc>
                <a:spcPct val="100000"/>
              </a:lnSpc>
              <a:spcBef>
                <a:spcPts val="0"/>
              </a:spcBef>
              <a:spcAft>
                <a:spcPts val="400"/>
              </a:spcAft>
            </a:pPr>
            <a:r>
              <a:rPr sz="1450" b="1" i="0">
                <a:solidFill>
                  <a:srgbClr val="16243C"/>
                </a:solidFill>
                <a:latin typeface="Hanken Grotesk"/>
              </a:rPr>
              <a:t>Deep Dashboard</a:t>
            </a:r>
          </a:p>
        </p:txBody>
      </p:sp>
      <p:sp>
        <p:nvSpPr>
          <p:cNvPr id="18" name="TextBox 17"/>
          <p:cNvSpPr txBox="1"/>
          <p:nvPr/>
        </p:nvSpPr>
        <p:spPr>
          <a:xfrm>
            <a:off x="859536" y="4206240"/>
            <a:ext cx="498348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0" i="0">
                <a:solidFill>
                  <a:srgbClr val="6B7790"/>
                </a:solidFill>
                <a:latin typeface="Hanken Grotesk"/>
              </a:rPr>
              <a:t>Multi year trends and property performance</a:t>
            </a:r>
          </a:p>
        </p:txBody>
      </p:sp>
      <p:sp>
        <p:nvSpPr>
          <p:cNvPr id="19" name="Rounded Rectangle 18"/>
          <p:cNvSpPr/>
          <p:nvPr/>
        </p:nvSpPr>
        <p:spPr>
          <a:xfrm>
            <a:off x="6236208" y="3767328"/>
            <a:ext cx="5440680" cy="841248"/>
          </a:xfrm>
          <a:prstGeom prst="roundRect">
            <a:avLst>
              <a:gd name="adj" fmla="val 12000"/>
            </a:avLst>
          </a:prstGeom>
          <a:solidFill>
            <a:srgbClr val="FFFFFF"/>
          </a:solidFill>
          <a:ln w="12700">
            <a:solidFill>
              <a:srgbClr val="E5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236208" y="3913632"/>
            <a:ext cx="64008" cy="548640"/>
          </a:xfrm>
          <a:prstGeom prst="round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28816" y="3895344"/>
            <a:ext cx="4983480" cy="365760"/>
          </a:xfrm>
          <a:prstGeom prst="rect">
            <a:avLst/>
          </a:prstGeom>
          <a:noFill/>
        </p:spPr>
        <p:txBody>
          <a:bodyPr wrap="square" anchor="t" lIns="0" rIns="0" tIns="0" bIns="0">
            <a:spAutoFit/>
          </a:bodyPr>
          <a:lstStyle/>
          <a:p>
            <a:pPr algn="l">
              <a:lnSpc>
                <a:spcPct val="100000"/>
              </a:lnSpc>
              <a:spcBef>
                <a:spcPts val="0"/>
              </a:spcBef>
              <a:spcAft>
                <a:spcPts val="400"/>
              </a:spcAft>
            </a:pPr>
            <a:r>
              <a:rPr sz="1450" b="1" i="0">
                <a:solidFill>
                  <a:srgbClr val="16243C"/>
                </a:solidFill>
                <a:latin typeface="Hanken Grotesk"/>
              </a:rPr>
              <a:t>Channel Intelligence</a:t>
            </a:r>
          </a:p>
        </p:txBody>
      </p:sp>
      <p:sp>
        <p:nvSpPr>
          <p:cNvPr id="22" name="TextBox 21"/>
          <p:cNvSpPr txBox="1"/>
          <p:nvPr/>
        </p:nvSpPr>
        <p:spPr>
          <a:xfrm>
            <a:off x="6528816" y="4206240"/>
            <a:ext cx="498348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0" i="0">
                <a:solidFill>
                  <a:srgbClr val="6B7790"/>
                </a:solidFill>
                <a:latin typeface="Hanken Grotesk"/>
              </a:rPr>
              <a:t>Spend and trends for any single channel</a:t>
            </a:r>
          </a:p>
        </p:txBody>
      </p:sp>
      <p:sp>
        <p:nvSpPr>
          <p:cNvPr id="23" name="Rounded Rectangle 22"/>
          <p:cNvSpPr/>
          <p:nvPr/>
        </p:nvSpPr>
        <p:spPr>
          <a:xfrm>
            <a:off x="566928" y="4791456"/>
            <a:ext cx="5440680" cy="841248"/>
          </a:xfrm>
          <a:prstGeom prst="roundRect">
            <a:avLst>
              <a:gd name="adj" fmla="val 12000"/>
            </a:avLst>
          </a:prstGeom>
          <a:solidFill>
            <a:srgbClr val="FFFFFF"/>
          </a:solidFill>
          <a:ln w="12700">
            <a:solidFill>
              <a:srgbClr val="E5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66928" y="4937760"/>
            <a:ext cx="64008" cy="548640"/>
          </a:xfrm>
          <a:prstGeom prst="round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9536" y="4919472"/>
            <a:ext cx="4983480" cy="365760"/>
          </a:xfrm>
          <a:prstGeom prst="rect">
            <a:avLst/>
          </a:prstGeom>
          <a:noFill/>
        </p:spPr>
        <p:txBody>
          <a:bodyPr wrap="square" anchor="t" lIns="0" rIns="0" tIns="0" bIns="0">
            <a:spAutoFit/>
          </a:bodyPr>
          <a:lstStyle/>
          <a:p>
            <a:pPr algn="l">
              <a:lnSpc>
                <a:spcPct val="100000"/>
              </a:lnSpc>
              <a:spcBef>
                <a:spcPts val="0"/>
              </a:spcBef>
              <a:spcAft>
                <a:spcPts val="400"/>
              </a:spcAft>
            </a:pPr>
            <a:r>
              <a:rPr sz="1450" b="1" i="0">
                <a:solidFill>
                  <a:srgbClr val="16243C"/>
                </a:solidFill>
                <a:latin typeface="Hanken Grotesk"/>
              </a:rPr>
              <a:t>Client Dashboard</a:t>
            </a:r>
          </a:p>
        </p:txBody>
      </p:sp>
      <p:sp>
        <p:nvSpPr>
          <p:cNvPr id="26" name="TextBox 25"/>
          <p:cNvSpPr txBox="1"/>
          <p:nvPr/>
        </p:nvSpPr>
        <p:spPr>
          <a:xfrm>
            <a:off x="859536" y="5230368"/>
            <a:ext cx="498348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0" i="0">
                <a:solidFill>
                  <a:srgbClr val="6B7790"/>
                </a:solidFill>
                <a:latin typeface="Hanken Grotesk"/>
              </a:rPr>
              <a:t>A per client analytics view for reviews</a:t>
            </a:r>
          </a:p>
        </p:txBody>
      </p:sp>
      <p:sp>
        <p:nvSpPr>
          <p:cNvPr id="27" name="Rounded Rectangle 26"/>
          <p:cNvSpPr/>
          <p:nvPr/>
        </p:nvSpPr>
        <p:spPr>
          <a:xfrm>
            <a:off x="6236208" y="4791456"/>
            <a:ext cx="5440680" cy="841248"/>
          </a:xfrm>
          <a:prstGeom prst="roundRect">
            <a:avLst>
              <a:gd name="adj" fmla="val 12000"/>
            </a:avLst>
          </a:prstGeom>
          <a:solidFill>
            <a:srgbClr val="FFFFFF"/>
          </a:solidFill>
          <a:ln w="12700">
            <a:solidFill>
              <a:srgbClr val="E5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236208" y="4937760"/>
            <a:ext cx="64008" cy="548640"/>
          </a:xfrm>
          <a:prstGeom prst="round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28816" y="4919472"/>
            <a:ext cx="4983480" cy="365760"/>
          </a:xfrm>
          <a:prstGeom prst="rect">
            <a:avLst/>
          </a:prstGeom>
          <a:noFill/>
        </p:spPr>
        <p:txBody>
          <a:bodyPr wrap="square" anchor="t" lIns="0" rIns="0" tIns="0" bIns="0">
            <a:spAutoFit/>
          </a:bodyPr>
          <a:lstStyle/>
          <a:p>
            <a:pPr algn="l">
              <a:lnSpc>
                <a:spcPct val="100000"/>
              </a:lnSpc>
              <a:spcBef>
                <a:spcPts val="0"/>
              </a:spcBef>
              <a:spcAft>
                <a:spcPts val="400"/>
              </a:spcAft>
            </a:pPr>
            <a:r>
              <a:rPr sz="1450" b="1" i="0">
                <a:solidFill>
                  <a:srgbClr val="16243C"/>
                </a:solidFill>
                <a:latin typeface="Hanken Grotesk"/>
              </a:rPr>
              <a:t>Agencies &amp; Clients</a:t>
            </a:r>
          </a:p>
        </p:txBody>
      </p:sp>
      <p:sp>
        <p:nvSpPr>
          <p:cNvPr id="30" name="TextBox 29"/>
          <p:cNvSpPr txBox="1"/>
          <p:nvPr/>
        </p:nvSpPr>
        <p:spPr>
          <a:xfrm>
            <a:off x="6528816" y="5230368"/>
            <a:ext cx="498348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0" i="0">
                <a:solidFill>
                  <a:srgbClr val="6B7790"/>
                </a:solidFill>
                <a:latin typeface="Hanken Grotesk"/>
              </a:rPr>
              <a:t>The full roster you oversee</a:t>
            </a:r>
          </a:p>
        </p:txBody>
      </p:sp>
      <p:sp>
        <p:nvSpPr>
          <p:cNvPr id="31" name="Rounded Rectangle 30"/>
          <p:cNvSpPr/>
          <p:nvPr/>
        </p:nvSpPr>
        <p:spPr>
          <a:xfrm>
            <a:off x="566928" y="5815584"/>
            <a:ext cx="5440680" cy="841248"/>
          </a:xfrm>
          <a:prstGeom prst="roundRect">
            <a:avLst>
              <a:gd name="adj" fmla="val 12000"/>
            </a:avLst>
          </a:prstGeom>
          <a:solidFill>
            <a:srgbClr val="FFFFFF"/>
          </a:solidFill>
          <a:ln w="12700">
            <a:solidFill>
              <a:srgbClr val="E5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66928" y="5961888"/>
            <a:ext cx="64008" cy="548640"/>
          </a:xfrm>
          <a:prstGeom prst="round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5943600"/>
            <a:ext cx="4983480" cy="365760"/>
          </a:xfrm>
          <a:prstGeom prst="rect">
            <a:avLst/>
          </a:prstGeom>
          <a:noFill/>
        </p:spPr>
        <p:txBody>
          <a:bodyPr wrap="square" anchor="t" lIns="0" rIns="0" tIns="0" bIns="0">
            <a:spAutoFit/>
          </a:bodyPr>
          <a:lstStyle/>
          <a:p>
            <a:pPr algn="l">
              <a:lnSpc>
                <a:spcPct val="100000"/>
              </a:lnSpc>
              <a:spcBef>
                <a:spcPts val="0"/>
              </a:spcBef>
              <a:spcAft>
                <a:spcPts val="400"/>
              </a:spcAft>
            </a:pPr>
            <a:r>
              <a:rPr sz="1450" b="1" i="0">
                <a:solidFill>
                  <a:srgbClr val="16243C"/>
                </a:solidFill>
                <a:latin typeface="Hanken Grotesk"/>
              </a:rPr>
              <a:t>Reports</a:t>
            </a:r>
          </a:p>
        </p:txBody>
      </p:sp>
      <p:sp>
        <p:nvSpPr>
          <p:cNvPr id="34" name="TextBox 33"/>
          <p:cNvSpPr txBox="1"/>
          <p:nvPr/>
        </p:nvSpPr>
        <p:spPr>
          <a:xfrm>
            <a:off x="859536" y="6254496"/>
            <a:ext cx="498348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0" i="0">
                <a:solidFill>
                  <a:srgbClr val="6B7790"/>
                </a:solidFill>
                <a:latin typeface="Hanken Grotesk"/>
              </a:rPr>
              <a:t>Branded Excel and PDF exports on demand</a:t>
            </a:r>
          </a:p>
        </p:txBody>
      </p:sp>
      <p:sp>
        <p:nvSpPr>
          <p:cNvPr id="35" name="Rounded Rectangle 34"/>
          <p:cNvSpPr/>
          <p:nvPr/>
        </p:nvSpPr>
        <p:spPr>
          <a:xfrm>
            <a:off x="6236208" y="5815584"/>
            <a:ext cx="5440680" cy="841248"/>
          </a:xfrm>
          <a:prstGeom prst="roundRect">
            <a:avLst>
              <a:gd name="adj" fmla="val 12000"/>
            </a:avLst>
          </a:prstGeom>
          <a:solidFill>
            <a:srgbClr val="FFFFFF"/>
          </a:solidFill>
          <a:ln w="12700">
            <a:solidFill>
              <a:srgbClr val="E5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236208" y="5961888"/>
            <a:ext cx="64008" cy="548640"/>
          </a:xfrm>
          <a:prstGeom prst="round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28816" y="5943600"/>
            <a:ext cx="4983480" cy="365760"/>
          </a:xfrm>
          <a:prstGeom prst="rect">
            <a:avLst/>
          </a:prstGeom>
          <a:noFill/>
        </p:spPr>
        <p:txBody>
          <a:bodyPr wrap="square" anchor="t" lIns="0" rIns="0" tIns="0" bIns="0">
            <a:spAutoFit/>
          </a:bodyPr>
          <a:lstStyle/>
          <a:p>
            <a:pPr algn="l">
              <a:lnSpc>
                <a:spcPct val="100000"/>
              </a:lnSpc>
              <a:spcBef>
                <a:spcPts val="0"/>
              </a:spcBef>
              <a:spcAft>
                <a:spcPts val="400"/>
              </a:spcAft>
            </a:pPr>
            <a:r>
              <a:rPr sz="1450" b="1" i="0">
                <a:solidFill>
                  <a:srgbClr val="16243C"/>
                </a:solidFill>
                <a:latin typeface="Hanken Grotesk"/>
              </a:rPr>
              <a:t>Database</a:t>
            </a:r>
          </a:p>
        </p:txBody>
      </p:sp>
      <p:sp>
        <p:nvSpPr>
          <p:cNvPr id="38" name="TextBox 37"/>
          <p:cNvSpPr txBox="1"/>
          <p:nvPr/>
        </p:nvSpPr>
        <p:spPr>
          <a:xfrm>
            <a:off x="6528816" y="6254496"/>
            <a:ext cx="498348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0" i="0">
                <a:solidFill>
                  <a:srgbClr val="6B7790"/>
                </a:solidFill>
                <a:latin typeface="Hanken Grotesk"/>
              </a:rPr>
              <a:t>The underlying schedule records, read only</a:t>
            </a:r>
          </a:p>
        </p:txBody>
      </p:sp>
      <p:sp>
        <p:nvSpPr>
          <p:cNvPr id="39" name="Rectangle 38"/>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41" name="TextBox 40"/>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GETTING ORIENTED</a:t>
            </a:r>
          </a:p>
        </p:txBody>
      </p:sp>
      <p:sp>
        <p:nvSpPr>
          <p:cNvPr id="42" name="TextBox 41"/>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04 / 41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603504"/>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49808"/>
            <a:ext cx="370332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1" i="0" spc="180">
                <a:solidFill>
                  <a:srgbClr val="D9521C"/>
                </a:solidFill>
                <a:latin typeface="Hanken Grotesk"/>
              </a:rPr>
              <a:t>SIGNING IN</a:t>
            </a:r>
          </a:p>
        </p:txBody>
      </p:sp>
      <p:sp>
        <p:nvSpPr>
          <p:cNvPr id="6" name="TextBox 5"/>
          <p:cNvSpPr txBox="1"/>
          <p:nvPr/>
        </p:nvSpPr>
        <p:spPr>
          <a:xfrm>
            <a:off x="548640" y="1060704"/>
            <a:ext cx="3721607" cy="1188720"/>
          </a:xfrm>
          <a:prstGeom prst="rect">
            <a:avLst/>
          </a:prstGeom>
          <a:noFill/>
        </p:spPr>
        <p:txBody>
          <a:bodyPr wrap="square" anchor="t" lIns="0" rIns="0" tIns="0" bIns="0">
            <a:spAutoFit/>
          </a:bodyPr>
          <a:lstStyle/>
          <a:p>
            <a:pPr algn="l">
              <a:lnSpc>
                <a:spcPct val="100000"/>
              </a:lnSpc>
              <a:spcBef>
                <a:spcPts val="0"/>
              </a:spcBef>
              <a:spcAft>
                <a:spcPts val="400"/>
              </a:spcAft>
            </a:pPr>
            <a:r>
              <a:rPr sz="2600" b="1" i="0">
                <a:solidFill>
                  <a:srgbClr val="16243C"/>
                </a:solidFill>
                <a:latin typeface="Hanken Grotesk"/>
              </a:rPr>
              <a:t>Your secure sign in</a:t>
            </a:r>
          </a:p>
        </p:txBody>
      </p:sp>
      <p:sp>
        <p:nvSpPr>
          <p:cNvPr id="7" name="TextBox 6"/>
          <p:cNvSpPr txBox="1"/>
          <p:nvPr/>
        </p:nvSpPr>
        <p:spPr>
          <a:xfrm>
            <a:off x="566928" y="1645919"/>
            <a:ext cx="3685032" cy="1188720"/>
          </a:xfrm>
          <a:prstGeom prst="rect">
            <a:avLst/>
          </a:prstGeom>
          <a:noFill/>
        </p:spPr>
        <p:txBody>
          <a:bodyPr wrap="square" anchor="t" lIns="0" rIns="0" tIns="0" bIns="0">
            <a:spAutoFit/>
          </a:bodyPr>
          <a:lstStyle/>
          <a:p>
            <a:pPr algn="l">
              <a:lnSpc>
                <a:spcPct val="118000"/>
              </a:lnSpc>
              <a:spcBef>
                <a:spcPts val="0"/>
              </a:spcBef>
              <a:spcAft>
                <a:spcPts val="400"/>
              </a:spcAft>
            </a:pPr>
            <a:r>
              <a:rPr sz="1250" b="0" i="0">
                <a:solidFill>
                  <a:srgbClr val="3B4A63"/>
                </a:solidFill>
                <a:latin typeface="Hanken Grotesk"/>
              </a:rPr>
              <a:t>You sign in with your agency email and a private password. Orbit remembers nothing you should not see.</a:t>
            </a:r>
          </a:p>
        </p:txBody>
      </p:sp>
      <p:sp>
        <p:nvSpPr>
          <p:cNvPr id="8" name="TextBox 7"/>
          <p:cNvSpPr txBox="1"/>
          <p:nvPr/>
        </p:nvSpPr>
        <p:spPr>
          <a:xfrm>
            <a:off x="566928" y="2510027"/>
            <a:ext cx="3703320"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1" i="0" spc="120">
                <a:solidFill>
                  <a:srgbClr val="6B7790"/>
                </a:solidFill>
                <a:latin typeface="Hanken Grotesk"/>
              </a:rPr>
              <a:t>WHAT YOU CAN DO HERE</a:t>
            </a:r>
          </a:p>
        </p:txBody>
      </p:sp>
      <p:sp>
        <p:nvSpPr>
          <p:cNvPr id="9" name="Oval 8"/>
          <p:cNvSpPr/>
          <p:nvPr/>
        </p:nvSpPr>
        <p:spPr>
          <a:xfrm>
            <a:off x="603504" y="2903219"/>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839211"/>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Sign in with your Ogilvy email and password</a:t>
            </a:r>
          </a:p>
        </p:txBody>
      </p:sp>
      <p:sp>
        <p:nvSpPr>
          <p:cNvPr id="11" name="Oval 10"/>
          <p:cNvSpPr/>
          <p:nvPr/>
        </p:nvSpPr>
        <p:spPr>
          <a:xfrm>
            <a:off x="603504" y="3232403"/>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168395"/>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Reset a forgotten password from the same screen</a:t>
            </a:r>
          </a:p>
        </p:txBody>
      </p:sp>
      <p:sp>
        <p:nvSpPr>
          <p:cNvPr id="13" name="Oval 12"/>
          <p:cNvSpPr/>
          <p:nvPr/>
        </p:nvSpPr>
        <p:spPr>
          <a:xfrm>
            <a:off x="603504" y="3767327"/>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703319"/>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Set a fresh password on your very first sign in</a:t>
            </a:r>
          </a:p>
        </p:txBody>
      </p:sp>
      <p:sp>
        <p:nvSpPr>
          <p:cNvPr id="15" name="Oval 14"/>
          <p:cNvSpPr/>
          <p:nvPr/>
        </p:nvSpPr>
        <p:spPr>
          <a:xfrm>
            <a:off x="603504" y="4302251"/>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238243"/>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Read access only, so records stay protected</a:t>
            </a:r>
          </a:p>
        </p:txBody>
      </p:sp>
      <p:sp>
        <p:nvSpPr>
          <p:cNvPr id="17" name="Rounded Rectangle 16"/>
          <p:cNvSpPr/>
          <p:nvPr/>
        </p:nvSpPr>
        <p:spPr>
          <a:xfrm>
            <a:off x="566928" y="5760720"/>
            <a:ext cx="3931920" cy="566928"/>
          </a:xfrm>
          <a:prstGeom prst="roundRect">
            <a:avLst/>
          </a:prstGeom>
          <a:solidFill>
            <a:srgbClr val="FBEEE7"/>
          </a:solidFill>
          <a:ln w="9525">
            <a:solidFill>
              <a:srgbClr val="F2C9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5843016"/>
            <a:ext cx="3721607" cy="457200"/>
          </a:xfrm>
          <a:prstGeom prst="rect">
            <a:avLst/>
          </a:prstGeom>
          <a:noFill/>
        </p:spPr>
        <p:txBody>
          <a:bodyPr wrap="square" anchor="ctr" lIns="0" rIns="0" tIns="0" bIns="0">
            <a:spAutoFit/>
          </a:bodyPr>
          <a:lstStyle/>
          <a:p>
            <a:pPr algn="l">
              <a:lnSpc>
                <a:spcPct val="108000"/>
              </a:lnSpc>
              <a:spcBef>
                <a:spcPts val="0"/>
              </a:spcBef>
              <a:spcAft>
                <a:spcPts val="400"/>
              </a:spcAft>
            </a:pPr>
            <a:r>
              <a:rPr sz="1050" b="1" i="0">
                <a:solidFill>
                  <a:srgbClr val="D9521C"/>
                </a:solidFill>
                <a:latin typeface="Hanken Grotesk"/>
              </a:rPr>
              <a:t>Tip   </a:t>
            </a:r>
            <a:r>
              <a:rPr sz="1050" b="0" i="0">
                <a:solidFill>
                  <a:srgbClr val="3B4A63"/>
                </a:solidFill>
                <a:latin typeface="Hanken Grotesk"/>
              </a:rPr>
              <a:t>Your role is read only by design, which keeps every number you review trustworthy.</a:t>
            </a:r>
          </a:p>
        </p:txBody>
      </p:sp>
      <p:sp>
        <p:nvSpPr>
          <p:cNvPr id="19" name="Rounded Rectangle 18"/>
          <p:cNvSpPr/>
          <p:nvPr/>
        </p:nvSpPr>
        <p:spPr>
          <a:xfrm>
            <a:off x="4672583" y="1192149"/>
            <a:ext cx="7040880" cy="4400550"/>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617720" y="1118997"/>
            <a:ext cx="7040880" cy="4400550"/>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01-login.png"/>
          <p:cNvPicPr>
            <a:picLocks noChangeAspect="1"/>
          </p:cNvPicPr>
          <p:nvPr/>
        </p:nvPicPr>
        <p:blipFill>
          <a:blip r:embed="rId2"/>
          <a:stretch>
            <a:fillRect/>
          </a:stretch>
        </p:blipFill>
        <p:spPr>
          <a:xfrm>
            <a:off x="4617720" y="1118997"/>
            <a:ext cx="7040880" cy="4400550"/>
          </a:xfrm>
          <a:prstGeom prst="rect">
            <a:avLst/>
          </a:prstGeom>
          <a:ln w="12700">
            <a:solidFill>
              <a:srgbClr val="D6DBE3"/>
            </a:solidFill>
          </a:ln>
        </p:spPr>
      </p:pic>
      <p:sp>
        <p:nvSpPr>
          <p:cNvPr id="22" name="Rectangle 21"/>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4" name="TextBox 23"/>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THE MANAGER'S VIEW</a:t>
            </a:r>
          </a:p>
        </p:txBody>
      </p:sp>
      <p:sp>
        <p:nvSpPr>
          <p:cNvPr id="25" name="TextBox 24"/>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05 / 41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7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48840"/>
            <a:ext cx="2743200" cy="1280160"/>
          </a:xfrm>
          <a:prstGeom prst="rect">
            <a:avLst/>
          </a:prstGeom>
          <a:noFill/>
        </p:spPr>
        <p:txBody>
          <a:bodyPr wrap="square" anchor="t" lIns="0" rIns="0" tIns="0" bIns="0">
            <a:spAutoFit/>
          </a:bodyPr>
          <a:lstStyle/>
          <a:p>
            <a:pPr algn="l">
              <a:lnSpc>
                <a:spcPct val="100000"/>
              </a:lnSpc>
              <a:spcBef>
                <a:spcPts val="0"/>
              </a:spcBef>
              <a:spcAft>
                <a:spcPts val="400"/>
              </a:spcAft>
            </a:pPr>
            <a:r>
              <a:rPr sz="9200" b="1" i="1">
                <a:solidFill>
                  <a:srgbClr val="243452"/>
                </a:solidFill>
                <a:latin typeface="Newsreader"/>
              </a:rPr>
              <a:t>02</a:t>
            </a:r>
          </a:p>
        </p:txBody>
      </p:sp>
      <p:sp>
        <p:nvSpPr>
          <p:cNvPr id="5" name="TextBox 4"/>
          <p:cNvSpPr txBox="1"/>
          <p:nvPr/>
        </p:nvSpPr>
        <p:spPr>
          <a:xfrm>
            <a:off x="2514600" y="2240280"/>
            <a:ext cx="8686800" cy="457200"/>
          </a:xfrm>
          <a:prstGeom prst="rect">
            <a:avLst/>
          </a:prstGeom>
          <a:noFill/>
        </p:spPr>
        <p:txBody>
          <a:bodyPr wrap="square" anchor="t" lIns="0" rIns="0" tIns="0" bIns="0">
            <a:spAutoFit/>
          </a:bodyPr>
          <a:lstStyle/>
          <a:p>
            <a:pPr algn="l">
              <a:lnSpc>
                <a:spcPct val="100000"/>
              </a:lnSpc>
              <a:spcBef>
                <a:spcPts val="0"/>
              </a:spcBef>
              <a:spcAft>
                <a:spcPts val="400"/>
              </a:spcAft>
            </a:pPr>
            <a:r>
              <a:rPr sz="1300" b="1" i="0" spc="240">
                <a:solidFill>
                  <a:srgbClr val="F0703F"/>
                </a:solidFill>
                <a:latin typeface="Hanken Grotesk"/>
              </a:rPr>
              <a:t>YOUR SCREENS AT A GLANCE</a:t>
            </a:r>
          </a:p>
        </p:txBody>
      </p:sp>
      <p:sp>
        <p:nvSpPr>
          <p:cNvPr id="6" name="TextBox 5"/>
          <p:cNvSpPr txBox="1"/>
          <p:nvPr/>
        </p:nvSpPr>
        <p:spPr>
          <a:xfrm>
            <a:off x="2487168" y="2651760"/>
            <a:ext cx="8869680" cy="1280160"/>
          </a:xfrm>
          <a:prstGeom prst="rect">
            <a:avLst/>
          </a:prstGeom>
          <a:noFill/>
        </p:spPr>
        <p:txBody>
          <a:bodyPr wrap="square" anchor="t" lIns="0" rIns="0" tIns="0" bIns="0">
            <a:spAutoFit/>
          </a:bodyPr>
          <a:lstStyle/>
          <a:p>
            <a:pPr algn="l">
              <a:lnSpc>
                <a:spcPct val="102000"/>
              </a:lnSpc>
              <a:spcBef>
                <a:spcPts val="0"/>
              </a:spcBef>
              <a:spcAft>
                <a:spcPts val="400"/>
              </a:spcAft>
            </a:pPr>
            <a:r>
              <a:rPr sz="4000" b="1" i="0">
                <a:solidFill>
                  <a:srgbClr val="FFFFFF"/>
                </a:solidFill>
                <a:latin typeface="Hanken Grotesk"/>
              </a:rPr>
              <a:t>Six screens you
will live in</a:t>
            </a:r>
          </a:p>
        </p:txBody>
      </p:sp>
      <p:sp>
        <p:nvSpPr>
          <p:cNvPr id="7" name="TextBox 6"/>
          <p:cNvSpPr txBox="1"/>
          <p:nvPr/>
        </p:nvSpPr>
        <p:spPr>
          <a:xfrm>
            <a:off x="2514600" y="3977639"/>
            <a:ext cx="7955279" cy="914400"/>
          </a:xfrm>
          <a:prstGeom prst="rect">
            <a:avLst/>
          </a:prstGeom>
          <a:noFill/>
        </p:spPr>
        <p:txBody>
          <a:bodyPr wrap="square" anchor="t" lIns="0" rIns="0" tIns="0" bIns="0">
            <a:spAutoFit/>
          </a:bodyPr>
          <a:lstStyle/>
          <a:p>
            <a:pPr algn="l">
              <a:lnSpc>
                <a:spcPct val="120000"/>
              </a:lnSpc>
              <a:spcBef>
                <a:spcPts val="0"/>
              </a:spcBef>
              <a:spcAft>
                <a:spcPts val="400"/>
              </a:spcAft>
            </a:pPr>
            <a:r>
              <a:rPr sz="1450" b="0" i="0">
                <a:solidFill>
                  <a:srgbClr val="9FB0CE"/>
                </a:solidFill>
                <a:latin typeface="Hanken Grotesk"/>
              </a:rPr>
              <a:t>A quick orientation to each screen before we open up every chart on them.</a:t>
            </a:r>
          </a:p>
        </p:txBody>
      </p:sp>
      <p:sp>
        <p:nvSpPr>
          <p:cNvPr id="8" name="Oval 7"/>
          <p:cNvSpPr/>
          <p:nvPr/>
        </p:nvSpPr>
        <p:spPr>
          <a:xfrm>
            <a:off x="10981944" y="466344"/>
            <a:ext cx="621792" cy="621792"/>
          </a:xfrm>
          <a:prstGeom prst="ellipse">
            <a:avLst/>
          </a:prstGeom>
          <a:noFill/>
          <a:ln w="12700">
            <a:solidFill>
              <a:srgbClr val="3A4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100084" y="584484"/>
            <a:ext cx="385511" cy="385511"/>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100084" y="566196"/>
            <a:ext cx="385511" cy="385511"/>
          </a:xfrm>
          <a:prstGeom prst="rect">
            <a:avLst/>
          </a:prstGeom>
          <a:noFill/>
        </p:spPr>
        <p:txBody>
          <a:bodyPr wrap="square" anchor="ctr" lIns="0" rIns="0" tIns="0" bIns="0">
            <a:spAutoFit/>
          </a:bodyPr>
          <a:lstStyle/>
          <a:p>
            <a:pPr algn="ctr">
              <a:lnSpc>
                <a:spcPct val="100000"/>
              </a:lnSpc>
              <a:spcBef>
                <a:spcPts val="0"/>
              </a:spcBef>
              <a:spcAft>
                <a:spcPts val="400"/>
              </a:spcAft>
            </a:pPr>
            <a:r>
              <a:rPr sz="800" b="1" i="0">
                <a:solidFill>
                  <a:srgbClr val="FFFFFF"/>
                </a:solidFill>
                <a:latin typeface="Hanken Grotesk"/>
              </a:rPr>
              <a:t>O</a:t>
            </a:r>
          </a:p>
        </p:txBody>
      </p:sp>
      <p:sp>
        <p:nvSpPr>
          <p:cNvPr id="11" name="Oval 10"/>
          <p:cNvSpPr/>
          <p:nvPr/>
        </p:nvSpPr>
        <p:spPr>
          <a:xfrm>
            <a:off x="11485595" y="484997"/>
            <a:ext cx="99486" cy="99486"/>
          </a:xfrm>
          <a:prstGeom prst="ellipse">
            <a:avLst/>
          </a:prstGeom>
          <a:solidFill>
            <a:srgbClr val="F07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308384" y="1013520"/>
            <a:ext cx="62179" cy="62179"/>
          </a:xfrm>
          <a:prstGeom prst="ellipse">
            <a:avLst/>
          </a:prstGeom>
          <a:solidFill>
            <a:srgbClr val="6E8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603504"/>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49808"/>
            <a:ext cx="370332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1" i="0" spc="180">
                <a:solidFill>
                  <a:srgbClr val="D9521C"/>
                </a:solidFill>
                <a:latin typeface="Hanken Grotesk"/>
              </a:rPr>
              <a:t>EXECUTIVE DASHBOARD</a:t>
            </a:r>
          </a:p>
        </p:txBody>
      </p:sp>
      <p:sp>
        <p:nvSpPr>
          <p:cNvPr id="6" name="TextBox 5"/>
          <p:cNvSpPr txBox="1"/>
          <p:nvPr/>
        </p:nvSpPr>
        <p:spPr>
          <a:xfrm>
            <a:off x="548640" y="1060704"/>
            <a:ext cx="3721607" cy="1188720"/>
          </a:xfrm>
          <a:prstGeom prst="rect">
            <a:avLst/>
          </a:prstGeom>
          <a:noFill/>
        </p:spPr>
        <p:txBody>
          <a:bodyPr wrap="square" anchor="t" lIns="0" rIns="0" tIns="0" bIns="0">
            <a:spAutoFit/>
          </a:bodyPr>
          <a:lstStyle/>
          <a:p>
            <a:pPr algn="l">
              <a:lnSpc>
                <a:spcPct val="100000"/>
              </a:lnSpc>
              <a:spcBef>
                <a:spcPts val="0"/>
              </a:spcBef>
              <a:spcAft>
                <a:spcPts val="400"/>
              </a:spcAft>
            </a:pPr>
            <a:r>
              <a:rPr sz="2600" b="1" i="0">
                <a:solidFill>
                  <a:srgbClr val="16243C"/>
                </a:solidFill>
                <a:latin typeface="Hanken Grotesk"/>
              </a:rPr>
              <a:t>Executive Dashboard</a:t>
            </a:r>
          </a:p>
        </p:txBody>
      </p:sp>
      <p:sp>
        <p:nvSpPr>
          <p:cNvPr id="7" name="TextBox 6"/>
          <p:cNvSpPr txBox="1"/>
          <p:nvPr/>
        </p:nvSpPr>
        <p:spPr>
          <a:xfrm>
            <a:off x="566928" y="1645919"/>
            <a:ext cx="3685032" cy="1188720"/>
          </a:xfrm>
          <a:prstGeom prst="rect">
            <a:avLst/>
          </a:prstGeom>
          <a:noFill/>
        </p:spPr>
        <p:txBody>
          <a:bodyPr wrap="square" anchor="t" lIns="0" rIns="0" tIns="0" bIns="0">
            <a:spAutoFit/>
          </a:bodyPr>
          <a:lstStyle/>
          <a:p>
            <a:pPr algn="l">
              <a:lnSpc>
                <a:spcPct val="118000"/>
              </a:lnSpc>
              <a:spcBef>
                <a:spcPts val="0"/>
              </a:spcBef>
              <a:spcAft>
                <a:spcPts val="400"/>
              </a:spcAft>
            </a:pPr>
            <a:r>
              <a:rPr sz="1250" b="0" i="0">
                <a:solidFill>
                  <a:srgbClr val="3B4A63"/>
                </a:solidFill>
                <a:latin typeface="Hanken Grotesk"/>
              </a:rPr>
              <a:t>Your home screen. A billings overview across all agencies, anchored to the latest month with data.</a:t>
            </a:r>
          </a:p>
        </p:txBody>
      </p:sp>
      <p:sp>
        <p:nvSpPr>
          <p:cNvPr id="8" name="TextBox 7"/>
          <p:cNvSpPr txBox="1"/>
          <p:nvPr/>
        </p:nvSpPr>
        <p:spPr>
          <a:xfrm>
            <a:off x="566928" y="2510027"/>
            <a:ext cx="3703320"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1" i="0" spc="120">
                <a:solidFill>
                  <a:srgbClr val="6B7790"/>
                </a:solidFill>
                <a:latin typeface="Hanken Grotesk"/>
              </a:rPr>
              <a:t>WHAT YOU CAN DO HERE</a:t>
            </a:r>
          </a:p>
        </p:txBody>
      </p:sp>
      <p:sp>
        <p:nvSpPr>
          <p:cNvPr id="9" name="Oval 8"/>
          <p:cNvSpPr/>
          <p:nvPr/>
        </p:nvSpPr>
        <p:spPr>
          <a:xfrm>
            <a:off x="603504" y="2903219"/>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839211"/>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Lead with Annual Achievement: budget, pacing, actual</a:t>
            </a:r>
          </a:p>
        </p:txBody>
      </p:sp>
      <p:sp>
        <p:nvSpPr>
          <p:cNvPr id="11" name="Oval 10"/>
          <p:cNvSpPr/>
          <p:nvPr/>
        </p:nvSpPr>
        <p:spPr>
          <a:xfrm>
            <a:off x="603504" y="3438143"/>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74135"/>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Follow company spend on the Monthly Spend line</a:t>
            </a:r>
          </a:p>
        </p:txBody>
      </p:sp>
      <p:sp>
        <p:nvSpPr>
          <p:cNvPr id="13" name="Oval 12"/>
          <p:cNvSpPr/>
          <p:nvPr/>
        </p:nvSpPr>
        <p:spPr>
          <a:xfrm>
            <a:off x="603504" y="3973068"/>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909059"/>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Compare agencies, mediums and team contribution</a:t>
            </a:r>
          </a:p>
        </p:txBody>
      </p:sp>
      <p:sp>
        <p:nvSpPr>
          <p:cNvPr id="15" name="Oval 14"/>
          <p:cNvSpPr/>
          <p:nvPr/>
        </p:nvSpPr>
        <p:spPr>
          <a:xfrm>
            <a:off x="603504" y="4507992"/>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443983"/>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Export a branded summary in one click</a:t>
            </a:r>
          </a:p>
        </p:txBody>
      </p:sp>
      <p:sp>
        <p:nvSpPr>
          <p:cNvPr id="17" name="Rounded Rectangle 16"/>
          <p:cNvSpPr/>
          <p:nvPr/>
        </p:nvSpPr>
        <p:spPr>
          <a:xfrm>
            <a:off x="4672583" y="958539"/>
            <a:ext cx="7040880" cy="4867768"/>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617720" y="885387"/>
            <a:ext cx="7040880" cy="4867768"/>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hero-exec.png"/>
          <p:cNvPicPr>
            <a:picLocks noChangeAspect="1"/>
          </p:cNvPicPr>
          <p:nvPr/>
        </p:nvPicPr>
        <p:blipFill>
          <a:blip r:embed="rId2"/>
          <a:stretch>
            <a:fillRect/>
          </a:stretch>
        </p:blipFill>
        <p:spPr>
          <a:xfrm>
            <a:off x="4617720" y="885387"/>
            <a:ext cx="7040880" cy="4867768"/>
          </a:xfrm>
          <a:prstGeom prst="rect">
            <a:avLst/>
          </a:prstGeom>
          <a:ln w="12700">
            <a:solidFill>
              <a:srgbClr val="D6DBE3"/>
            </a:solidFill>
          </a:ln>
        </p:spPr>
      </p:pic>
      <p:sp>
        <p:nvSpPr>
          <p:cNvPr id="20" name="Rectangle 19"/>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2" name="TextBox 21"/>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YOUR SCREENS</a:t>
            </a:r>
          </a:p>
        </p:txBody>
      </p:sp>
      <p:sp>
        <p:nvSpPr>
          <p:cNvPr id="23" name="TextBox 22"/>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07 / 41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603504"/>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49808"/>
            <a:ext cx="370332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1" i="0" spc="180">
                <a:solidFill>
                  <a:srgbClr val="D9521C"/>
                </a:solidFill>
                <a:latin typeface="Hanken Grotesk"/>
              </a:rPr>
              <a:t>SPEND ANALYTICS</a:t>
            </a:r>
          </a:p>
        </p:txBody>
      </p:sp>
      <p:sp>
        <p:nvSpPr>
          <p:cNvPr id="6" name="TextBox 5"/>
          <p:cNvSpPr txBox="1"/>
          <p:nvPr/>
        </p:nvSpPr>
        <p:spPr>
          <a:xfrm>
            <a:off x="548640" y="1060704"/>
            <a:ext cx="3721607" cy="1188720"/>
          </a:xfrm>
          <a:prstGeom prst="rect">
            <a:avLst/>
          </a:prstGeom>
          <a:noFill/>
        </p:spPr>
        <p:txBody>
          <a:bodyPr wrap="square" anchor="t" lIns="0" rIns="0" tIns="0" bIns="0">
            <a:spAutoFit/>
          </a:bodyPr>
          <a:lstStyle/>
          <a:p>
            <a:pPr algn="l">
              <a:lnSpc>
                <a:spcPct val="100000"/>
              </a:lnSpc>
              <a:spcBef>
                <a:spcPts val="0"/>
              </a:spcBef>
              <a:spcAft>
                <a:spcPts val="400"/>
              </a:spcAft>
            </a:pPr>
            <a:r>
              <a:rPr sz="2600" b="1" i="0">
                <a:solidFill>
                  <a:srgbClr val="16243C"/>
                </a:solidFill>
                <a:latin typeface="Hanken Grotesk"/>
              </a:rPr>
              <a:t>Spend Analytics</a:t>
            </a:r>
          </a:p>
        </p:txBody>
      </p:sp>
      <p:sp>
        <p:nvSpPr>
          <p:cNvPr id="7" name="TextBox 6"/>
          <p:cNvSpPr txBox="1"/>
          <p:nvPr/>
        </p:nvSpPr>
        <p:spPr>
          <a:xfrm>
            <a:off x="566928" y="1645919"/>
            <a:ext cx="3685032" cy="1188720"/>
          </a:xfrm>
          <a:prstGeom prst="rect">
            <a:avLst/>
          </a:prstGeom>
          <a:noFill/>
        </p:spPr>
        <p:txBody>
          <a:bodyPr wrap="square" anchor="t" lIns="0" rIns="0" tIns="0" bIns="0">
            <a:spAutoFit/>
          </a:bodyPr>
          <a:lstStyle/>
          <a:p>
            <a:pPr algn="l">
              <a:lnSpc>
                <a:spcPct val="118000"/>
              </a:lnSpc>
              <a:spcBef>
                <a:spcPts val="0"/>
              </a:spcBef>
              <a:spcAft>
                <a:spcPts val="400"/>
              </a:spcAft>
            </a:pPr>
            <a:r>
              <a:rPr sz="1250" b="0" i="0">
                <a:solidFill>
                  <a:srgbClr val="3B4A63"/>
                </a:solidFill>
                <a:latin typeface="Hanken Grotesk"/>
              </a:rPr>
              <a:t>The deepest analytics screen. Filter by agency, client and date, then read spend from every angle.</a:t>
            </a:r>
          </a:p>
        </p:txBody>
      </p:sp>
      <p:sp>
        <p:nvSpPr>
          <p:cNvPr id="8" name="TextBox 7"/>
          <p:cNvSpPr txBox="1"/>
          <p:nvPr/>
        </p:nvSpPr>
        <p:spPr>
          <a:xfrm>
            <a:off x="566928" y="2510027"/>
            <a:ext cx="3703320"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1" i="0" spc="120">
                <a:solidFill>
                  <a:srgbClr val="6B7790"/>
                </a:solidFill>
                <a:latin typeface="Hanken Grotesk"/>
              </a:rPr>
              <a:t>WHAT YOU CAN DO HERE</a:t>
            </a:r>
          </a:p>
        </p:txBody>
      </p:sp>
      <p:sp>
        <p:nvSpPr>
          <p:cNvPr id="9" name="Oval 8"/>
          <p:cNvSpPr/>
          <p:nvPr/>
        </p:nvSpPr>
        <p:spPr>
          <a:xfrm>
            <a:off x="603504" y="2903219"/>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839211"/>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Twelve charts covering trend, mix, tenure and more</a:t>
            </a:r>
          </a:p>
        </p:txBody>
      </p:sp>
      <p:sp>
        <p:nvSpPr>
          <p:cNvPr id="11" name="Oval 10"/>
          <p:cNvSpPr/>
          <p:nvPr/>
        </p:nvSpPr>
        <p:spPr>
          <a:xfrm>
            <a:off x="603504" y="3438143"/>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74135"/>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Filter by agency, client and month range</a:t>
            </a:r>
          </a:p>
        </p:txBody>
      </p:sp>
      <p:sp>
        <p:nvSpPr>
          <p:cNvPr id="13" name="Oval 12"/>
          <p:cNvSpPr/>
          <p:nvPr/>
        </p:nvSpPr>
        <p:spPr>
          <a:xfrm>
            <a:off x="603504" y="3767328"/>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703320"/>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Cross filter the channel views from the medium donut</a:t>
            </a:r>
          </a:p>
        </p:txBody>
      </p:sp>
      <p:sp>
        <p:nvSpPr>
          <p:cNvPr id="15" name="Oval 14"/>
          <p:cNvSpPr/>
          <p:nvPr/>
        </p:nvSpPr>
        <p:spPr>
          <a:xfrm>
            <a:off x="603504" y="4302252"/>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238244"/>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Export the whole view to Excel or PDF</a:t>
            </a:r>
          </a:p>
        </p:txBody>
      </p:sp>
      <p:sp>
        <p:nvSpPr>
          <p:cNvPr id="17" name="Rounded Rectangle 16"/>
          <p:cNvSpPr/>
          <p:nvPr/>
        </p:nvSpPr>
        <p:spPr>
          <a:xfrm>
            <a:off x="4672583" y="958539"/>
            <a:ext cx="7040880" cy="4867768"/>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617720" y="885387"/>
            <a:ext cx="7040880" cy="4867768"/>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hero-spend.png"/>
          <p:cNvPicPr>
            <a:picLocks noChangeAspect="1"/>
          </p:cNvPicPr>
          <p:nvPr/>
        </p:nvPicPr>
        <p:blipFill>
          <a:blip r:embed="rId2"/>
          <a:stretch>
            <a:fillRect/>
          </a:stretch>
        </p:blipFill>
        <p:spPr>
          <a:xfrm>
            <a:off x="4617720" y="885387"/>
            <a:ext cx="7040880" cy="4867768"/>
          </a:xfrm>
          <a:prstGeom prst="rect">
            <a:avLst/>
          </a:prstGeom>
          <a:ln w="12700">
            <a:solidFill>
              <a:srgbClr val="D6DBE3"/>
            </a:solidFill>
          </a:ln>
        </p:spPr>
      </p:pic>
      <p:sp>
        <p:nvSpPr>
          <p:cNvPr id="20" name="Rectangle 19"/>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2" name="TextBox 21"/>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YOUR SCREENS</a:t>
            </a:r>
          </a:p>
        </p:txBody>
      </p:sp>
      <p:sp>
        <p:nvSpPr>
          <p:cNvPr id="23" name="TextBox 22"/>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08 / 41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603504"/>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49808"/>
            <a:ext cx="370332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1" i="0" spc="180">
                <a:solidFill>
                  <a:srgbClr val="D9521C"/>
                </a:solidFill>
                <a:latin typeface="Hanken Grotesk"/>
              </a:rPr>
              <a:t>DEEP DASHBOARD</a:t>
            </a:r>
          </a:p>
        </p:txBody>
      </p:sp>
      <p:sp>
        <p:nvSpPr>
          <p:cNvPr id="6" name="TextBox 5"/>
          <p:cNvSpPr txBox="1"/>
          <p:nvPr/>
        </p:nvSpPr>
        <p:spPr>
          <a:xfrm>
            <a:off x="548640" y="1060704"/>
            <a:ext cx="3721607" cy="1188720"/>
          </a:xfrm>
          <a:prstGeom prst="rect">
            <a:avLst/>
          </a:prstGeom>
          <a:noFill/>
        </p:spPr>
        <p:txBody>
          <a:bodyPr wrap="square" anchor="t" lIns="0" rIns="0" tIns="0" bIns="0">
            <a:spAutoFit/>
          </a:bodyPr>
          <a:lstStyle/>
          <a:p>
            <a:pPr algn="l">
              <a:lnSpc>
                <a:spcPct val="100000"/>
              </a:lnSpc>
              <a:spcBef>
                <a:spcPts val="0"/>
              </a:spcBef>
              <a:spcAft>
                <a:spcPts val="400"/>
              </a:spcAft>
            </a:pPr>
            <a:r>
              <a:rPr sz="2600" b="1" i="0">
                <a:solidFill>
                  <a:srgbClr val="16243C"/>
                </a:solidFill>
                <a:latin typeface="Hanken Grotesk"/>
              </a:rPr>
              <a:t>Deep Dashboard</a:t>
            </a:r>
          </a:p>
        </p:txBody>
      </p:sp>
      <p:sp>
        <p:nvSpPr>
          <p:cNvPr id="7" name="TextBox 6"/>
          <p:cNvSpPr txBox="1"/>
          <p:nvPr/>
        </p:nvSpPr>
        <p:spPr>
          <a:xfrm>
            <a:off x="566928" y="1645919"/>
            <a:ext cx="3685032" cy="1188720"/>
          </a:xfrm>
          <a:prstGeom prst="rect">
            <a:avLst/>
          </a:prstGeom>
          <a:noFill/>
        </p:spPr>
        <p:txBody>
          <a:bodyPr wrap="square" anchor="t" lIns="0" rIns="0" tIns="0" bIns="0">
            <a:spAutoFit/>
          </a:bodyPr>
          <a:lstStyle/>
          <a:p>
            <a:pPr algn="l">
              <a:lnSpc>
                <a:spcPct val="118000"/>
              </a:lnSpc>
              <a:spcBef>
                <a:spcPts val="0"/>
              </a:spcBef>
              <a:spcAft>
                <a:spcPts val="400"/>
              </a:spcAft>
            </a:pPr>
            <a:r>
              <a:rPr sz="1250" b="0" i="0">
                <a:solidFill>
                  <a:srgbClr val="3B4A63"/>
                </a:solidFill>
                <a:latin typeface="Hanken Grotesk"/>
              </a:rPr>
              <a:t>A drill down for multi year trends, client contribution and property level performance.</a:t>
            </a:r>
          </a:p>
        </p:txBody>
      </p:sp>
      <p:sp>
        <p:nvSpPr>
          <p:cNvPr id="8" name="TextBox 7"/>
          <p:cNvSpPr txBox="1"/>
          <p:nvPr/>
        </p:nvSpPr>
        <p:spPr>
          <a:xfrm>
            <a:off x="566928" y="2295144"/>
            <a:ext cx="3703320"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1" i="0" spc="120">
                <a:solidFill>
                  <a:srgbClr val="6B7790"/>
                </a:solidFill>
                <a:latin typeface="Hanken Grotesk"/>
              </a:rPr>
              <a:t>WHAT YOU CAN DO HERE</a:t>
            </a:r>
          </a:p>
        </p:txBody>
      </p:sp>
      <p:sp>
        <p:nvSpPr>
          <p:cNvPr id="9" name="Oval 8"/>
          <p:cNvSpPr/>
          <p:nvPr/>
        </p:nvSpPr>
        <p:spPr>
          <a:xfrm>
            <a:off x="603504" y="2688335"/>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624327"/>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Overlay several years on one trend, with a zoom brush</a:t>
            </a:r>
          </a:p>
        </p:txBody>
      </p:sp>
      <p:sp>
        <p:nvSpPr>
          <p:cNvPr id="11" name="Oval 10"/>
          <p:cNvSpPr/>
          <p:nvPr/>
        </p:nvSpPr>
        <p:spPr>
          <a:xfrm>
            <a:off x="603504" y="3223259"/>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159251"/>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Rank clients and channels by their contribution</a:t>
            </a:r>
          </a:p>
        </p:txBody>
      </p:sp>
      <p:sp>
        <p:nvSpPr>
          <p:cNvPr id="13" name="Oval 12"/>
          <p:cNvSpPr/>
          <p:nvPr/>
        </p:nvSpPr>
        <p:spPr>
          <a:xfrm>
            <a:off x="603504" y="3758183"/>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694175"/>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Sort a property table, including bonus yield</a:t>
            </a:r>
          </a:p>
        </p:txBody>
      </p:sp>
      <p:sp>
        <p:nvSpPr>
          <p:cNvPr id="15" name="Oval 14"/>
          <p:cNvSpPr/>
          <p:nvPr/>
        </p:nvSpPr>
        <p:spPr>
          <a:xfrm>
            <a:off x="603504" y="4087368"/>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59"/>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Export the detail to Excel or PDF</a:t>
            </a:r>
          </a:p>
        </p:txBody>
      </p:sp>
      <p:sp>
        <p:nvSpPr>
          <p:cNvPr id="17" name="Rounded Rectangle 16"/>
          <p:cNvSpPr/>
          <p:nvPr/>
        </p:nvSpPr>
        <p:spPr>
          <a:xfrm>
            <a:off x="4672583" y="958539"/>
            <a:ext cx="7040880" cy="4867768"/>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617720" y="885387"/>
            <a:ext cx="7040880" cy="4867768"/>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hero-deep.png"/>
          <p:cNvPicPr>
            <a:picLocks noChangeAspect="1"/>
          </p:cNvPicPr>
          <p:nvPr/>
        </p:nvPicPr>
        <p:blipFill>
          <a:blip r:embed="rId2"/>
          <a:stretch>
            <a:fillRect/>
          </a:stretch>
        </p:blipFill>
        <p:spPr>
          <a:xfrm>
            <a:off x="4617720" y="885387"/>
            <a:ext cx="7040880" cy="4867768"/>
          </a:xfrm>
          <a:prstGeom prst="rect">
            <a:avLst/>
          </a:prstGeom>
          <a:ln w="12700">
            <a:solidFill>
              <a:srgbClr val="D6DBE3"/>
            </a:solidFill>
          </a:ln>
        </p:spPr>
      </p:pic>
      <p:sp>
        <p:nvSpPr>
          <p:cNvPr id="20" name="Rectangle 19"/>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2" name="TextBox 21"/>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YOUR SCREENS</a:t>
            </a:r>
          </a:p>
        </p:txBody>
      </p:sp>
      <p:sp>
        <p:nvSpPr>
          <p:cNvPr id="23" name="TextBox 22"/>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09 / 41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603504"/>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49808"/>
            <a:ext cx="370332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1" i="0" spc="180">
                <a:solidFill>
                  <a:srgbClr val="D9521C"/>
                </a:solidFill>
                <a:latin typeface="Hanken Grotesk"/>
              </a:rPr>
              <a:t>CHANNEL INTELLIGENCE</a:t>
            </a:r>
          </a:p>
        </p:txBody>
      </p:sp>
      <p:sp>
        <p:nvSpPr>
          <p:cNvPr id="6" name="TextBox 5"/>
          <p:cNvSpPr txBox="1"/>
          <p:nvPr/>
        </p:nvSpPr>
        <p:spPr>
          <a:xfrm>
            <a:off x="548640" y="1060704"/>
            <a:ext cx="3721607" cy="1188720"/>
          </a:xfrm>
          <a:prstGeom prst="rect">
            <a:avLst/>
          </a:prstGeom>
          <a:noFill/>
        </p:spPr>
        <p:txBody>
          <a:bodyPr wrap="square" anchor="t" lIns="0" rIns="0" tIns="0" bIns="0">
            <a:spAutoFit/>
          </a:bodyPr>
          <a:lstStyle/>
          <a:p>
            <a:pPr algn="l">
              <a:lnSpc>
                <a:spcPct val="100000"/>
              </a:lnSpc>
              <a:spcBef>
                <a:spcPts val="0"/>
              </a:spcBef>
              <a:spcAft>
                <a:spcPts val="400"/>
              </a:spcAft>
            </a:pPr>
            <a:r>
              <a:rPr sz="2600" b="1" i="0">
                <a:solidFill>
                  <a:srgbClr val="16243C"/>
                </a:solidFill>
                <a:latin typeface="Hanken Grotesk"/>
              </a:rPr>
              <a:t>Channel Intelligence</a:t>
            </a:r>
          </a:p>
        </p:txBody>
      </p:sp>
      <p:sp>
        <p:nvSpPr>
          <p:cNvPr id="7" name="TextBox 6"/>
          <p:cNvSpPr txBox="1"/>
          <p:nvPr/>
        </p:nvSpPr>
        <p:spPr>
          <a:xfrm>
            <a:off x="566928" y="1645919"/>
            <a:ext cx="3685032" cy="1188720"/>
          </a:xfrm>
          <a:prstGeom prst="rect">
            <a:avLst/>
          </a:prstGeom>
          <a:noFill/>
        </p:spPr>
        <p:txBody>
          <a:bodyPr wrap="square" anchor="t" lIns="0" rIns="0" tIns="0" bIns="0">
            <a:spAutoFit/>
          </a:bodyPr>
          <a:lstStyle/>
          <a:p>
            <a:pPr algn="l">
              <a:lnSpc>
                <a:spcPct val="118000"/>
              </a:lnSpc>
              <a:spcBef>
                <a:spcPts val="0"/>
              </a:spcBef>
              <a:spcAft>
                <a:spcPts val="400"/>
              </a:spcAft>
            </a:pPr>
            <a:r>
              <a:rPr sz="1250" b="0" i="0">
                <a:solidFill>
                  <a:srgbClr val="3B4A63"/>
                </a:solidFill>
                <a:latin typeface="Hanken Grotesk"/>
              </a:rPr>
              <a:t>A full read on a single channel across every client and agency, so you review from evidence.</a:t>
            </a:r>
          </a:p>
        </p:txBody>
      </p:sp>
      <p:sp>
        <p:nvSpPr>
          <p:cNvPr id="8" name="TextBox 7"/>
          <p:cNvSpPr txBox="1"/>
          <p:nvPr/>
        </p:nvSpPr>
        <p:spPr>
          <a:xfrm>
            <a:off x="566928" y="2295144"/>
            <a:ext cx="3703320"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1" i="0" spc="120">
                <a:solidFill>
                  <a:srgbClr val="6B7790"/>
                </a:solidFill>
                <a:latin typeface="Hanken Grotesk"/>
              </a:rPr>
              <a:t>WHAT YOU CAN DO HERE</a:t>
            </a:r>
          </a:p>
        </p:txBody>
      </p:sp>
      <p:sp>
        <p:nvSpPr>
          <p:cNvPr id="9" name="Oval 8"/>
          <p:cNvSpPr/>
          <p:nvPr/>
        </p:nvSpPr>
        <p:spPr>
          <a:xfrm>
            <a:off x="603504" y="2688335"/>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624327"/>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Read spend, growth and the peak month per channel</a:t>
            </a:r>
          </a:p>
        </p:txBody>
      </p:sp>
      <p:sp>
        <p:nvSpPr>
          <p:cNvPr id="11" name="Oval 10"/>
          <p:cNvSpPr/>
          <p:nvPr/>
        </p:nvSpPr>
        <p:spPr>
          <a:xfrm>
            <a:off x="603504" y="3223259"/>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159251"/>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Trace any month back to the schedules behind it</a:t>
            </a:r>
          </a:p>
        </p:txBody>
      </p:sp>
      <p:sp>
        <p:nvSpPr>
          <p:cNvPr id="13" name="Oval 12"/>
          <p:cNvSpPr/>
          <p:nvPr/>
        </p:nvSpPr>
        <p:spPr>
          <a:xfrm>
            <a:off x="603504" y="3758183"/>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694175"/>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See which agencies drive the channel over time</a:t>
            </a:r>
          </a:p>
        </p:txBody>
      </p:sp>
      <p:sp>
        <p:nvSpPr>
          <p:cNvPr id="15" name="Oval 14"/>
          <p:cNvSpPr/>
          <p:nvPr/>
        </p:nvSpPr>
        <p:spPr>
          <a:xfrm>
            <a:off x="603504" y="4293107"/>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229099"/>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Spot how concentrated the channel's clients are</a:t>
            </a:r>
          </a:p>
        </p:txBody>
      </p:sp>
      <p:sp>
        <p:nvSpPr>
          <p:cNvPr id="17" name="Rounded Rectangle 16"/>
          <p:cNvSpPr/>
          <p:nvPr/>
        </p:nvSpPr>
        <p:spPr>
          <a:xfrm>
            <a:off x="4672583" y="958539"/>
            <a:ext cx="7040880" cy="4867768"/>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617720" y="885387"/>
            <a:ext cx="7040880" cy="4867768"/>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hero-channel.png"/>
          <p:cNvPicPr>
            <a:picLocks noChangeAspect="1"/>
          </p:cNvPicPr>
          <p:nvPr/>
        </p:nvPicPr>
        <p:blipFill>
          <a:blip r:embed="rId2"/>
          <a:stretch>
            <a:fillRect/>
          </a:stretch>
        </p:blipFill>
        <p:spPr>
          <a:xfrm>
            <a:off x="4617720" y="885387"/>
            <a:ext cx="7040880" cy="4867768"/>
          </a:xfrm>
          <a:prstGeom prst="rect">
            <a:avLst/>
          </a:prstGeom>
          <a:ln w="12700">
            <a:solidFill>
              <a:srgbClr val="D6DBE3"/>
            </a:solidFill>
          </a:ln>
        </p:spPr>
      </p:pic>
      <p:sp>
        <p:nvSpPr>
          <p:cNvPr id="20" name="Rectangle 19"/>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2" name="TextBox 21"/>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YOUR SCREENS</a:t>
            </a:r>
          </a:p>
        </p:txBody>
      </p:sp>
      <p:sp>
        <p:nvSpPr>
          <p:cNvPr id="23" name="TextBox 22"/>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10 / 41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603504"/>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49808"/>
            <a:ext cx="370332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1" i="0" spc="180">
                <a:solidFill>
                  <a:srgbClr val="D9521C"/>
                </a:solidFill>
                <a:latin typeface="Hanken Grotesk"/>
              </a:rPr>
              <a:t>CLIENT DASHBOARD</a:t>
            </a:r>
          </a:p>
        </p:txBody>
      </p:sp>
      <p:sp>
        <p:nvSpPr>
          <p:cNvPr id="6" name="TextBox 5"/>
          <p:cNvSpPr txBox="1"/>
          <p:nvPr/>
        </p:nvSpPr>
        <p:spPr>
          <a:xfrm>
            <a:off x="548640" y="1060704"/>
            <a:ext cx="3721607" cy="1188720"/>
          </a:xfrm>
          <a:prstGeom prst="rect">
            <a:avLst/>
          </a:prstGeom>
          <a:noFill/>
        </p:spPr>
        <p:txBody>
          <a:bodyPr wrap="square" anchor="t" lIns="0" rIns="0" tIns="0" bIns="0">
            <a:spAutoFit/>
          </a:bodyPr>
          <a:lstStyle/>
          <a:p>
            <a:pPr algn="l">
              <a:lnSpc>
                <a:spcPct val="100000"/>
              </a:lnSpc>
              <a:spcBef>
                <a:spcPts val="0"/>
              </a:spcBef>
              <a:spcAft>
                <a:spcPts val="400"/>
              </a:spcAft>
            </a:pPr>
            <a:r>
              <a:rPr sz="2600" b="1" i="0">
                <a:solidFill>
                  <a:srgbClr val="16243C"/>
                </a:solidFill>
                <a:latin typeface="Hanken Grotesk"/>
              </a:rPr>
              <a:t>Client Dashboard</a:t>
            </a:r>
          </a:p>
        </p:txBody>
      </p:sp>
      <p:sp>
        <p:nvSpPr>
          <p:cNvPr id="7" name="TextBox 6"/>
          <p:cNvSpPr txBox="1"/>
          <p:nvPr/>
        </p:nvSpPr>
        <p:spPr>
          <a:xfrm>
            <a:off x="566928" y="1645919"/>
            <a:ext cx="3685032" cy="1188720"/>
          </a:xfrm>
          <a:prstGeom prst="rect">
            <a:avLst/>
          </a:prstGeom>
          <a:noFill/>
        </p:spPr>
        <p:txBody>
          <a:bodyPr wrap="square" anchor="t" lIns="0" rIns="0" tIns="0" bIns="0">
            <a:spAutoFit/>
          </a:bodyPr>
          <a:lstStyle/>
          <a:p>
            <a:pPr algn="l">
              <a:lnSpc>
                <a:spcPct val="118000"/>
              </a:lnSpc>
              <a:spcBef>
                <a:spcPts val="0"/>
              </a:spcBef>
              <a:spcAft>
                <a:spcPts val="400"/>
              </a:spcAft>
            </a:pPr>
            <a:r>
              <a:rPr sz="1250" b="0" i="0">
                <a:solidFill>
                  <a:srgbClr val="3B4A63"/>
                </a:solidFill>
                <a:latin typeface="Hanken Grotesk"/>
              </a:rPr>
              <a:t>A focused analytics view for one client, so you can walk into any client review prepared.</a:t>
            </a:r>
          </a:p>
        </p:txBody>
      </p:sp>
      <p:sp>
        <p:nvSpPr>
          <p:cNvPr id="8" name="TextBox 7"/>
          <p:cNvSpPr txBox="1"/>
          <p:nvPr/>
        </p:nvSpPr>
        <p:spPr>
          <a:xfrm>
            <a:off x="566928" y="2295144"/>
            <a:ext cx="3703320"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1" i="0" spc="120">
                <a:solidFill>
                  <a:srgbClr val="6B7790"/>
                </a:solidFill>
                <a:latin typeface="Hanken Grotesk"/>
              </a:rPr>
              <a:t>WHAT YOU CAN DO HERE</a:t>
            </a:r>
          </a:p>
        </p:txBody>
      </p:sp>
      <p:sp>
        <p:nvSpPr>
          <p:cNvPr id="9" name="Oval 8"/>
          <p:cNvSpPr/>
          <p:nvPr/>
        </p:nvSpPr>
        <p:spPr>
          <a:xfrm>
            <a:off x="603504" y="2688335"/>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624327"/>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See the client's spend trend across years</a:t>
            </a:r>
          </a:p>
        </p:txBody>
      </p:sp>
      <p:sp>
        <p:nvSpPr>
          <p:cNvPr id="11" name="Oval 10"/>
          <p:cNvSpPr/>
          <p:nvPr/>
        </p:nvSpPr>
        <p:spPr>
          <a:xfrm>
            <a:off x="603504" y="3017519"/>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953511"/>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Read their channel and medium mix at a glance</a:t>
            </a:r>
          </a:p>
        </p:txBody>
      </p:sp>
      <p:sp>
        <p:nvSpPr>
          <p:cNvPr id="13" name="Oval 12"/>
          <p:cNvSpPr/>
          <p:nvPr/>
        </p:nvSpPr>
        <p:spPr>
          <a:xfrm>
            <a:off x="603504" y="3552443"/>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488435"/>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Understand where a client is growing or slowing</a:t>
            </a:r>
          </a:p>
        </p:txBody>
      </p:sp>
      <p:sp>
        <p:nvSpPr>
          <p:cNvPr id="15" name="Rounded Rectangle 14"/>
          <p:cNvSpPr/>
          <p:nvPr/>
        </p:nvSpPr>
        <p:spPr>
          <a:xfrm>
            <a:off x="4672583" y="958539"/>
            <a:ext cx="7040880" cy="4867768"/>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617720" y="885387"/>
            <a:ext cx="7040880" cy="4867768"/>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hero-client.png"/>
          <p:cNvPicPr>
            <a:picLocks noChangeAspect="1"/>
          </p:cNvPicPr>
          <p:nvPr/>
        </p:nvPicPr>
        <p:blipFill>
          <a:blip r:embed="rId2"/>
          <a:stretch>
            <a:fillRect/>
          </a:stretch>
        </p:blipFill>
        <p:spPr>
          <a:xfrm>
            <a:off x="4617720" y="885387"/>
            <a:ext cx="7040880" cy="4867768"/>
          </a:xfrm>
          <a:prstGeom prst="rect">
            <a:avLst/>
          </a:prstGeom>
          <a:ln w="12700">
            <a:solidFill>
              <a:srgbClr val="D6DBE3"/>
            </a:solidFill>
          </a:ln>
        </p:spPr>
      </p:pic>
      <p:sp>
        <p:nvSpPr>
          <p:cNvPr id="18" name="Rectangle 17"/>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0" name="TextBox 19"/>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YOUR SCREENS</a:t>
            </a:r>
          </a:p>
        </p:txBody>
      </p:sp>
      <p:sp>
        <p:nvSpPr>
          <p:cNvPr id="21" name="TextBox 20"/>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11 / 41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603504"/>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49808"/>
            <a:ext cx="370332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1" i="0" spc="180">
                <a:solidFill>
                  <a:srgbClr val="D9521C"/>
                </a:solidFill>
                <a:latin typeface="Hanken Grotesk"/>
              </a:rPr>
              <a:t>REPORTS</a:t>
            </a:r>
          </a:p>
        </p:txBody>
      </p:sp>
      <p:sp>
        <p:nvSpPr>
          <p:cNvPr id="6" name="TextBox 5"/>
          <p:cNvSpPr txBox="1"/>
          <p:nvPr/>
        </p:nvSpPr>
        <p:spPr>
          <a:xfrm>
            <a:off x="548640" y="1060704"/>
            <a:ext cx="3721607" cy="1188720"/>
          </a:xfrm>
          <a:prstGeom prst="rect">
            <a:avLst/>
          </a:prstGeom>
          <a:noFill/>
        </p:spPr>
        <p:txBody>
          <a:bodyPr wrap="square" anchor="t" lIns="0" rIns="0" tIns="0" bIns="0">
            <a:spAutoFit/>
          </a:bodyPr>
          <a:lstStyle/>
          <a:p>
            <a:pPr algn="l">
              <a:lnSpc>
                <a:spcPct val="100000"/>
              </a:lnSpc>
              <a:spcBef>
                <a:spcPts val="0"/>
              </a:spcBef>
              <a:spcAft>
                <a:spcPts val="400"/>
              </a:spcAft>
            </a:pPr>
            <a:r>
              <a:rPr sz="2600" b="1" i="0">
                <a:solidFill>
                  <a:srgbClr val="16243C"/>
                </a:solidFill>
                <a:latin typeface="Hanken Grotesk"/>
              </a:rPr>
              <a:t>Reports</a:t>
            </a:r>
          </a:p>
        </p:txBody>
      </p:sp>
      <p:sp>
        <p:nvSpPr>
          <p:cNvPr id="7" name="TextBox 6"/>
          <p:cNvSpPr txBox="1"/>
          <p:nvPr/>
        </p:nvSpPr>
        <p:spPr>
          <a:xfrm>
            <a:off x="566928" y="1645919"/>
            <a:ext cx="3685032" cy="1188720"/>
          </a:xfrm>
          <a:prstGeom prst="rect">
            <a:avLst/>
          </a:prstGeom>
          <a:noFill/>
        </p:spPr>
        <p:txBody>
          <a:bodyPr wrap="square" anchor="t" lIns="0" rIns="0" tIns="0" bIns="0">
            <a:spAutoFit/>
          </a:bodyPr>
          <a:lstStyle/>
          <a:p>
            <a:pPr algn="l">
              <a:lnSpc>
                <a:spcPct val="118000"/>
              </a:lnSpc>
              <a:spcBef>
                <a:spcPts val="0"/>
              </a:spcBef>
              <a:spcAft>
                <a:spcPts val="400"/>
              </a:spcAft>
            </a:pPr>
            <a:r>
              <a:rPr sz="1250" b="0" i="0">
                <a:solidFill>
                  <a:srgbClr val="3B4A63"/>
                </a:solidFill>
                <a:latin typeface="Hanken Grotesk"/>
              </a:rPr>
              <a:t>Generate branded, shareable reports for any agency, client or channel, in Excel or PDF.</a:t>
            </a:r>
          </a:p>
        </p:txBody>
      </p:sp>
      <p:sp>
        <p:nvSpPr>
          <p:cNvPr id="8" name="TextBox 7"/>
          <p:cNvSpPr txBox="1"/>
          <p:nvPr/>
        </p:nvSpPr>
        <p:spPr>
          <a:xfrm>
            <a:off x="566928" y="2295144"/>
            <a:ext cx="3703320"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1" i="0" spc="120">
                <a:solidFill>
                  <a:srgbClr val="6B7790"/>
                </a:solidFill>
                <a:latin typeface="Hanken Grotesk"/>
              </a:rPr>
              <a:t>WHAT YOU CAN DO HERE</a:t>
            </a:r>
          </a:p>
        </p:txBody>
      </p:sp>
      <p:sp>
        <p:nvSpPr>
          <p:cNvPr id="9" name="Oval 8"/>
          <p:cNvSpPr/>
          <p:nvPr/>
        </p:nvSpPr>
        <p:spPr>
          <a:xfrm>
            <a:off x="603504" y="2688335"/>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624327"/>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Choose an agency, client or channel to report on</a:t>
            </a:r>
          </a:p>
        </p:txBody>
      </p:sp>
      <p:sp>
        <p:nvSpPr>
          <p:cNvPr id="11" name="Oval 10"/>
          <p:cNvSpPr/>
          <p:nvPr/>
        </p:nvSpPr>
        <p:spPr>
          <a:xfrm>
            <a:off x="603504" y="3223259"/>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159251"/>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Include rate history and property timelines</a:t>
            </a:r>
          </a:p>
        </p:txBody>
      </p:sp>
      <p:sp>
        <p:nvSpPr>
          <p:cNvPr id="13" name="Oval 12"/>
          <p:cNvSpPr/>
          <p:nvPr/>
        </p:nvSpPr>
        <p:spPr>
          <a:xfrm>
            <a:off x="603504" y="3552443"/>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488435"/>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Download as branded Excel or PDF</a:t>
            </a:r>
          </a:p>
        </p:txBody>
      </p:sp>
      <p:sp>
        <p:nvSpPr>
          <p:cNvPr id="15" name="Oval 14"/>
          <p:cNvSpPr/>
          <p:nvPr/>
        </p:nvSpPr>
        <p:spPr>
          <a:xfrm>
            <a:off x="603504" y="3881628"/>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817620"/>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Share a clean document with stakeholders</a:t>
            </a:r>
          </a:p>
        </p:txBody>
      </p:sp>
      <p:sp>
        <p:nvSpPr>
          <p:cNvPr id="17" name="Rounded Rectangle 16"/>
          <p:cNvSpPr/>
          <p:nvPr/>
        </p:nvSpPr>
        <p:spPr>
          <a:xfrm>
            <a:off x="4672583" y="958539"/>
            <a:ext cx="7040880" cy="4867768"/>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617720" y="885387"/>
            <a:ext cx="7040880" cy="4867768"/>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hero-reports.png"/>
          <p:cNvPicPr>
            <a:picLocks noChangeAspect="1"/>
          </p:cNvPicPr>
          <p:nvPr/>
        </p:nvPicPr>
        <p:blipFill>
          <a:blip r:embed="rId2"/>
          <a:stretch>
            <a:fillRect/>
          </a:stretch>
        </p:blipFill>
        <p:spPr>
          <a:xfrm>
            <a:off x="4617720" y="885387"/>
            <a:ext cx="7040880" cy="4867768"/>
          </a:xfrm>
          <a:prstGeom prst="rect">
            <a:avLst/>
          </a:prstGeom>
          <a:ln w="12700">
            <a:solidFill>
              <a:srgbClr val="D6DBE3"/>
            </a:solidFill>
          </a:ln>
        </p:spPr>
      </p:pic>
      <p:sp>
        <p:nvSpPr>
          <p:cNvPr id="20" name="Rectangle 19"/>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2" name="TextBox 21"/>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YOUR SCREENS</a:t>
            </a:r>
          </a:p>
        </p:txBody>
      </p:sp>
      <p:sp>
        <p:nvSpPr>
          <p:cNvPr id="23" name="TextBox 22"/>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12 / 41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7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48840"/>
            <a:ext cx="2743200" cy="1280160"/>
          </a:xfrm>
          <a:prstGeom prst="rect">
            <a:avLst/>
          </a:prstGeom>
          <a:noFill/>
        </p:spPr>
        <p:txBody>
          <a:bodyPr wrap="square" anchor="t" lIns="0" rIns="0" tIns="0" bIns="0">
            <a:spAutoFit/>
          </a:bodyPr>
          <a:lstStyle/>
          <a:p>
            <a:pPr algn="l">
              <a:lnSpc>
                <a:spcPct val="100000"/>
              </a:lnSpc>
              <a:spcBef>
                <a:spcPts val="0"/>
              </a:spcBef>
              <a:spcAft>
                <a:spcPts val="400"/>
              </a:spcAft>
            </a:pPr>
            <a:r>
              <a:rPr sz="9200" b="1" i="1">
                <a:solidFill>
                  <a:srgbClr val="243452"/>
                </a:solidFill>
                <a:latin typeface="Newsreader"/>
              </a:rPr>
              <a:t>03</a:t>
            </a:r>
          </a:p>
        </p:txBody>
      </p:sp>
      <p:sp>
        <p:nvSpPr>
          <p:cNvPr id="5" name="TextBox 4"/>
          <p:cNvSpPr txBox="1"/>
          <p:nvPr/>
        </p:nvSpPr>
        <p:spPr>
          <a:xfrm>
            <a:off x="2514600" y="2240280"/>
            <a:ext cx="8686800" cy="457200"/>
          </a:xfrm>
          <a:prstGeom prst="rect">
            <a:avLst/>
          </a:prstGeom>
          <a:noFill/>
        </p:spPr>
        <p:txBody>
          <a:bodyPr wrap="square" anchor="t" lIns="0" rIns="0" tIns="0" bIns="0">
            <a:spAutoFit/>
          </a:bodyPr>
          <a:lstStyle/>
          <a:p>
            <a:pPr algn="l">
              <a:lnSpc>
                <a:spcPct val="100000"/>
              </a:lnSpc>
              <a:spcBef>
                <a:spcPts val="0"/>
              </a:spcBef>
              <a:spcAft>
                <a:spcPts val="400"/>
              </a:spcAft>
            </a:pPr>
            <a:r>
              <a:rPr sz="1300" b="1" i="0" spc="240">
                <a:solidFill>
                  <a:srgbClr val="F0703F"/>
                </a:solidFill>
                <a:latin typeface="Hanken Grotesk"/>
              </a:rPr>
              <a:t>EVERY CHART, EXPLAINED</a:t>
            </a:r>
          </a:p>
        </p:txBody>
      </p:sp>
      <p:sp>
        <p:nvSpPr>
          <p:cNvPr id="6" name="TextBox 5"/>
          <p:cNvSpPr txBox="1"/>
          <p:nvPr/>
        </p:nvSpPr>
        <p:spPr>
          <a:xfrm>
            <a:off x="2487168" y="2651760"/>
            <a:ext cx="8869680" cy="1280160"/>
          </a:xfrm>
          <a:prstGeom prst="rect">
            <a:avLst/>
          </a:prstGeom>
          <a:noFill/>
        </p:spPr>
        <p:txBody>
          <a:bodyPr wrap="square" anchor="t" lIns="0" rIns="0" tIns="0" bIns="0">
            <a:spAutoFit/>
          </a:bodyPr>
          <a:lstStyle/>
          <a:p>
            <a:pPr algn="l">
              <a:lnSpc>
                <a:spcPct val="102000"/>
              </a:lnSpc>
              <a:spcBef>
                <a:spcPts val="0"/>
              </a:spcBef>
              <a:spcAft>
                <a:spcPts val="400"/>
              </a:spcAft>
            </a:pPr>
            <a:r>
              <a:rPr sz="4000" b="1" i="0">
                <a:solidFill>
                  <a:srgbClr val="FFFFFF"/>
                </a:solidFill>
                <a:latin typeface="Hanken Grotesk"/>
              </a:rPr>
              <a:t>Reading every chart,
one at a time</a:t>
            </a:r>
          </a:p>
        </p:txBody>
      </p:sp>
      <p:sp>
        <p:nvSpPr>
          <p:cNvPr id="7" name="TextBox 6"/>
          <p:cNvSpPr txBox="1"/>
          <p:nvPr/>
        </p:nvSpPr>
        <p:spPr>
          <a:xfrm>
            <a:off x="2514600" y="3977639"/>
            <a:ext cx="7955279" cy="914400"/>
          </a:xfrm>
          <a:prstGeom prst="rect">
            <a:avLst/>
          </a:prstGeom>
          <a:noFill/>
        </p:spPr>
        <p:txBody>
          <a:bodyPr wrap="square" anchor="t" lIns="0" rIns="0" tIns="0" bIns="0">
            <a:spAutoFit/>
          </a:bodyPr>
          <a:lstStyle/>
          <a:p>
            <a:pPr algn="l">
              <a:lnSpc>
                <a:spcPct val="120000"/>
              </a:lnSpc>
              <a:spcBef>
                <a:spcPts val="0"/>
              </a:spcBef>
              <a:spcAft>
                <a:spcPts val="400"/>
              </a:spcAft>
            </a:pPr>
            <a:r>
              <a:rPr sz="1450" b="0" i="0">
                <a:solidFill>
                  <a:srgbClr val="9FB0CE"/>
                </a:solidFill>
                <a:latin typeface="Hanken Grotesk"/>
              </a:rPr>
              <a:t>For each chart: what it shows, how to read it, and the data that drives it. Grouped by the screen it lives on.</a:t>
            </a:r>
          </a:p>
        </p:txBody>
      </p:sp>
      <p:sp>
        <p:nvSpPr>
          <p:cNvPr id="8" name="Oval 7"/>
          <p:cNvSpPr/>
          <p:nvPr/>
        </p:nvSpPr>
        <p:spPr>
          <a:xfrm>
            <a:off x="10981944" y="466344"/>
            <a:ext cx="621792" cy="621792"/>
          </a:xfrm>
          <a:prstGeom prst="ellipse">
            <a:avLst/>
          </a:prstGeom>
          <a:noFill/>
          <a:ln w="12700">
            <a:solidFill>
              <a:srgbClr val="3A4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100084" y="584484"/>
            <a:ext cx="385511" cy="385511"/>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100084" y="566196"/>
            <a:ext cx="385511" cy="385511"/>
          </a:xfrm>
          <a:prstGeom prst="rect">
            <a:avLst/>
          </a:prstGeom>
          <a:noFill/>
        </p:spPr>
        <p:txBody>
          <a:bodyPr wrap="square" anchor="ctr" lIns="0" rIns="0" tIns="0" bIns="0">
            <a:spAutoFit/>
          </a:bodyPr>
          <a:lstStyle/>
          <a:p>
            <a:pPr algn="ctr">
              <a:lnSpc>
                <a:spcPct val="100000"/>
              </a:lnSpc>
              <a:spcBef>
                <a:spcPts val="0"/>
              </a:spcBef>
              <a:spcAft>
                <a:spcPts val="400"/>
              </a:spcAft>
            </a:pPr>
            <a:r>
              <a:rPr sz="800" b="1" i="0">
                <a:solidFill>
                  <a:srgbClr val="FFFFFF"/>
                </a:solidFill>
                <a:latin typeface="Hanken Grotesk"/>
              </a:rPr>
              <a:t>O</a:t>
            </a:r>
          </a:p>
        </p:txBody>
      </p:sp>
      <p:sp>
        <p:nvSpPr>
          <p:cNvPr id="11" name="Oval 10"/>
          <p:cNvSpPr/>
          <p:nvPr/>
        </p:nvSpPr>
        <p:spPr>
          <a:xfrm>
            <a:off x="11485595" y="484997"/>
            <a:ext cx="99486" cy="99486"/>
          </a:xfrm>
          <a:prstGeom prst="ellipse">
            <a:avLst/>
          </a:prstGeom>
          <a:solidFill>
            <a:srgbClr val="F07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308384" y="1013520"/>
            <a:ext cx="62179" cy="62179"/>
          </a:xfrm>
          <a:prstGeom prst="ellipse">
            <a:avLst/>
          </a:prstGeom>
          <a:solidFill>
            <a:srgbClr val="6E8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566928"/>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13232"/>
            <a:ext cx="10789920" cy="320040"/>
          </a:xfrm>
          <a:prstGeom prst="rect">
            <a:avLst/>
          </a:prstGeom>
          <a:noFill/>
        </p:spPr>
        <p:txBody>
          <a:bodyPr wrap="square" anchor="t" lIns="0" rIns="0" tIns="0" bIns="0">
            <a:spAutoFit/>
          </a:bodyPr>
          <a:lstStyle/>
          <a:p>
            <a:pPr algn="l">
              <a:lnSpc>
                <a:spcPct val="100000"/>
              </a:lnSpc>
              <a:spcBef>
                <a:spcPts val="0"/>
              </a:spcBef>
              <a:spcAft>
                <a:spcPts val="400"/>
              </a:spcAft>
            </a:pPr>
            <a:r>
              <a:rPr sz="1050" b="1" i="0" spc="160">
                <a:solidFill>
                  <a:srgbClr val="D9521C"/>
                </a:solidFill>
                <a:latin typeface="Hanken Grotesk"/>
              </a:rPr>
              <a:t>EXECUTIVE DASHBOARD  ·  CHART</a:t>
            </a:r>
          </a:p>
        </p:txBody>
      </p:sp>
      <p:sp>
        <p:nvSpPr>
          <p:cNvPr id="6" name="TextBox 5"/>
          <p:cNvSpPr txBox="1"/>
          <p:nvPr/>
        </p:nvSpPr>
        <p:spPr>
          <a:xfrm>
            <a:off x="548640" y="1024128"/>
            <a:ext cx="10881360" cy="548640"/>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16243C"/>
                </a:solidFill>
                <a:latin typeface="Hanken Grotesk"/>
              </a:rPr>
              <a:t>Annual Achievement</a:t>
            </a:r>
          </a:p>
        </p:txBody>
      </p:sp>
      <p:sp>
        <p:nvSpPr>
          <p:cNvPr id="7" name="Rounded Rectangle 6"/>
          <p:cNvSpPr/>
          <p:nvPr/>
        </p:nvSpPr>
        <p:spPr>
          <a:xfrm>
            <a:off x="621792" y="3007560"/>
            <a:ext cx="6537960" cy="1903582"/>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2934408"/>
            <a:ext cx="6537960" cy="1903582"/>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xec-00.png"/>
          <p:cNvPicPr>
            <a:picLocks noChangeAspect="1"/>
          </p:cNvPicPr>
          <p:nvPr/>
        </p:nvPicPr>
        <p:blipFill>
          <a:blip r:embed="rId2"/>
          <a:stretch>
            <a:fillRect/>
          </a:stretch>
        </p:blipFill>
        <p:spPr>
          <a:xfrm>
            <a:off x="566928" y="2934408"/>
            <a:ext cx="6537960" cy="1903582"/>
          </a:xfrm>
          <a:prstGeom prst="rect">
            <a:avLst/>
          </a:prstGeom>
          <a:ln w="12700">
            <a:solidFill>
              <a:srgbClr val="D6DBE3"/>
            </a:solidFill>
          </a:ln>
        </p:spPr>
      </p:pic>
      <p:sp>
        <p:nvSpPr>
          <p:cNvPr id="10" name="Rectangle 9"/>
          <p:cNvSpPr/>
          <p:nvPr/>
        </p:nvSpPr>
        <p:spPr>
          <a:xfrm>
            <a:off x="7452360" y="1865376"/>
            <a:ext cx="82296" cy="201168"/>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71816" y="184708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IT SHOWS</a:t>
            </a:r>
          </a:p>
        </p:txBody>
      </p:sp>
      <p:sp>
        <p:nvSpPr>
          <p:cNvPr id="12" name="TextBox 11"/>
          <p:cNvSpPr txBox="1"/>
          <p:nvPr/>
        </p:nvSpPr>
        <p:spPr>
          <a:xfrm>
            <a:off x="7452360" y="215798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The year's budget target, the target you should have reached by this month, and actual billings so far, all in LKR millions.</a:t>
            </a:r>
          </a:p>
        </p:txBody>
      </p:sp>
      <p:sp>
        <p:nvSpPr>
          <p:cNvPr id="13" name="Rectangle 12"/>
          <p:cNvSpPr/>
          <p:nvPr/>
        </p:nvSpPr>
        <p:spPr>
          <a:xfrm>
            <a:off x="7452360" y="3122676"/>
            <a:ext cx="82296" cy="201168"/>
          </a:xfrm>
          <a:prstGeom prst="rect">
            <a:avLst/>
          </a:prstGeom>
          <a:solidFill>
            <a:srgbClr val="2E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71816" y="310438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HOW TO READ IT</a:t>
            </a:r>
          </a:p>
        </p:txBody>
      </p:sp>
      <p:sp>
        <p:nvSpPr>
          <p:cNvPr id="15" name="TextBox 14"/>
          <p:cNvSpPr txBox="1"/>
          <p:nvPr/>
        </p:nvSpPr>
        <p:spPr>
          <a:xfrm>
            <a:off x="7452360" y="341528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Compare the green Actual bar against the amber pacing target. The chip reads the percent of the pacing target achieved. The lighter tip on Actual is forecast fill for months not yet closed.</a:t>
            </a:r>
          </a:p>
        </p:txBody>
      </p:sp>
      <p:sp>
        <p:nvSpPr>
          <p:cNvPr id="16" name="Rectangle 15"/>
          <p:cNvSpPr/>
          <p:nvPr/>
        </p:nvSpPr>
        <p:spPr>
          <a:xfrm>
            <a:off x="7452360" y="4585716"/>
            <a:ext cx="82296" cy="201168"/>
          </a:xfrm>
          <a:prstGeom prst="rect">
            <a:avLst/>
          </a:prstGeom>
          <a:solidFill>
            <a:srgbClr val="8A9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71816" y="456742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DRIVES IT</a:t>
            </a:r>
          </a:p>
        </p:txBody>
      </p:sp>
      <p:sp>
        <p:nvSpPr>
          <p:cNvPr id="18" name="TextBox 17"/>
          <p:cNvSpPr txBox="1"/>
          <p:nvPr/>
        </p:nvSpPr>
        <p:spPr>
          <a:xfrm>
            <a:off x="7452360" y="487832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The Annual Target set by admins, confirmed schedule billings, and Group Head forecasts for the gap month.</a:t>
            </a:r>
          </a:p>
        </p:txBody>
      </p:sp>
      <p:sp>
        <p:nvSpPr>
          <p:cNvPr id="19" name="Rectangle 18"/>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1" name="TextBox 20"/>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EVERY CHART EXPLAINED</a:t>
            </a:r>
          </a:p>
        </p:txBody>
      </p:sp>
      <p:sp>
        <p:nvSpPr>
          <p:cNvPr id="22" name="TextBox 21"/>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14 / 41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566928"/>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13232"/>
            <a:ext cx="10789920" cy="320040"/>
          </a:xfrm>
          <a:prstGeom prst="rect">
            <a:avLst/>
          </a:prstGeom>
          <a:noFill/>
        </p:spPr>
        <p:txBody>
          <a:bodyPr wrap="square" anchor="t" lIns="0" rIns="0" tIns="0" bIns="0">
            <a:spAutoFit/>
          </a:bodyPr>
          <a:lstStyle/>
          <a:p>
            <a:pPr algn="l">
              <a:lnSpc>
                <a:spcPct val="100000"/>
              </a:lnSpc>
              <a:spcBef>
                <a:spcPts val="0"/>
              </a:spcBef>
              <a:spcAft>
                <a:spcPts val="400"/>
              </a:spcAft>
            </a:pPr>
            <a:r>
              <a:rPr sz="1050" b="1" i="0" spc="160">
                <a:solidFill>
                  <a:srgbClr val="D9521C"/>
                </a:solidFill>
                <a:latin typeface="Hanken Grotesk"/>
              </a:rPr>
              <a:t>EXECUTIVE DASHBOARD  ·  CHART</a:t>
            </a:r>
          </a:p>
        </p:txBody>
      </p:sp>
      <p:sp>
        <p:nvSpPr>
          <p:cNvPr id="6" name="TextBox 5"/>
          <p:cNvSpPr txBox="1"/>
          <p:nvPr/>
        </p:nvSpPr>
        <p:spPr>
          <a:xfrm>
            <a:off x="548640" y="1024128"/>
            <a:ext cx="10881360" cy="548640"/>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16243C"/>
                </a:solidFill>
                <a:latin typeface="Hanken Grotesk"/>
              </a:rPr>
              <a:t>Monthly Spend</a:t>
            </a:r>
          </a:p>
        </p:txBody>
      </p:sp>
      <p:sp>
        <p:nvSpPr>
          <p:cNvPr id="7" name="Rounded Rectangle 6"/>
          <p:cNvSpPr/>
          <p:nvPr/>
        </p:nvSpPr>
        <p:spPr>
          <a:xfrm>
            <a:off x="621792" y="3032476"/>
            <a:ext cx="6537960" cy="1853750"/>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2959324"/>
            <a:ext cx="6537960" cy="1853750"/>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xec-01.png"/>
          <p:cNvPicPr>
            <a:picLocks noChangeAspect="1"/>
          </p:cNvPicPr>
          <p:nvPr/>
        </p:nvPicPr>
        <p:blipFill>
          <a:blip r:embed="rId2"/>
          <a:stretch>
            <a:fillRect/>
          </a:stretch>
        </p:blipFill>
        <p:spPr>
          <a:xfrm>
            <a:off x="566928" y="2959324"/>
            <a:ext cx="6537960" cy="1853750"/>
          </a:xfrm>
          <a:prstGeom prst="rect">
            <a:avLst/>
          </a:prstGeom>
          <a:ln w="12700">
            <a:solidFill>
              <a:srgbClr val="D6DBE3"/>
            </a:solidFill>
          </a:ln>
        </p:spPr>
      </p:pic>
      <p:sp>
        <p:nvSpPr>
          <p:cNvPr id="10" name="Rectangle 9"/>
          <p:cNvSpPr/>
          <p:nvPr/>
        </p:nvSpPr>
        <p:spPr>
          <a:xfrm>
            <a:off x="7452360" y="1865376"/>
            <a:ext cx="82296" cy="201168"/>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71816" y="184708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IT SHOWS</a:t>
            </a:r>
          </a:p>
        </p:txBody>
      </p:sp>
      <p:sp>
        <p:nvSpPr>
          <p:cNvPr id="12" name="TextBox 11"/>
          <p:cNvSpPr txBox="1"/>
          <p:nvPr/>
        </p:nvSpPr>
        <p:spPr>
          <a:xfrm>
            <a:off x="7452360" y="215798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Company wide spend for each month of the selected year, with the coming month shown as a forecast point.</a:t>
            </a:r>
          </a:p>
        </p:txBody>
      </p:sp>
      <p:sp>
        <p:nvSpPr>
          <p:cNvPr id="13" name="Rectangle 12"/>
          <p:cNvSpPr/>
          <p:nvPr/>
        </p:nvSpPr>
        <p:spPr>
          <a:xfrm>
            <a:off x="7452360" y="2916936"/>
            <a:ext cx="82296" cy="201168"/>
          </a:xfrm>
          <a:prstGeom prst="rect">
            <a:avLst/>
          </a:prstGeom>
          <a:solidFill>
            <a:srgbClr val="2E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71816" y="289864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HOW TO READ IT</a:t>
            </a:r>
          </a:p>
        </p:txBody>
      </p:sp>
      <p:sp>
        <p:nvSpPr>
          <p:cNvPr id="15" name="TextBox 14"/>
          <p:cNvSpPr txBox="1"/>
          <p:nvPr/>
        </p:nvSpPr>
        <p:spPr>
          <a:xfrm>
            <a:off x="7452360" y="320954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Follow the line for pace and seasonality. The final point is a forecast until real schedules arrive, then it switches to actual on its own.</a:t>
            </a:r>
          </a:p>
        </p:txBody>
      </p:sp>
      <p:sp>
        <p:nvSpPr>
          <p:cNvPr id="16" name="Rectangle 15"/>
          <p:cNvSpPr/>
          <p:nvPr/>
        </p:nvSpPr>
        <p:spPr>
          <a:xfrm>
            <a:off x="7452360" y="4174235"/>
            <a:ext cx="82296" cy="201168"/>
          </a:xfrm>
          <a:prstGeom prst="rect">
            <a:avLst/>
          </a:prstGeom>
          <a:solidFill>
            <a:srgbClr val="8A9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71816" y="415594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DRIVES IT</a:t>
            </a:r>
          </a:p>
        </p:txBody>
      </p:sp>
      <p:sp>
        <p:nvSpPr>
          <p:cNvPr id="18" name="TextBox 17"/>
          <p:cNvSpPr txBox="1"/>
          <p:nvPr/>
        </p:nvSpPr>
        <p:spPr>
          <a:xfrm>
            <a:off x="7452360" y="446684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Confirmed schedule billings, plus Group Head forecasts for the upcoming month.</a:t>
            </a:r>
          </a:p>
        </p:txBody>
      </p:sp>
      <p:sp>
        <p:nvSpPr>
          <p:cNvPr id="19" name="Rectangle 18"/>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1" name="TextBox 20"/>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EVERY CHART EXPLAINED</a:t>
            </a:r>
          </a:p>
        </p:txBody>
      </p:sp>
      <p:sp>
        <p:nvSpPr>
          <p:cNvPr id="22" name="TextBox 21"/>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15 / 41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566928"/>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13232"/>
            <a:ext cx="10789920" cy="320040"/>
          </a:xfrm>
          <a:prstGeom prst="rect">
            <a:avLst/>
          </a:prstGeom>
          <a:noFill/>
        </p:spPr>
        <p:txBody>
          <a:bodyPr wrap="square" anchor="t" lIns="0" rIns="0" tIns="0" bIns="0">
            <a:spAutoFit/>
          </a:bodyPr>
          <a:lstStyle/>
          <a:p>
            <a:pPr algn="l">
              <a:lnSpc>
                <a:spcPct val="100000"/>
              </a:lnSpc>
              <a:spcBef>
                <a:spcPts val="0"/>
              </a:spcBef>
              <a:spcAft>
                <a:spcPts val="400"/>
              </a:spcAft>
            </a:pPr>
            <a:r>
              <a:rPr sz="1050" b="1" i="0" spc="160">
                <a:solidFill>
                  <a:srgbClr val="D9521C"/>
                </a:solidFill>
                <a:latin typeface="Hanken Grotesk"/>
              </a:rPr>
              <a:t>EXECUTIVE DASHBOARD  ·  CHART</a:t>
            </a:r>
          </a:p>
        </p:txBody>
      </p:sp>
      <p:sp>
        <p:nvSpPr>
          <p:cNvPr id="6" name="TextBox 5"/>
          <p:cNvSpPr txBox="1"/>
          <p:nvPr/>
        </p:nvSpPr>
        <p:spPr>
          <a:xfrm>
            <a:off x="548640" y="1024128"/>
            <a:ext cx="10881360" cy="548640"/>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16243C"/>
                </a:solidFill>
                <a:latin typeface="Hanken Grotesk"/>
              </a:rPr>
              <a:t>Group Contribution</a:t>
            </a:r>
          </a:p>
        </p:txBody>
      </p:sp>
      <p:sp>
        <p:nvSpPr>
          <p:cNvPr id="7" name="Rounded Rectangle 6"/>
          <p:cNvSpPr/>
          <p:nvPr/>
        </p:nvSpPr>
        <p:spPr>
          <a:xfrm>
            <a:off x="621792" y="3000085"/>
            <a:ext cx="6537960" cy="1918532"/>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2926933"/>
            <a:ext cx="6537960" cy="1918532"/>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xec-02.png"/>
          <p:cNvPicPr>
            <a:picLocks noChangeAspect="1"/>
          </p:cNvPicPr>
          <p:nvPr/>
        </p:nvPicPr>
        <p:blipFill>
          <a:blip r:embed="rId2"/>
          <a:stretch>
            <a:fillRect/>
          </a:stretch>
        </p:blipFill>
        <p:spPr>
          <a:xfrm>
            <a:off x="566928" y="2926933"/>
            <a:ext cx="6537960" cy="1918532"/>
          </a:xfrm>
          <a:prstGeom prst="rect">
            <a:avLst/>
          </a:prstGeom>
          <a:ln w="12700">
            <a:solidFill>
              <a:srgbClr val="D6DBE3"/>
            </a:solidFill>
          </a:ln>
        </p:spPr>
      </p:pic>
      <p:sp>
        <p:nvSpPr>
          <p:cNvPr id="10" name="Rectangle 9"/>
          <p:cNvSpPr/>
          <p:nvPr/>
        </p:nvSpPr>
        <p:spPr>
          <a:xfrm>
            <a:off x="7452360" y="1865376"/>
            <a:ext cx="82296" cy="201168"/>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71816" y="184708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IT SHOWS</a:t>
            </a:r>
          </a:p>
        </p:txBody>
      </p:sp>
      <p:sp>
        <p:nvSpPr>
          <p:cNvPr id="12" name="TextBox 11"/>
          <p:cNvSpPr txBox="1"/>
          <p:nvPr/>
        </p:nvSpPr>
        <p:spPr>
          <a:xfrm>
            <a:off x="7452360" y="215798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Two donuts by group head: Budget, from schedule logs for the month before the latest data month, and Revenue, entered by an admin for the following month.</a:t>
            </a:r>
          </a:p>
        </p:txBody>
      </p:sp>
      <p:sp>
        <p:nvSpPr>
          <p:cNvPr id="13" name="Rectangle 12"/>
          <p:cNvSpPr/>
          <p:nvPr/>
        </p:nvSpPr>
        <p:spPr>
          <a:xfrm>
            <a:off x="7452360" y="3122676"/>
            <a:ext cx="82296" cy="201168"/>
          </a:xfrm>
          <a:prstGeom prst="rect">
            <a:avLst/>
          </a:prstGeom>
          <a:solidFill>
            <a:srgbClr val="2E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71816" y="310438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HOW TO READ IT</a:t>
            </a:r>
          </a:p>
        </p:txBody>
      </p:sp>
      <p:sp>
        <p:nvSpPr>
          <p:cNvPr id="15" name="TextBox 14"/>
          <p:cNvSpPr txBox="1"/>
          <p:nvPr/>
        </p:nvSpPr>
        <p:spPr>
          <a:xfrm>
            <a:off x="7452360" y="341528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Read each head's share of the month. Unassigned clients show as a blue slice on Budget only. Colours are stable, so the same head is the same colour on both donuts.</a:t>
            </a:r>
          </a:p>
        </p:txBody>
      </p:sp>
      <p:sp>
        <p:nvSpPr>
          <p:cNvPr id="16" name="Rectangle 15"/>
          <p:cNvSpPr/>
          <p:nvPr/>
        </p:nvSpPr>
        <p:spPr>
          <a:xfrm>
            <a:off x="7452360" y="4585716"/>
            <a:ext cx="82296" cy="201168"/>
          </a:xfrm>
          <a:prstGeom prst="rect">
            <a:avLst/>
          </a:prstGeom>
          <a:solidFill>
            <a:srgbClr val="8A9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71816" y="456742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DRIVES IT</a:t>
            </a:r>
          </a:p>
        </p:txBody>
      </p:sp>
      <p:sp>
        <p:nvSpPr>
          <p:cNvPr id="18" name="TextBox 17"/>
          <p:cNvSpPr txBox="1"/>
          <p:nvPr/>
        </p:nvSpPr>
        <p:spPr>
          <a:xfrm>
            <a:off x="7452360" y="487832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Budget from schedule billings per group head; Revenue from the admin's Group Revenue entries (Admin, Group Revenue tab).</a:t>
            </a:r>
          </a:p>
        </p:txBody>
      </p:sp>
      <p:sp>
        <p:nvSpPr>
          <p:cNvPr id="19" name="Rectangle 18"/>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1" name="TextBox 20"/>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EVERY CHART EXPLAINED</a:t>
            </a:r>
          </a:p>
        </p:txBody>
      </p:sp>
      <p:sp>
        <p:nvSpPr>
          <p:cNvPr id="22" name="TextBox 21"/>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16 / 41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566928"/>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13232"/>
            <a:ext cx="10789920" cy="320040"/>
          </a:xfrm>
          <a:prstGeom prst="rect">
            <a:avLst/>
          </a:prstGeom>
          <a:noFill/>
        </p:spPr>
        <p:txBody>
          <a:bodyPr wrap="square" anchor="t" lIns="0" rIns="0" tIns="0" bIns="0">
            <a:spAutoFit/>
          </a:bodyPr>
          <a:lstStyle/>
          <a:p>
            <a:pPr algn="l">
              <a:lnSpc>
                <a:spcPct val="100000"/>
              </a:lnSpc>
              <a:spcBef>
                <a:spcPts val="0"/>
              </a:spcBef>
              <a:spcAft>
                <a:spcPts val="400"/>
              </a:spcAft>
            </a:pPr>
            <a:r>
              <a:rPr sz="1050" b="1" i="0" spc="160">
                <a:solidFill>
                  <a:srgbClr val="D9521C"/>
                </a:solidFill>
                <a:latin typeface="Hanken Grotesk"/>
              </a:rPr>
              <a:t>EXECUTIVE DASHBOARD  ·  CHART</a:t>
            </a:r>
          </a:p>
        </p:txBody>
      </p:sp>
      <p:sp>
        <p:nvSpPr>
          <p:cNvPr id="6" name="TextBox 5"/>
          <p:cNvSpPr txBox="1"/>
          <p:nvPr/>
        </p:nvSpPr>
        <p:spPr>
          <a:xfrm>
            <a:off x="548640" y="1024128"/>
            <a:ext cx="10881360" cy="548640"/>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16243C"/>
                </a:solidFill>
                <a:latin typeface="Hanken Grotesk"/>
              </a:rPr>
              <a:t>Monthly Avg</a:t>
            </a:r>
          </a:p>
        </p:txBody>
      </p:sp>
      <p:sp>
        <p:nvSpPr>
          <p:cNvPr id="7" name="Rounded Rectangle 6"/>
          <p:cNvSpPr/>
          <p:nvPr/>
        </p:nvSpPr>
        <p:spPr>
          <a:xfrm>
            <a:off x="621792" y="3107224"/>
            <a:ext cx="6537960" cy="1704254"/>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3034072"/>
            <a:ext cx="6537960" cy="1704254"/>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xec-03.png"/>
          <p:cNvPicPr>
            <a:picLocks noChangeAspect="1"/>
          </p:cNvPicPr>
          <p:nvPr/>
        </p:nvPicPr>
        <p:blipFill>
          <a:blip r:embed="rId2"/>
          <a:stretch>
            <a:fillRect/>
          </a:stretch>
        </p:blipFill>
        <p:spPr>
          <a:xfrm>
            <a:off x="566928" y="3034072"/>
            <a:ext cx="6537960" cy="1704254"/>
          </a:xfrm>
          <a:prstGeom prst="rect">
            <a:avLst/>
          </a:prstGeom>
          <a:ln w="12700">
            <a:solidFill>
              <a:srgbClr val="D6DBE3"/>
            </a:solidFill>
          </a:ln>
        </p:spPr>
      </p:pic>
      <p:sp>
        <p:nvSpPr>
          <p:cNvPr id="10" name="Rectangle 9"/>
          <p:cNvSpPr/>
          <p:nvPr/>
        </p:nvSpPr>
        <p:spPr>
          <a:xfrm>
            <a:off x="7452360" y="1865376"/>
            <a:ext cx="82296" cy="201168"/>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71816" y="184708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IT SHOWS</a:t>
            </a:r>
          </a:p>
        </p:txBody>
      </p:sp>
      <p:sp>
        <p:nvSpPr>
          <p:cNvPr id="12" name="TextBox 11"/>
          <p:cNvSpPr txBox="1"/>
          <p:nvPr/>
        </p:nvSpPr>
        <p:spPr>
          <a:xfrm>
            <a:off x="7452360" y="215798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The average monthly spend for each calendar year, one bar per year.</a:t>
            </a:r>
          </a:p>
        </p:txBody>
      </p:sp>
      <p:sp>
        <p:nvSpPr>
          <p:cNvPr id="13" name="Rectangle 12"/>
          <p:cNvSpPr/>
          <p:nvPr/>
        </p:nvSpPr>
        <p:spPr>
          <a:xfrm>
            <a:off x="7452360" y="2916936"/>
            <a:ext cx="82296" cy="201168"/>
          </a:xfrm>
          <a:prstGeom prst="rect">
            <a:avLst/>
          </a:prstGeom>
          <a:solidFill>
            <a:srgbClr val="2E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71816" y="289864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HOW TO READ IT</a:t>
            </a:r>
          </a:p>
        </p:txBody>
      </p:sp>
      <p:sp>
        <p:nvSpPr>
          <p:cNvPr id="15" name="TextBox 14"/>
          <p:cNvSpPr txBox="1"/>
          <p:nvPr/>
        </p:nvSpPr>
        <p:spPr>
          <a:xfrm>
            <a:off x="7452360" y="320954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A taller bar is a higher run rate that year. A part year divides by only the months that have data, so partial years stay comparable.</a:t>
            </a:r>
          </a:p>
        </p:txBody>
      </p:sp>
      <p:sp>
        <p:nvSpPr>
          <p:cNvPr id="16" name="Rectangle 15"/>
          <p:cNvSpPr/>
          <p:nvPr/>
        </p:nvSpPr>
        <p:spPr>
          <a:xfrm>
            <a:off x="7452360" y="4174235"/>
            <a:ext cx="82296" cy="201168"/>
          </a:xfrm>
          <a:prstGeom prst="rect">
            <a:avLst/>
          </a:prstGeom>
          <a:solidFill>
            <a:srgbClr val="8A9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71816" y="415594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DRIVES IT</a:t>
            </a:r>
          </a:p>
        </p:txBody>
      </p:sp>
      <p:sp>
        <p:nvSpPr>
          <p:cNvPr id="18" name="TextBox 17"/>
          <p:cNvSpPr txBox="1"/>
          <p:nvPr/>
        </p:nvSpPr>
        <p:spPr>
          <a:xfrm>
            <a:off x="7452360" y="446684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Each year's total billings divided by its number of months with data.</a:t>
            </a:r>
          </a:p>
        </p:txBody>
      </p:sp>
      <p:sp>
        <p:nvSpPr>
          <p:cNvPr id="19" name="Rectangle 18"/>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1" name="TextBox 20"/>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EVERY CHART EXPLAINED</a:t>
            </a:r>
          </a:p>
        </p:txBody>
      </p:sp>
      <p:sp>
        <p:nvSpPr>
          <p:cNvPr id="22" name="TextBox 21"/>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17 / 41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566928"/>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13232"/>
            <a:ext cx="10789920" cy="320040"/>
          </a:xfrm>
          <a:prstGeom prst="rect">
            <a:avLst/>
          </a:prstGeom>
          <a:noFill/>
        </p:spPr>
        <p:txBody>
          <a:bodyPr wrap="square" anchor="t" lIns="0" rIns="0" tIns="0" bIns="0">
            <a:spAutoFit/>
          </a:bodyPr>
          <a:lstStyle/>
          <a:p>
            <a:pPr algn="l">
              <a:lnSpc>
                <a:spcPct val="100000"/>
              </a:lnSpc>
              <a:spcBef>
                <a:spcPts val="0"/>
              </a:spcBef>
              <a:spcAft>
                <a:spcPts val="400"/>
              </a:spcAft>
            </a:pPr>
            <a:r>
              <a:rPr sz="1050" b="1" i="0" spc="160">
                <a:solidFill>
                  <a:srgbClr val="D9521C"/>
                </a:solidFill>
                <a:latin typeface="Hanken Grotesk"/>
              </a:rPr>
              <a:t>EXECUTIVE DASHBOARD  ·  CHART</a:t>
            </a:r>
          </a:p>
        </p:txBody>
      </p:sp>
      <p:sp>
        <p:nvSpPr>
          <p:cNvPr id="6" name="TextBox 5"/>
          <p:cNvSpPr txBox="1"/>
          <p:nvPr/>
        </p:nvSpPr>
        <p:spPr>
          <a:xfrm>
            <a:off x="548640" y="1024128"/>
            <a:ext cx="10881360" cy="548640"/>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16243C"/>
                </a:solidFill>
                <a:latin typeface="Hanken Grotesk"/>
              </a:rPr>
              <a:t>Group Contribution vs Forecast</a:t>
            </a:r>
          </a:p>
        </p:txBody>
      </p:sp>
      <p:sp>
        <p:nvSpPr>
          <p:cNvPr id="7" name="Rounded Rectangle 6"/>
          <p:cNvSpPr/>
          <p:nvPr/>
        </p:nvSpPr>
        <p:spPr>
          <a:xfrm>
            <a:off x="621792" y="2957728"/>
            <a:ext cx="6537960" cy="2003246"/>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2884576"/>
            <a:ext cx="6537960" cy="2003246"/>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xec-04.png"/>
          <p:cNvPicPr>
            <a:picLocks noChangeAspect="1"/>
          </p:cNvPicPr>
          <p:nvPr/>
        </p:nvPicPr>
        <p:blipFill>
          <a:blip r:embed="rId2"/>
          <a:stretch>
            <a:fillRect/>
          </a:stretch>
        </p:blipFill>
        <p:spPr>
          <a:xfrm>
            <a:off x="566928" y="2884576"/>
            <a:ext cx="6537960" cy="2003246"/>
          </a:xfrm>
          <a:prstGeom prst="rect">
            <a:avLst/>
          </a:prstGeom>
          <a:ln w="12700">
            <a:solidFill>
              <a:srgbClr val="D6DBE3"/>
            </a:solidFill>
          </a:ln>
        </p:spPr>
      </p:pic>
      <p:sp>
        <p:nvSpPr>
          <p:cNvPr id="10" name="Rectangle 9"/>
          <p:cNvSpPr/>
          <p:nvPr/>
        </p:nvSpPr>
        <p:spPr>
          <a:xfrm>
            <a:off x="7452360" y="1865376"/>
            <a:ext cx="82296" cy="201168"/>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71816" y="184708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IT SHOWS</a:t>
            </a:r>
          </a:p>
        </p:txBody>
      </p:sp>
      <p:sp>
        <p:nvSpPr>
          <p:cNvPr id="12" name="TextBox 11"/>
          <p:cNvSpPr txBox="1"/>
          <p:nvPr/>
        </p:nvSpPr>
        <p:spPr>
          <a:xfrm>
            <a:off x="7452360" y="215798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Per group head, the average of every actual month so far this year (blue) against that head's forecast for the next month (orange).</a:t>
            </a:r>
          </a:p>
        </p:txBody>
      </p:sp>
      <p:sp>
        <p:nvSpPr>
          <p:cNvPr id="13" name="Rectangle 12"/>
          <p:cNvSpPr/>
          <p:nvPr/>
        </p:nvSpPr>
        <p:spPr>
          <a:xfrm>
            <a:off x="7452360" y="3122676"/>
            <a:ext cx="82296" cy="201168"/>
          </a:xfrm>
          <a:prstGeom prst="rect">
            <a:avLst/>
          </a:prstGeom>
          <a:solidFill>
            <a:srgbClr val="2E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71816" y="310438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HOW TO READ IT</a:t>
            </a:r>
          </a:p>
        </p:txBody>
      </p:sp>
      <p:sp>
        <p:nvSpPr>
          <p:cNvPr id="15" name="TextBox 14"/>
          <p:cNvSpPr txBox="1"/>
          <p:nvPr/>
        </p:nvSpPr>
        <p:spPr>
          <a:xfrm>
            <a:off x="7452360" y="341528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Compare the two bars for each head. The percent above the shorter bar is the change: green for growth, red for a drop.</a:t>
            </a:r>
          </a:p>
        </p:txBody>
      </p:sp>
      <p:sp>
        <p:nvSpPr>
          <p:cNvPr id="16" name="Rectangle 15"/>
          <p:cNvSpPr/>
          <p:nvPr/>
        </p:nvSpPr>
        <p:spPr>
          <a:xfrm>
            <a:off x="7452360" y="4379975"/>
            <a:ext cx="82296" cy="201168"/>
          </a:xfrm>
          <a:prstGeom prst="rect">
            <a:avLst/>
          </a:prstGeom>
          <a:solidFill>
            <a:srgbClr val="8A9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71816" y="436168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DRIVES IT</a:t>
            </a:r>
          </a:p>
        </p:txBody>
      </p:sp>
      <p:sp>
        <p:nvSpPr>
          <p:cNvPr id="18" name="TextBox 17"/>
          <p:cNvSpPr txBox="1"/>
          <p:nvPr/>
        </p:nvSpPr>
        <p:spPr>
          <a:xfrm>
            <a:off x="7452360" y="4672583"/>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Actual from schedule billings averaged over the year to date; forecast from Group Head submissions for the coming month.</a:t>
            </a:r>
          </a:p>
        </p:txBody>
      </p:sp>
      <p:sp>
        <p:nvSpPr>
          <p:cNvPr id="19" name="Rectangle 18"/>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1" name="TextBox 20"/>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EVERY CHART EXPLAINED</a:t>
            </a:r>
          </a:p>
        </p:txBody>
      </p:sp>
      <p:sp>
        <p:nvSpPr>
          <p:cNvPr id="22" name="TextBox 21"/>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18 / 41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566928"/>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13232"/>
            <a:ext cx="10789920" cy="320040"/>
          </a:xfrm>
          <a:prstGeom prst="rect">
            <a:avLst/>
          </a:prstGeom>
          <a:noFill/>
        </p:spPr>
        <p:txBody>
          <a:bodyPr wrap="square" anchor="t" lIns="0" rIns="0" tIns="0" bIns="0">
            <a:spAutoFit/>
          </a:bodyPr>
          <a:lstStyle/>
          <a:p>
            <a:pPr algn="l">
              <a:lnSpc>
                <a:spcPct val="100000"/>
              </a:lnSpc>
              <a:spcBef>
                <a:spcPts val="0"/>
              </a:spcBef>
              <a:spcAft>
                <a:spcPts val="400"/>
              </a:spcAft>
            </a:pPr>
            <a:r>
              <a:rPr sz="1050" b="1" i="0" spc="160">
                <a:solidFill>
                  <a:srgbClr val="D9521C"/>
                </a:solidFill>
                <a:latin typeface="Hanken Grotesk"/>
              </a:rPr>
              <a:t>EXECUTIVE DASHBOARD  ·  CHART</a:t>
            </a:r>
          </a:p>
        </p:txBody>
      </p:sp>
      <p:sp>
        <p:nvSpPr>
          <p:cNvPr id="6" name="TextBox 5"/>
          <p:cNvSpPr txBox="1"/>
          <p:nvPr/>
        </p:nvSpPr>
        <p:spPr>
          <a:xfrm>
            <a:off x="548640" y="1024128"/>
            <a:ext cx="10881360" cy="548640"/>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16243C"/>
                </a:solidFill>
                <a:latin typeface="Hanken Grotesk"/>
              </a:rPr>
              <a:t>Monthly Billing Trend</a:t>
            </a:r>
          </a:p>
        </p:txBody>
      </p:sp>
      <p:sp>
        <p:nvSpPr>
          <p:cNvPr id="7" name="Rounded Rectangle 6"/>
          <p:cNvSpPr/>
          <p:nvPr/>
        </p:nvSpPr>
        <p:spPr>
          <a:xfrm>
            <a:off x="621792" y="2917862"/>
            <a:ext cx="6537960" cy="2082978"/>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2844710"/>
            <a:ext cx="6537960" cy="2082978"/>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xec-05.png"/>
          <p:cNvPicPr>
            <a:picLocks noChangeAspect="1"/>
          </p:cNvPicPr>
          <p:nvPr/>
        </p:nvPicPr>
        <p:blipFill>
          <a:blip r:embed="rId2"/>
          <a:stretch>
            <a:fillRect/>
          </a:stretch>
        </p:blipFill>
        <p:spPr>
          <a:xfrm>
            <a:off x="566928" y="2844710"/>
            <a:ext cx="6537960" cy="2082978"/>
          </a:xfrm>
          <a:prstGeom prst="rect">
            <a:avLst/>
          </a:prstGeom>
          <a:ln w="12700">
            <a:solidFill>
              <a:srgbClr val="D6DBE3"/>
            </a:solidFill>
          </a:ln>
        </p:spPr>
      </p:pic>
      <p:sp>
        <p:nvSpPr>
          <p:cNvPr id="10" name="Rectangle 9"/>
          <p:cNvSpPr/>
          <p:nvPr/>
        </p:nvSpPr>
        <p:spPr>
          <a:xfrm>
            <a:off x="7452360" y="1865376"/>
            <a:ext cx="82296" cy="201168"/>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71816" y="184708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IT SHOWS</a:t>
            </a:r>
          </a:p>
        </p:txBody>
      </p:sp>
      <p:sp>
        <p:nvSpPr>
          <p:cNvPr id="12" name="TextBox 11"/>
          <p:cNvSpPr txBox="1"/>
          <p:nvPr/>
        </p:nvSpPr>
        <p:spPr>
          <a:xfrm>
            <a:off x="7452360" y="215798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In the Combined view, one bar per year plotted against a fixed Jan to Dec axis, so every year compares side by side. A By Agency view is also available.</a:t>
            </a:r>
          </a:p>
        </p:txBody>
      </p:sp>
      <p:sp>
        <p:nvSpPr>
          <p:cNvPr id="13" name="Rectangle 12"/>
          <p:cNvSpPr/>
          <p:nvPr/>
        </p:nvSpPr>
        <p:spPr>
          <a:xfrm>
            <a:off x="7452360" y="3122676"/>
            <a:ext cx="82296" cy="201168"/>
          </a:xfrm>
          <a:prstGeom prst="rect">
            <a:avLst/>
          </a:prstGeom>
          <a:solidFill>
            <a:srgbClr val="2E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71816" y="310438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HOW TO READ IT</a:t>
            </a:r>
          </a:p>
        </p:txBody>
      </p:sp>
      <p:sp>
        <p:nvSpPr>
          <p:cNvPr id="15" name="TextBox 14"/>
          <p:cNvSpPr txBox="1"/>
          <p:nvPr/>
        </p:nvSpPr>
        <p:spPr>
          <a:xfrm>
            <a:off x="7452360" y="341528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Read a month top to bottom to compare years. A partial year only draws bars for the months it has.</a:t>
            </a:r>
          </a:p>
        </p:txBody>
      </p:sp>
      <p:sp>
        <p:nvSpPr>
          <p:cNvPr id="16" name="Rectangle 15"/>
          <p:cNvSpPr/>
          <p:nvPr/>
        </p:nvSpPr>
        <p:spPr>
          <a:xfrm>
            <a:off x="7452360" y="4174235"/>
            <a:ext cx="82296" cy="201168"/>
          </a:xfrm>
          <a:prstGeom prst="rect">
            <a:avLst/>
          </a:prstGeom>
          <a:solidFill>
            <a:srgbClr val="8A9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71816" y="415594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DRIVES IT</a:t>
            </a:r>
          </a:p>
        </p:txBody>
      </p:sp>
      <p:sp>
        <p:nvSpPr>
          <p:cNvPr id="18" name="TextBox 17"/>
          <p:cNvSpPr txBox="1"/>
          <p:nvPr/>
        </p:nvSpPr>
        <p:spPr>
          <a:xfrm>
            <a:off x="7452360" y="446684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Schedule billings totalled by invoice month, pivoted into one series per year.</a:t>
            </a:r>
          </a:p>
        </p:txBody>
      </p:sp>
      <p:sp>
        <p:nvSpPr>
          <p:cNvPr id="19" name="Rectangle 18"/>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1" name="TextBox 20"/>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EVERY CHART EXPLAINED</a:t>
            </a:r>
          </a:p>
        </p:txBody>
      </p:sp>
      <p:sp>
        <p:nvSpPr>
          <p:cNvPr id="22" name="TextBox 21"/>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19 / 41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566928"/>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13232"/>
            <a:ext cx="10789920" cy="320040"/>
          </a:xfrm>
          <a:prstGeom prst="rect">
            <a:avLst/>
          </a:prstGeom>
          <a:noFill/>
        </p:spPr>
        <p:txBody>
          <a:bodyPr wrap="square" anchor="t" lIns="0" rIns="0" tIns="0" bIns="0">
            <a:spAutoFit/>
          </a:bodyPr>
          <a:lstStyle/>
          <a:p>
            <a:pPr algn="l">
              <a:lnSpc>
                <a:spcPct val="100000"/>
              </a:lnSpc>
              <a:spcBef>
                <a:spcPts val="0"/>
              </a:spcBef>
              <a:spcAft>
                <a:spcPts val="400"/>
              </a:spcAft>
            </a:pPr>
            <a:r>
              <a:rPr sz="1050" b="1" i="0" spc="160">
                <a:solidFill>
                  <a:srgbClr val="D9521C"/>
                </a:solidFill>
                <a:latin typeface="Hanken Grotesk"/>
              </a:rPr>
              <a:t>EXECUTIVE DASHBOARD  ·  CHART</a:t>
            </a:r>
          </a:p>
        </p:txBody>
      </p:sp>
      <p:sp>
        <p:nvSpPr>
          <p:cNvPr id="6" name="TextBox 5"/>
          <p:cNvSpPr txBox="1"/>
          <p:nvPr/>
        </p:nvSpPr>
        <p:spPr>
          <a:xfrm>
            <a:off x="548640" y="1024128"/>
            <a:ext cx="10881360" cy="548640"/>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16243C"/>
                </a:solidFill>
                <a:latin typeface="Hanken Grotesk"/>
              </a:rPr>
              <a:t>Agency Comparison</a:t>
            </a:r>
          </a:p>
        </p:txBody>
      </p:sp>
      <p:sp>
        <p:nvSpPr>
          <p:cNvPr id="7" name="Rounded Rectangle 6"/>
          <p:cNvSpPr/>
          <p:nvPr/>
        </p:nvSpPr>
        <p:spPr>
          <a:xfrm>
            <a:off x="621792" y="2628837"/>
            <a:ext cx="6537960" cy="2661029"/>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2555685"/>
            <a:ext cx="6537960" cy="2661029"/>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xec-06.png"/>
          <p:cNvPicPr>
            <a:picLocks noChangeAspect="1"/>
          </p:cNvPicPr>
          <p:nvPr/>
        </p:nvPicPr>
        <p:blipFill>
          <a:blip r:embed="rId2"/>
          <a:stretch>
            <a:fillRect/>
          </a:stretch>
        </p:blipFill>
        <p:spPr>
          <a:xfrm>
            <a:off x="566928" y="2555685"/>
            <a:ext cx="6537960" cy="2661029"/>
          </a:xfrm>
          <a:prstGeom prst="rect">
            <a:avLst/>
          </a:prstGeom>
          <a:ln w="12700">
            <a:solidFill>
              <a:srgbClr val="D6DBE3"/>
            </a:solidFill>
          </a:ln>
        </p:spPr>
      </p:pic>
      <p:sp>
        <p:nvSpPr>
          <p:cNvPr id="10" name="Rectangle 9"/>
          <p:cNvSpPr/>
          <p:nvPr/>
        </p:nvSpPr>
        <p:spPr>
          <a:xfrm>
            <a:off x="7452360" y="1865376"/>
            <a:ext cx="82296" cy="201168"/>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71816" y="184708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IT SHOWS</a:t>
            </a:r>
          </a:p>
        </p:txBody>
      </p:sp>
      <p:sp>
        <p:nvSpPr>
          <p:cNvPr id="12" name="TextBox 11"/>
          <p:cNvSpPr txBox="1"/>
          <p:nvPr/>
        </p:nvSpPr>
        <p:spPr>
          <a:xfrm>
            <a:off x="7452360" y="215798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Monthly billings per agency over the last 12 months, with a summary card for each agency below.</a:t>
            </a:r>
          </a:p>
        </p:txBody>
      </p:sp>
      <p:sp>
        <p:nvSpPr>
          <p:cNvPr id="13" name="Rectangle 12"/>
          <p:cNvSpPr/>
          <p:nvPr/>
        </p:nvSpPr>
        <p:spPr>
          <a:xfrm>
            <a:off x="7452360" y="2916936"/>
            <a:ext cx="82296" cy="201168"/>
          </a:xfrm>
          <a:prstGeom prst="rect">
            <a:avLst/>
          </a:prstGeom>
          <a:solidFill>
            <a:srgbClr val="2E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71816" y="289864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HOW TO READ IT</a:t>
            </a:r>
          </a:p>
        </p:txBody>
      </p:sp>
      <p:sp>
        <p:nvSpPr>
          <p:cNvPr id="15" name="TextBox 14"/>
          <p:cNvSpPr txBox="1"/>
          <p:nvPr/>
        </p:nvSpPr>
        <p:spPr>
          <a:xfrm>
            <a:off x="7452360" y="320954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Compare bar heights month by month to see which agency paces ahead. The cards read each agency's totals and growth.</a:t>
            </a:r>
          </a:p>
        </p:txBody>
      </p:sp>
      <p:sp>
        <p:nvSpPr>
          <p:cNvPr id="16" name="Rectangle 15"/>
          <p:cNvSpPr/>
          <p:nvPr/>
        </p:nvSpPr>
        <p:spPr>
          <a:xfrm>
            <a:off x="7452360" y="4174235"/>
            <a:ext cx="82296" cy="201168"/>
          </a:xfrm>
          <a:prstGeom prst="rect">
            <a:avLst/>
          </a:prstGeom>
          <a:solidFill>
            <a:srgbClr val="8A9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71816" y="415594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DRIVES IT</a:t>
            </a:r>
          </a:p>
        </p:txBody>
      </p:sp>
      <p:sp>
        <p:nvSpPr>
          <p:cNvPr id="18" name="TextBox 17"/>
          <p:cNvSpPr txBox="1"/>
          <p:nvPr/>
        </p:nvSpPr>
        <p:spPr>
          <a:xfrm>
            <a:off x="7452360" y="446684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Schedule billings grouped by agency.</a:t>
            </a:r>
          </a:p>
        </p:txBody>
      </p:sp>
      <p:sp>
        <p:nvSpPr>
          <p:cNvPr id="19" name="Rectangle 18"/>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1" name="TextBox 20"/>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EVERY CHART EXPLAINED</a:t>
            </a:r>
          </a:p>
        </p:txBody>
      </p:sp>
      <p:sp>
        <p:nvSpPr>
          <p:cNvPr id="22" name="TextBox 21"/>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20 / 41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566928"/>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13232"/>
            <a:ext cx="10789920" cy="320040"/>
          </a:xfrm>
          <a:prstGeom prst="rect">
            <a:avLst/>
          </a:prstGeom>
          <a:noFill/>
        </p:spPr>
        <p:txBody>
          <a:bodyPr wrap="square" anchor="t" lIns="0" rIns="0" tIns="0" bIns="0">
            <a:spAutoFit/>
          </a:bodyPr>
          <a:lstStyle/>
          <a:p>
            <a:pPr algn="l">
              <a:lnSpc>
                <a:spcPct val="100000"/>
              </a:lnSpc>
              <a:spcBef>
                <a:spcPts val="0"/>
              </a:spcBef>
              <a:spcAft>
                <a:spcPts val="400"/>
              </a:spcAft>
            </a:pPr>
            <a:r>
              <a:rPr sz="1050" b="1" i="0" spc="160">
                <a:solidFill>
                  <a:srgbClr val="D9521C"/>
                </a:solidFill>
                <a:latin typeface="Hanken Grotesk"/>
              </a:rPr>
              <a:t>EXECUTIVE DASHBOARD  ·  CHART</a:t>
            </a:r>
          </a:p>
        </p:txBody>
      </p:sp>
      <p:sp>
        <p:nvSpPr>
          <p:cNvPr id="6" name="TextBox 5"/>
          <p:cNvSpPr txBox="1"/>
          <p:nvPr/>
        </p:nvSpPr>
        <p:spPr>
          <a:xfrm>
            <a:off x="548640" y="1024128"/>
            <a:ext cx="10881360" cy="548640"/>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16243C"/>
                </a:solidFill>
                <a:latin typeface="Hanken Grotesk"/>
              </a:rPr>
              <a:t>Medium Split</a:t>
            </a:r>
          </a:p>
        </p:txBody>
      </p:sp>
      <p:sp>
        <p:nvSpPr>
          <p:cNvPr id="7" name="Rounded Rectangle 6"/>
          <p:cNvSpPr/>
          <p:nvPr/>
        </p:nvSpPr>
        <p:spPr>
          <a:xfrm>
            <a:off x="621792" y="2932812"/>
            <a:ext cx="6537960" cy="2053078"/>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2859660"/>
            <a:ext cx="6537960" cy="2053078"/>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xec-07.png"/>
          <p:cNvPicPr>
            <a:picLocks noChangeAspect="1"/>
          </p:cNvPicPr>
          <p:nvPr/>
        </p:nvPicPr>
        <p:blipFill>
          <a:blip r:embed="rId2"/>
          <a:stretch>
            <a:fillRect/>
          </a:stretch>
        </p:blipFill>
        <p:spPr>
          <a:xfrm>
            <a:off x="566928" y="2859660"/>
            <a:ext cx="6537960" cy="2053078"/>
          </a:xfrm>
          <a:prstGeom prst="rect">
            <a:avLst/>
          </a:prstGeom>
          <a:ln w="12700">
            <a:solidFill>
              <a:srgbClr val="D6DBE3"/>
            </a:solidFill>
          </a:ln>
        </p:spPr>
      </p:pic>
      <p:sp>
        <p:nvSpPr>
          <p:cNvPr id="10" name="Rectangle 9"/>
          <p:cNvSpPr/>
          <p:nvPr/>
        </p:nvSpPr>
        <p:spPr>
          <a:xfrm>
            <a:off x="7452360" y="1865376"/>
            <a:ext cx="82296" cy="201168"/>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71816" y="184708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IT SHOWS</a:t>
            </a:r>
          </a:p>
        </p:txBody>
      </p:sp>
      <p:sp>
        <p:nvSpPr>
          <p:cNvPr id="12" name="TextBox 11"/>
          <p:cNvSpPr txBox="1"/>
          <p:nvPr/>
        </p:nvSpPr>
        <p:spPr>
          <a:xfrm>
            <a:off x="7452360" y="215798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Two donuts, this month and year to date, each split by medium with the value and share per medium.</a:t>
            </a:r>
          </a:p>
        </p:txBody>
      </p:sp>
      <p:sp>
        <p:nvSpPr>
          <p:cNvPr id="13" name="Rectangle 12"/>
          <p:cNvSpPr/>
          <p:nvPr/>
        </p:nvSpPr>
        <p:spPr>
          <a:xfrm>
            <a:off x="7452360" y="2916936"/>
            <a:ext cx="82296" cy="201168"/>
          </a:xfrm>
          <a:prstGeom prst="rect">
            <a:avLst/>
          </a:prstGeom>
          <a:solidFill>
            <a:srgbClr val="2E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71816" y="289864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HOW TO READ IT</a:t>
            </a:r>
          </a:p>
        </p:txBody>
      </p:sp>
      <p:sp>
        <p:nvSpPr>
          <p:cNvPr id="15" name="TextBox 14"/>
          <p:cNvSpPr txBox="1"/>
          <p:nvPr/>
        </p:nvSpPr>
        <p:spPr>
          <a:xfrm>
            <a:off x="7452360" y="320954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The ring shows where money goes by channel type. Compare this month against the year to spot a shift toward or away from a medium.</a:t>
            </a:r>
          </a:p>
        </p:txBody>
      </p:sp>
      <p:sp>
        <p:nvSpPr>
          <p:cNvPr id="16" name="Rectangle 15"/>
          <p:cNvSpPr/>
          <p:nvPr/>
        </p:nvSpPr>
        <p:spPr>
          <a:xfrm>
            <a:off x="7452360" y="4174235"/>
            <a:ext cx="82296" cy="201168"/>
          </a:xfrm>
          <a:prstGeom prst="rect">
            <a:avLst/>
          </a:prstGeom>
          <a:solidFill>
            <a:srgbClr val="8A9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71816" y="415594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DRIVES IT</a:t>
            </a:r>
          </a:p>
        </p:txBody>
      </p:sp>
      <p:sp>
        <p:nvSpPr>
          <p:cNvPr id="18" name="TextBox 17"/>
          <p:cNvSpPr txBox="1"/>
          <p:nvPr/>
        </p:nvSpPr>
        <p:spPr>
          <a:xfrm>
            <a:off x="7452360" y="446684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Schedule billings grouped by medium.</a:t>
            </a:r>
          </a:p>
        </p:txBody>
      </p:sp>
      <p:sp>
        <p:nvSpPr>
          <p:cNvPr id="19" name="Rectangle 18"/>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1" name="TextBox 20"/>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EVERY CHART EXPLAINED</a:t>
            </a:r>
          </a:p>
        </p:txBody>
      </p:sp>
      <p:sp>
        <p:nvSpPr>
          <p:cNvPr id="22" name="TextBox 21"/>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21 / 41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566928"/>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13232"/>
            <a:ext cx="10789920" cy="320040"/>
          </a:xfrm>
          <a:prstGeom prst="rect">
            <a:avLst/>
          </a:prstGeom>
          <a:noFill/>
        </p:spPr>
        <p:txBody>
          <a:bodyPr wrap="square" anchor="t" lIns="0" rIns="0" tIns="0" bIns="0">
            <a:spAutoFit/>
          </a:bodyPr>
          <a:lstStyle/>
          <a:p>
            <a:pPr algn="l">
              <a:lnSpc>
                <a:spcPct val="100000"/>
              </a:lnSpc>
              <a:spcBef>
                <a:spcPts val="0"/>
              </a:spcBef>
              <a:spcAft>
                <a:spcPts val="400"/>
              </a:spcAft>
            </a:pPr>
            <a:r>
              <a:rPr sz="1050" b="1" i="0" spc="160">
                <a:solidFill>
                  <a:srgbClr val="D9521C"/>
                </a:solidFill>
                <a:latin typeface="Hanken Grotesk"/>
              </a:rPr>
              <a:t>SPEND ANALYTICS  ·  CHART</a:t>
            </a:r>
          </a:p>
        </p:txBody>
      </p:sp>
      <p:sp>
        <p:nvSpPr>
          <p:cNvPr id="6" name="TextBox 5"/>
          <p:cNvSpPr txBox="1"/>
          <p:nvPr/>
        </p:nvSpPr>
        <p:spPr>
          <a:xfrm>
            <a:off x="548640" y="1024128"/>
            <a:ext cx="10881360" cy="548640"/>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16243C"/>
                </a:solidFill>
                <a:latin typeface="Hanken Grotesk"/>
              </a:rPr>
              <a:t>Monthly Spend Trend</a:t>
            </a:r>
          </a:p>
        </p:txBody>
      </p:sp>
      <p:sp>
        <p:nvSpPr>
          <p:cNvPr id="7" name="Rounded Rectangle 6"/>
          <p:cNvSpPr/>
          <p:nvPr/>
        </p:nvSpPr>
        <p:spPr>
          <a:xfrm>
            <a:off x="621792" y="2962711"/>
            <a:ext cx="6537960" cy="1993280"/>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2889559"/>
            <a:ext cx="6537960" cy="1993280"/>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pend-00.png"/>
          <p:cNvPicPr>
            <a:picLocks noChangeAspect="1"/>
          </p:cNvPicPr>
          <p:nvPr/>
        </p:nvPicPr>
        <p:blipFill>
          <a:blip r:embed="rId2"/>
          <a:stretch>
            <a:fillRect/>
          </a:stretch>
        </p:blipFill>
        <p:spPr>
          <a:xfrm>
            <a:off x="566928" y="2889559"/>
            <a:ext cx="6537960" cy="1993280"/>
          </a:xfrm>
          <a:prstGeom prst="rect">
            <a:avLst/>
          </a:prstGeom>
          <a:ln w="12700">
            <a:solidFill>
              <a:srgbClr val="D6DBE3"/>
            </a:solidFill>
          </a:ln>
        </p:spPr>
      </p:pic>
      <p:sp>
        <p:nvSpPr>
          <p:cNvPr id="10" name="Rectangle 9"/>
          <p:cNvSpPr/>
          <p:nvPr/>
        </p:nvSpPr>
        <p:spPr>
          <a:xfrm>
            <a:off x="7452360" y="1865376"/>
            <a:ext cx="82296" cy="201168"/>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71816" y="184708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IT SHOWS</a:t>
            </a:r>
          </a:p>
        </p:txBody>
      </p:sp>
      <p:sp>
        <p:nvSpPr>
          <p:cNvPr id="12" name="TextBox 11"/>
          <p:cNvSpPr txBox="1"/>
          <p:nvPr/>
        </p:nvSpPr>
        <p:spPr>
          <a:xfrm>
            <a:off x="7452360" y="215798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One line per year on a fixed Jan to Dec axis, so the years overlay for easy comparison.</a:t>
            </a:r>
          </a:p>
        </p:txBody>
      </p:sp>
      <p:sp>
        <p:nvSpPr>
          <p:cNvPr id="13" name="Rectangle 12"/>
          <p:cNvSpPr/>
          <p:nvPr/>
        </p:nvSpPr>
        <p:spPr>
          <a:xfrm>
            <a:off x="7452360" y="2916936"/>
            <a:ext cx="82296" cy="201168"/>
          </a:xfrm>
          <a:prstGeom prst="rect">
            <a:avLst/>
          </a:prstGeom>
          <a:solidFill>
            <a:srgbClr val="2E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71816" y="289864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HOW TO READ IT</a:t>
            </a:r>
          </a:p>
        </p:txBody>
      </p:sp>
      <p:sp>
        <p:nvSpPr>
          <p:cNvPr id="15" name="TextBox 14"/>
          <p:cNvSpPr txBox="1"/>
          <p:nvPr/>
        </p:nvSpPr>
        <p:spPr>
          <a:xfrm>
            <a:off x="7452360" y="320954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Read vertically to compare the same month across years. A higher line means a stronger year at that point.</a:t>
            </a:r>
          </a:p>
        </p:txBody>
      </p:sp>
      <p:sp>
        <p:nvSpPr>
          <p:cNvPr id="16" name="Rectangle 15"/>
          <p:cNvSpPr/>
          <p:nvPr/>
        </p:nvSpPr>
        <p:spPr>
          <a:xfrm>
            <a:off x="7452360" y="3968496"/>
            <a:ext cx="82296" cy="201168"/>
          </a:xfrm>
          <a:prstGeom prst="rect">
            <a:avLst/>
          </a:prstGeom>
          <a:solidFill>
            <a:srgbClr val="8A9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71816" y="395020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DRIVES IT</a:t>
            </a:r>
          </a:p>
        </p:txBody>
      </p:sp>
      <p:sp>
        <p:nvSpPr>
          <p:cNvPr id="18" name="TextBox 17"/>
          <p:cNvSpPr txBox="1"/>
          <p:nvPr/>
        </p:nvSpPr>
        <p:spPr>
          <a:xfrm>
            <a:off x="7452360" y="426110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Committed schedule value by month, pivoted into one series per year.</a:t>
            </a:r>
          </a:p>
        </p:txBody>
      </p:sp>
      <p:sp>
        <p:nvSpPr>
          <p:cNvPr id="19" name="Rectangle 18"/>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1" name="TextBox 20"/>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EVERY CHART EXPLAINED</a:t>
            </a:r>
          </a:p>
        </p:txBody>
      </p:sp>
      <p:sp>
        <p:nvSpPr>
          <p:cNvPr id="22" name="TextBox 21"/>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22 / 41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566928"/>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13232"/>
            <a:ext cx="10789920" cy="320040"/>
          </a:xfrm>
          <a:prstGeom prst="rect">
            <a:avLst/>
          </a:prstGeom>
          <a:noFill/>
        </p:spPr>
        <p:txBody>
          <a:bodyPr wrap="square" anchor="t" lIns="0" rIns="0" tIns="0" bIns="0">
            <a:spAutoFit/>
          </a:bodyPr>
          <a:lstStyle/>
          <a:p>
            <a:pPr algn="l">
              <a:lnSpc>
                <a:spcPct val="100000"/>
              </a:lnSpc>
              <a:spcBef>
                <a:spcPts val="0"/>
              </a:spcBef>
              <a:spcAft>
                <a:spcPts val="400"/>
              </a:spcAft>
            </a:pPr>
            <a:r>
              <a:rPr sz="1050" b="1" i="0" spc="160">
                <a:solidFill>
                  <a:srgbClr val="D9521C"/>
                </a:solidFill>
                <a:latin typeface="Hanken Grotesk"/>
              </a:rPr>
              <a:t>SPEND ANALYTICS  ·  CHART</a:t>
            </a:r>
          </a:p>
        </p:txBody>
      </p:sp>
      <p:sp>
        <p:nvSpPr>
          <p:cNvPr id="6" name="TextBox 5"/>
          <p:cNvSpPr txBox="1"/>
          <p:nvPr/>
        </p:nvSpPr>
        <p:spPr>
          <a:xfrm>
            <a:off x="548640" y="1024128"/>
            <a:ext cx="10881360" cy="548640"/>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16243C"/>
                </a:solidFill>
                <a:latin typeface="Hanken Grotesk"/>
              </a:rPr>
              <a:t>Cumulative Spend</a:t>
            </a:r>
          </a:p>
        </p:txBody>
      </p:sp>
      <p:sp>
        <p:nvSpPr>
          <p:cNvPr id="7" name="Rounded Rectangle 6"/>
          <p:cNvSpPr/>
          <p:nvPr/>
        </p:nvSpPr>
        <p:spPr>
          <a:xfrm>
            <a:off x="621792" y="2254235"/>
            <a:ext cx="6537960" cy="3410232"/>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2181083"/>
            <a:ext cx="6537960" cy="3410232"/>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pend-01.png"/>
          <p:cNvPicPr>
            <a:picLocks noChangeAspect="1"/>
          </p:cNvPicPr>
          <p:nvPr/>
        </p:nvPicPr>
        <p:blipFill>
          <a:blip r:embed="rId2"/>
          <a:stretch>
            <a:fillRect/>
          </a:stretch>
        </p:blipFill>
        <p:spPr>
          <a:xfrm>
            <a:off x="566928" y="2181083"/>
            <a:ext cx="6537960" cy="3410232"/>
          </a:xfrm>
          <a:prstGeom prst="rect">
            <a:avLst/>
          </a:prstGeom>
          <a:ln w="12700">
            <a:solidFill>
              <a:srgbClr val="D6DBE3"/>
            </a:solidFill>
          </a:ln>
        </p:spPr>
      </p:pic>
      <p:sp>
        <p:nvSpPr>
          <p:cNvPr id="10" name="Rectangle 9"/>
          <p:cNvSpPr/>
          <p:nvPr/>
        </p:nvSpPr>
        <p:spPr>
          <a:xfrm>
            <a:off x="7452360" y="1865376"/>
            <a:ext cx="82296" cy="201168"/>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71816" y="184708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IT SHOWS</a:t>
            </a:r>
          </a:p>
        </p:txBody>
      </p:sp>
      <p:sp>
        <p:nvSpPr>
          <p:cNvPr id="12" name="TextBox 11"/>
          <p:cNvSpPr txBox="1"/>
          <p:nvPr/>
        </p:nvSpPr>
        <p:spPr>
          <a:xfrm>
            <a:off x="7452360" y="215798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The running total of committed media value building up across the period.</a:t>
            </a:r>
          </a:p>
        </p:txBody>
      </p:sp>
      <p:sp>
        <p:nvSpPr>
          <p:cNvPr id="13" name="Rectangle 12"/>
          <p:cNvSpPr/>
          <p:nvPr/>
        </p:nvSpPr>
        <p:spPr>
          <a:xfrm>
            <a:off x="7452360" y="2916936"/>
            <a:ext cx="82296" cy="201168"/>
          </a:xfrm>
          <a:prstGeom prst="rect">
            <a:avLst/>
          </a:prstGeom>
          <a:solidFill>
            <a:srgbClr val="2E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71816" y="289864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HOW TO READ IT</a:t>
            </a:r>
          </a:p>
        </p:txBody>
      </p:sp>
      <p:sp>
        <p:nvSpPr>
          <p:cNvPr id="15" name="TextBox 14"/>
          <p:cNvSpPr txBox="1"/>
          <p:nvPr/>
        </p:nvSpPr>
        <p:spPr>
          <a:xfrm>
            <a:off x="7452360" y="320954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A steeper slope means faster spending. Flat stretches are quiet months.</a:t>
            </a:r>
          </a:p>
        </p:txBody>
      </p:sp>
      <p:sp>
        <p:nvSpPr>
          <p:cNvPr id="16" name="Rectangle 15"/>
          <p:cNvSpPr/>
          <p:nvPr/>
        </p:nvSpPr>
        <p:spPr>
          <a:xfrm>
            <a:off x="7452360" y="3968496"/>
            <a:ext cx="82296" cy="201168"/>
          </a:xfrm>
          <a:prstGeom prst="rect">
            <a:avLst/>
          </a:prstGeom>
          <a:solidFill>
            <a:srgbClr val="8A9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71816" y="395020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DRIVES IT</a:t>
            </a:r>
          </a:p>
        </p:txBody>
      </p:sp>
      <p:sp>
        <p:nvSpPr>
          <p:cNvPr id="18" name="TextBox 17"/>
          <p:cNvSpPr txBox="1"/>
          <p:nvPr/>
        </p:nvSpPr>
        <p:spPr>
          <a:xfrm>
            <a:off x="7452360" y="426110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Schedule value accumulated month by month.</a:t>
            </a:r>
          </a:p>
        </p:txBody>
      </p:sp>
      <p:sp>
        <p:nvSpPr>
          <p:cNvPr id="19" name="Rectangle 18"/>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1" name="TextBox 20"/>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EVERY CHART EXPLAINED</a:t>
            </a:r>
          </a:p>
        </p:txBody>
      </p:sp>
      <p:sp>
        <p:nvSpPr>
          <p:cNvPr id="22" name="TextBox 21"/>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23 / 41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566928"/>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13232"/>
            <a:ext cx="10789920" cy="320040"/>
          </a:xfrm>
          <a:prstGeom prst="rect">
            <a:avLst/>
          </a:prstGeom>
          <a:noFill/>
        </p:spPr>
        <p:txBody>
          <a:bodyPr wrap="square" anchor="t" lIns="0" rIns="0" tIns="0" bIns="0">
            <a:spAutoFit/>
          </a:bodyPr>
          <a:lstStyle/>
          <a:p>
            <a:pPr algn="l">
              <a:lnSpc>
                <a:spcPct val="100000"/>
              </a:lnSpc>
              <a:spcBef>
                <a:spcPts val="0"/>
              </a:spcBef>
              <a:spcAft>
                <a:spcPts val="400"/>
              </a:spcAft>
            </a:pPr>
            <a:r>
              <a:rPr sz="1050" b="1" i="0" spc="160">
                <a:solidFill>
                  <a:srgbClr val="D9521C"/>
                </a:solidFill>
                <a:latin typeface="Hanken Grotesk"/>
              </a:rPr>
              <a:t>SPEND ANALYTICS  ·  CHART</a:t>
            </a:r>
          </a:p>
        </p:txBody>
      </p:sp>
      <p:sp>
        <p:nvSpPr>
          <p:cNvPr id="6" name="TextBox 5"/>
          <p:cNvSpPr txBox="1"/>
          <p:nvPr/>
        </p:nvSpPr>
        <p:spPr>
          <a:xfrm>
            <a:off x="548640" y="1024128"/>
            <a:ext cx="10881360" cy="548640"/>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16243C"/>
                </a:solidFill>
                <a:latin typeface="Hanken Grotesk"/>
              </a:rPr>
              <a:t>Spend by Agency</a:t>
            </a:r>
          </a:p>
        </p:txBody>
      </p:sp>
      <p:sp>
        <p:nvSpPr>
          <p:cNvPr id="7" name="Rounded Rectangle 6"/>
          <p:cNvSpPr/>
          <p:nvPr/>
        </p:nvSpPr>
        <p:spPr>
          <a:xfrm>
            <a:off x="621792" y="2254235"/>
            <a:ext cx="6537960" cy="3410232"/>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2181083"/>
            <a:ext cx="6537960" cy="3410232"/>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pend-02.png"/>
          <p:cNvPicPr>
            <a:picLocks noChangeAspect="1"/>
          </p:cNvPicPr>
          <p:nvPr/>
        </p:nvPicPr>
        <p:blipFill>
          <a:blip r:embed="rId2"/>
          <a:stretch>
            <a:fillRect/>
          </a:stretch>
        </p:blipFill>
        <p:spPr>
          <a:xfrm>
            <a:off x="566928" y="2181083"/>
            <a:ext cx="6537960" cy="3410232"/>
          </a:xfrm>
          <a:prstGeom prst="rect">
            <a:avLst/>
          </a:prstGeom>
          <a:ln w="12700">
            <a:solidFill>
              <a:srgbClr val="D6DBE3"/>
            </a:solidFill>
          </a:ln>
        </p:spPr>
      </p:pic>
      <p:sp>
        <p:nvSpPr>
          <p:cNvPr id="10" name="Rectangle 9"/>
          <p:cNvSpPr/>
          <p:nvPr/>
        </p:nvSpPr>
        <p:spPr>
          <a:xfrm>
            <a:off x="7452360" y="1865376"/>
            <a:ext cx="82296" cy="201168"/>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71816" y="184708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IT SHOWS</a:t>
            </a:r>
          </a:p>
        </p:txBody>
      </p:sp>
      <p:sp>
        <p:nvSpPr>
          <p:cNvPr id="12" name="TextBox 11"/>
          <p:cNvSpPr txBox="1"/>
          <p:nvPr/>
        </p:nvSpPr>
        <p:spPr>
          <a:xfrm>
            <a:off x="7452360" y="215798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Total committed value per agency, as horizontal bars.</a:t>
            </a:r>
          </a:p>
        </p:txBody>
      </p:sp>
      <p:sp>
        <p:nvSpPr>
          <p:cNvPr id="13" name="Rectangle 12"/>
          <p:cNvSpPr/>
          <p:nvPr/>
        </p:nvSpPr>
        <p:spPr>
          <a:xfrm>
            <a:off x="7452360" y="2711196"/>
            <a:ext cx="82296" cy="201168"/>
          </a:xfrm>
          <a:prstGeom prst="rect">
            <a:avLst/>
          </a:prstGeom>
          <a:solidFill>
            <a:srgbClr val="2E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71816" y="269290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HOW TO READ IT</a:t>
            </a:r>
          </a:p>
        </p:txBody>
      </p:sp>
      <p:sp>
        <p:nvSpPr>
          <p:cNvPr id="15" name="TextBox 14"/>
          <p:cNvSpPr txBox="1"/>
          <p:nvPr/>
        </p:nvSpPr>
        <p:spPr>
          <a:xfrm>
            <a:off x="7452360" y="3003803"/>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The longest bar is the biggest agency by spend. It sizes each agency at a glance.</a:t>
            </a:r>
          </a:p>
        </p:txBody>
      </p:sp>
      <p:sp>
        <p:nvSpPr>
          <p:cNvPr id="16" name="Rectangle 15"/>
          <p:cNvSpPr/>
          <p:nvPr/>
        </p:nvSpPr>
        <p:spPr>
          <a:xfrm>
            <a:off x="7452360" y="3762755"/>
            <a:ext cx="82296" cy="201168"/>
          </a:xfrm>
          <a:prstGeom prst="rect">
            <a:avLst/>
          </a:prstGeom>
          <a:solidFill>
            <a:srgbClr val="8A9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71816" y="374446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DRIVES IT</a:t>
            </a:r>
          </a:p>
        </p:txBody>
      </p:sp>
      <p:sp>
        <p:nvSpPr>
          <p:cNvPr id="18" name="TextBox 17"/>
          <p:cNvSpPr txBox="1"/>
          <p:nvPr/>
        </p:nvSpPr>
        <p:spPr>
          <a:xfrm>
            <a:off x="7452360" y="4055363"/>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Schedule value grouped by agency across the filtered period.</a:t>
            </a:r>
          </a:p>
        </p:txBody>
      </p:sp>
      <p:sp>
        <p:nvSpPr>
          <p:cNvPr id="19" name="Rectangle 18"/>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1" name="TextBox 20"/>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EVERY CHART EXPLAINED</a:t>
            </a:r>
          </a:p>
        </p:txBody>
      </p:sp>
      <p:sp>
        <p:nvSpPr>
          <p:cNvPr id="22" name="TextBox 21"/>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24 / 41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566928"/>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13232"/>
            <a:ext cx="10789920" cy="320040"/>
          </a:xfrm>
          <a:prstGeom prst="rect">
            <a:avLst/>
          </a:prstGeom>
          <a:noFill/>
        </p:spPr>
        <p:txBody>
          <a:bodyPr wrap="square" anchor="t" lIns="0" rIns="0" tIns="0" bIns="0">
            <a:spAutoFit/>
          </a:bodyPr>
          <a:lstStyle/>
          <a:p>
            <a:pPr algn="l">
              <a:lnSpc>
                <a:spcPct val="100000"/>
              </a:lnSpc>
              <a:spcBef>
                <a:spcPts val="0"/>
              </a:spcBef>
              <a:spcAft>
                <a:spcPts val="400"/>
              </a:spcAft>
            </a:pPr>
            <a:r>
              <a:rPr sz="1050" b="1" i="0" spc="160">
                <a:solidFill>
                  <a:srgbClr val="D9521C"/>
                </a:solidFill>
                <a:latin typeface="Hanken Grotesk"/>
              </a:rPr>
              <a:t>SPEND ANALYTICS  ·  CHART</a:t>
            </a:r>
          </a:p>
        </p:txBody>
      </p:sp>
      <p:sp>
        <p:nvSpPr>
          <p:cNvPr id="6" name="TextBox 5"/>
          <p:cNvSpPr txBox="1"/>
          <p:nvPr/>
        </p:nvSpPr>
        <p:spPr>
          <a:xfrm>
            <a:off x="548640" y="1024128"/>
            <a:ext cx="10881360" cy="548640"/>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16243C"/>
                </a:solidFill>
                <a:latin typeface="Hanken Grotesk"/>
              </a:rPr>
              <a:t>Spend Concentration (Pareto)</a:t>
            </a:r>
          </a:p>
        </p:txBody>
      </p:sp>
      <p:sp>
        <p:nvSpPr>
          <p:cNvPr id="7" name="Rounded Rectangle 6"/>
          <p:cNvSpPr/>
          <p:nvPr/>
        </p:nvSpPr>
        <p:spPr>
          <a:xfrm>
            <a:off x="621792" y="2917862"/>
            <a:ext cx="6537960" cy="2082978"/>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2844710"/>
            <a:ext cx="6537960" cy="2082978"/>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pend-03.png"/>
          <p:cNvPicPr>
            <a:picLocks noChangeAspect="1"/>
          </p:cNvPicPr>
          <p:nvPr/>
        </p:nvPicPr>
        <p:blipFill>
          <a:blip r:embed="rId2"/>
          <a:stretch>
            <a:fillRect/>
          </a:stretch>
        </p:blipFill>
        <p:spPr>
          <a:xfrm>
            <a:off x="566928" y="2844710"/>
            <a:ext cx="6537960" cy="2082978"/>
          </a:xfrm>
          <a:prstGeom prst="rect">
            <a:avLst/>
          </a:prstGeom>
          <a:ln w="12700">
            <a:solidFill>
              <a:srgbClr val="D6DBE3"/>
            </a:solidFill>
          </a:ln>
        </p:spPr>
      </p:pic>
      <p:sp>
        <p:nvSpPr>
          <p:cNvPr id="10" name="Rectangle 9"/>
          <p:cNvSpPr/>
          <p:nvPr/>
        </p:nvSpPr>
        <p:spPr>
          <a:xfrm>
            <a:off x="7452360" y="1865376"/>
            <a:ext cx="82296" cy="201168"/>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71816" y="184708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IT SHOWS</a:t>
            </a:r>
          </a:p>
        </p:txBody>
      </p:sp>
      <p:sp>
        <p:nvSpPr>
          <p:cNvPr id="12" name="TextBox 11"/>
          <p:cNvSpPr txBox="1"/>
          <p:nvPr/>
        </p:nvSpPr>
        <p:spPr>
          <a:xfrm>
            <a:off x="7452360" y="215798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Channels ranked by spend as bars, with a cumulative percentage line and an 80 percent reference line.</a:t>
            </a:r>
          </a:p>
        </p:txBody>
      </p:sp>
      <p:sp>
        <p:nvSpPr>
          <p:cNvPr id="13" name="Rectangle 12"/>
          <p:cNvSpPr/>
          <p:nvPr/>
        </p:nvSpPr>
        <p:spPr>
          <a:xfrm>
            <a:off x="7452360" y="2916936"/>
            <a:ext cx="82296" cy="201168"/>
          </a:xfrm>
          <a:prstGeom prst="rect">
            <a:avLst/>
          </a:prstGeom>
          <a:solidFill>
            <a:srgbClr val="2E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71816" y="289864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HOW TO READ IT</a:t>
            </a:r>
          </a:p>
        </p:txBody>
      </p:sp>
      <p:sp>
        <p:nvSpPr>
          <p:cNvPr id="15" name="TextBox 14"/>
          <p:cNvSpPr txBox="1"/>
          <p:nvPr/>
        </p:nvSpPr>
        <p:spPr>
          <a:xfrm>
            <a:off x="7452360" y="320954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Where the line crosses 80 percent tells you how few channels make up most of the spend.</a:t>
            </a:r>
          </a:p>
        </p:txBody>
      </p:sp>
      <p:sp>
        <p:nvSpPr>
          <p:cNvPr id="16" name="Rectangle 15"/>
          <p:cNvSpPr/>
          <p:nvPr/>
        </p:nvSpPr>
        <p:spPr>
          <a:xfrm>
            <a:off x="7452360" y="3968496"/>
            <a:ext cx="82296" cy="201168"/>
          </a:xfrm>
          <a:prstGeom prst="rect">
            <a:avLst/>
          </a:prstGeom>
          <a:solidFill>
            <a:srgbClr val="8A9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71816" y="395020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DRIVES IT</a:t>
            </a:r>
          </a:p>
        </p:txBody>
      </p:sp>
      <p:sp>
        <p:nvSpPr>
          <p:cNvPr id="18" name="TextBox 17"/>
          <p:cNvSpPr txBox="1"/>
          <p:nvPr/>
        </p:nvSpPr>
        <p:spPr>
          <a:xfrm>
            <a:off x="7452360" y="426110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Per channel spend, sorted high to low, with a running cumulative share.</a:t>
            </a:r>
          </a:p>
        </p:txBody>
      </p:sp>
      <p:sp>
        <p:nvSpPr>
          <p:cNvPr id="19" name="Rectangle 18"/>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1" name="TextBox 20"/>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EVERY CHART EXPLAINED</a:t>
            </a:r>
          </a:p>
        </p:txBody>
      </p:sp>
      <p:sp>
        <p:nvSpPr>
          <p:cNvPr id="22" name="TextBox 21"/>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25 / 41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566928"/>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13232"/>
            <a:ext cx="10789920" cy="320040"/>
          </a:xfrm>
          <a:prstGeom prst="rect">
            <a:avLst/>
          </a:prstGeom>
          <a:noFill/>
        </p:spPr>
        <p:txBody>
          <a:bodyPr wrap="square" anchor="t" lIns="0" rIns="0" tIns="0" bIns="0">
            <a:spAutoFit/>
          </a:bodyPr>
          <a:lstStyle/>
          <a:p>
            <a:pPr algn="l">
              <a:lnSpc>
                <a:spcPct val="100000"/>
              </a:lnSpc>
              <a:spcBef>
                <a:spcPts val="0"/>
              </a:spcBef>
              <a:spcAft>
                <a:spcPts val="400"/>
              </a:spcAft>
            </a:pPr>
            <a:r>
              <a:rPr sz="1050" b="1" i="0" spc="160">
                <a:solidFill>
                  <a:srgbClr val="D9521C"/>
                </a:solidFill>
                <a:latin typeface="Hanken Grotesk"/>
              </a:rPr>
              <a:t>SPEND ANALYTICS  ·  CHART</a:t>
            </a:r>
          </a:p>
        </p:txBody>
      </p:sp>
      <p:sp>
        <p:nvSpPr>
          <p:cNvPr id="6" name="TextBox 5"/>
          <p:cNvSpPr txBox="1"/>
          <p:nvPr/>
        </p:nvSpPr>
        <p:spPr>
          <a:xfrm>
            <a:off x="548640" y="1024128"/>
            <a:ext cx="10881360" cy="548640"/>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16243C"/>
                </a:solidFill>
                <a:latin typeface="Hanken Grotesk"/>
              </a:rPr>
              <a:t>Medium Mix Shift</a:t>
            </a:r>
          </a:p>
        </p:txBody>
      </p:sp>
      <p:sp>
        <p:nvSpPr>
          <p:cNvPr id="7" name="Rounded Rectangle 6"/>
          <p:cNvSpPr/>
          <p:nvPr/>
        </p:nvSpPr>
        <p:spPr>
          <a:xfrm>
            <a:off x="621792" y="2148296"/>
            <a:ext cx="6537960" cy="3622110"/>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2075144"/>
            <a:ext cx="6537960" cy="3622110"/>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pend-04.png"/>
          <p:cNvPicPr>
            <a:picLocks noChangeAspect="1"/>
          </p:cNvPicPr>
          <p:nvPr/>
        </p:nvPicPr>
        <p:blipFill>
          <a:blip r:embed="rId2"/>
          <a:stretch>
            <a:fillRect/>
          </a:stretch>
        </p:blipFill>
        <p:spPr>
          <a:xfrm>
            <a:off x="566928" y="2075144"/>
            <a:ext cx="6537960" cy="3622110"/>
          </a:xfrm>
          <a:prstGeom prst="rect">
            <a:avLst/>
          </a:prstGeom>
          <a:ln w="12700">
            <a:solidFill>
              <a:srgbClr val="D6DBE3"/>
            </a:solidFill>
          </a:ln>
        </p:spPr>
      </p:pic>
      <p:sp>
        <p:nvSpPr>
          <p:cNvPr id="10" name="Rectangle 9"/>
          <p:cNvSpPr/>
          <p:nvPr/>
        </p:nvSpPr>
        <p:spPr>
          <a:xfrm>
            <a:off x="7452360" y="1865376"/>
            <a:ext cx="82296" cy="201168"/>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71816" y="184708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IT SHOWS</a:t>
            </a:r>
          </a:p>
        </p:txBody>
      </p:sp>
      <p:sp>
        <p:nvSpPr>
          <p:cNvPr id="12" name="TextBox 11"/>
          <p:cNvSpPr txBox="1"/>
          <p:nvPr/>
        </p:nvSpPr>
        <p:spPr>
          <a:xfrm>
            <a:off x="7452360" y="215798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A 100 percent stacked area showing each medium's share of spend, month by month.</a:t>
            </a:r>
          </a:p>
        </p:txBody>
      </p:sp>
      <p:sp>
        <p:nvSpPr>
          <p:cNvPr id="13" name="Rectangle 12"/>
          <p:cNvSpPr/>
          <p:nvPr/>
        </p:nvSpPr>
        <p:spPr>
          <a:xfrm>
            <a:off x="7452360" y="2916936"/>
            <a:ext cx="82296" cy="201168"/>
          </a:xfrm>
          <a:prstGeom prst="rect">
            <a:avLst/>
          </a:prstGeom>
          <a:solidFill>
            <a:srgbClr val="2E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71816" y="289864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HOW TO READ IT</a:t>
            </a:r>
          </a:p>
        </p:txBody>
      </p:sp>
      <p:sp>
        <p:nvSpPr>
          <p:cNvPr id="15" name="TextBox 14"/>
          <p:cNvSpPr txBox="1"/>
          <p:nvPr/>
        </p:nvSpPr>
        <p:spPr>
          <a:xfrm>
            <a:off x="7452360" y="320954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Each band is a medium. A widening band means that medium is taking a larger share over time.</a:t>
            </a:r>
          </a:p>
        </p:txBody>
      </p:sp>
      <p:sp>
        <p:nvSpPr>
          <p:cNvPr id="16" name="Rectangle 15"/>
          <p:cNvSpPr/>
          <p:nvPr/>
        </p:nvSpPr>
        <p:spPr>
          <a:xfrm>
            <a:off x="7452360" y="3968496"/>
            <a:ext cx="82296" cy="201168"/>
          </a:xfrm>
          <a:prstGeom prst="rect">
            <a:avLst/>
          </a:prstGeom>
          <a:solidFill>
            <a:srgbClr val="8A9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71816" y="395020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DRIVES IT</a:t>
            </a:r>
          </a:p>
        </p:txBody>
      </p:sp>
      <p:sp>
        <p:nvSpPr>
          <p:cNvPr id="18" name="TextBox 17"/>
          <p:cNvSpPr txBox="1"/>
          <p:nvPr/>
        </p:nvSpPr>
        <p:spPr>
          <a:xfrm>
            <a:off x="7452360" y="426110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Monthly spend by medium, normalised to 100 percent.</a:t>
            </a:r>
          </a:p>
        </p:txBody>
      </p:sp>
      <p:sp>
        <p:nvSpPr>
          <p:cNvPr id="19" name="Rectangle 18"/>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1" name="TextBox 20"/>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EVERY CHART EXPLAINED</a:t>
            </a:r>
          </a:p>
        </p:txBody>
      </p:sp>
      <p:sp>
        <p:nvSpPr>
          <p:cNvPr id="22" name="TextBox 21"/>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26 / 41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566928"/>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13232"/>
            <a:ext cx="10789920" cy="320040"/>
          </a:xfrm>
          <a:prstGeom prst="rect">
            <a:avLst/>
          </a:prstGeom>
          <a:noFill/>
        </p:spPr>
        <p:txBody>
          <a:bodyPr wrap="square" anchor="t" lIns="0" rIns="0" tIns="0" bIns="0">
            <a:spAutoFit/>
          </a:bodyPr>
          <a:lstStyle/>
          <a:p>
            <a:pPr algn="l">
              <a:lnSpc>
                <a:spcPct val="100000"/>
              </a:lnSpc>
              <a:spcBef>
                <a:spcPts val="0"/>
              </a:spcBef>
              <a:spcAft>
                <a:spcPts val="400"/>
              </a:spcAft>
            </a:pPr>
            <a:r>
              <a:rPr sz="1050" b="1" i="0" spc="160">
                <a:solidFill>
                  <a:srgbClr val="D9521C"/>
                </a:solidFill>
                <a:latin typeface="Hanken Grotesk"/>
              </a:rPr>
              <a:t>SPEND ANALYTICS  ·  CHART</a:t>
            </a:r>
          </a:p>
        </p:txBody>
      </p:sp>
      <p:sp>
        <p:nvSpPr>
          <p:cNvPr id="6" name="TextBox 5"/>
          <p:cNvSpPr txBox="1"/>
          <p:nvPr/>
        </p:nvSpPr>
        <p:spPr>
          <a:xfrm>
            <a:off x="548640" y="1024128"/>
            <a:ext cx="10881360" cy="548640"/>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16243C"/>
                </a:solidFill>
                <a:latin typeface="Hanken Grotesk"/>
              </a:rPr>
              <a:t>Brand Spend Trend</a:t>
            </a:r>
          </a:p>
        </p:txBody>
      </p:sp>
      <p:sp>
        <p:nvSpPr>
          <p:cNvPr id="7" name="Rounded Rectangle 6"/>
          <p:cNvSpPr/>
          <p:nvPr/>
        </p:nvSpPr>
        <p:spPr>
          <a:xfrm>
            <a:off x="621792" y="2148296"/>
            <a:ext cx="6537960" cy="3622110"/>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2075144"/>
            <a:ext cx="6537960" cy="3622110"/>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pend-05.png"/>
          <p:cNvPicPr>
            <a:picLocks noChangeAspect="1"/>
          </p:cNvPicPr>
          <p:nvPr/>
        </p:nvPicPr>
        <p:blipFill>
          <a:blip r:embed="rId2"/>
          <a:stretch>
            <a:fillRect/>
          </a:stretch>
        </p:blipFill>
        <p:spPr>
          <a:xfrm>
            <a:off x="566928" y="2075144"/>
            <a:ext cx="6537960" cy="3622110"/>
          </a:xfrm>
          <a:prstGeom prst="rect">
            <a:avLst/>
          </a:prstGeom>
          <a:ln w="12700">
            <a:solidFill>
              <a:srgbClr val="D6DBE3"/>
            </a:solidFill>
          </a:ln>
        </p:spPr>
      </p:pic>
      <p:sp>
        <p:nvSpPr>
          <p:cNvPr id="10" name="Rectangle 9"/>
          <p:cNvSpPr/>
          <p:nvPr/>
        </p:nvSpPr>
        <p:spPr>
          <a:xfrm>
            <a:off x="7452360" y="1865376"/>
            <a:ext cx="82296" cy="201168"/>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71816" y="184708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IT SHOWS</a:t>
            </a:r>
          </a:p>
        </p:txBody>
      </p:sp>
      <p:sp>
        <p:nvSpPr>
          <p:cNvPr id="12" name="TextBox 11"/>
          <p:cNvSpPr txBox="1"/>
          <p:nvPr/>
        </p:nvSpPr>
        <p:spPr>
          <a:xfrm>
            <a:off x="7452360" y="215798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Monthly spend for the top brands, one line each.</a:t>
            </a:r>
          </a:p>
        </p:txBody>
      </p:sp>
      <p:sp>
        <p:nvSpPr>
          <p:cNvPr id="13" name="Rectangle 12"/>
          <p:cNvSpPr/>
          <p:nvPr/>
        </p:nvSpPr>
        <p:spPr>
          <a:xfrm>
            <a:off x="7452360" y="2711196"/>
            <a:ext cx="82296" cy="201168"/>
          </a:xfrm>
          <a:prstGeom prst="rect">
            <a:avLst/>
          </a:prstGeom>
          <a:solidFill>
            <a:srgbClr val="2E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71816" y="269290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HOW TO READ IT</a:t>
            </a:r>
          </a:p>
        </p:txBody>
      </p:sp>
      <p:sp>
        <p:nvSpPr>
          <p:cNvPr id="15" name="TextBox 14"/>
          <p:cNvSpPr txBox="1"/>
          <p:nvPr/>
        </p:nvSpPr>
        <p:spPr>
          <a:xfrm>
            <a:off x="7452360" y="3003803"/>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Track a brand's line for momentum. Crossing lines show one brand overtaking another.</a:t>
            </a:r>
          </a:p>
        </p:txBody>
      </p:sp>
      <p:sp>
        <p:nvSpPr>
          <p:cNvPr id="16" name="Rectangle 15"/>
          <p:cNvSpPr/>
          <p:nvPr/>
        </p:nvSpPr>
        <p:spPr>
          <a:xfrm>
            <a:off x="7452360" y="3762755"/>
            <a:ext cx="82296" cy="201168"/>
          </a:xfrm>
          <a:prstGeom prst="rect">
            <a:avLst/>
          </a:prstGeom>
          <a:solidFill>
            <a:srgbClr val="8A9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71816" y="374446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DRIVES IT</a:t>
            </a:r>
          </a:p>
        </p:txBody>
      </p:sp>
      <p:sp>
        <p:nvSpPr>
          <p:cNvPr id="18" name="TextBox 17"/>
          <p:cNvSpPr txBox="1"/>
          <p:nvPr/>
        </p:nvSpPr>
        <p:spPr>
          <a:xfrm>
            <a:off x="7452360" y="4055363"/>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Schedule billings that carry a brand name, for the leading brands.</a:t>
            </a:r>
          </a:p>
        </p:txBody>
      </p:sp>
      <p:sp>
        <p:nvSpPr>
          <p:cNvPr id="19" name="Rectangle 18"/>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1" name="TextBox 20"/>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EVERY CHART EXPLAINED</a:t>
            </a:r>
          </a:p>
        </p:txBody>
      </p:sp>
      <p:sp>
        <p:nvSpPr>
          <p:cNvPr id="22" name="TextBox 21"/>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27 / 41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566928"/>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13232"/>
            <a:ext cx="10789920" cy="320040"/>
          </a:xfrm>
          <a:prstGeom prst="rect">
            <a:avLst/>
          </a:prstGeom>
          <a:noFill/>
        </p:spPr>
        <p:txBody>
          <a:bodyPr wrap="square" anchor="t" lIns="0" rIns="0" tIns="0" bIns="0">
            <a:spAutoFit/>
          </a:bodyPr>
          <a:lstStyle/>
          <a:p>
            <a:pPr algn="l">
              <a:lnSpc>
                <a:spcPct val="100000"/>
              </a:lnSpc>
              <a:spcBef>
                <a:spcPts val="0"/>
              </a:spcBef>
              <a:spcAft>
                <a:spcPts val="400"/>
              </a:spcAft>
            </a:pPr>
            <a:r>
              <a:rPr sz="1050" b="1" i="0" spc="160">
                <a:solidFill>
                  <a:srgbClr val="D9521C"/>
                </a:solidFill>
                <a:latin typeface="Hanken Grotesk"/>
              </a:rPr>
              <a:t>SPEND ANALYTICS  ·  CHART</a:t>
            </a:r>
          </a:p>
        </p:txBody>
      </p:sp>
      <p:sp>
        <p:nvSpPr>
          <p:cNvPr id="6" name="TextBox 5"/>
          <p:cNvSpPr txBox="1"/>
          <p:nvPr/>
        </p:nvSpPr>
        <p:spPr>
          <a:xfrm>
            <a:off x="548640" y="1024128"/>
            <a:ext cx="10881360" cy="548640"/>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16243C"/>
                </a:solidFill>
                <a:latin typeface="Hanken Grotesk"/>
              </a:rPr>
              <a:t>Client Tenure &amp; Value</a:t>
            </a:r>
          </a:p>
        </p:txBody>
      </p:sp>
      <p:sp>
        <p:nvSpPr>
          <p:cNvPr id="7" name="Rounded Rectangle 6"/>
          <p:cNvSpPr/>
          <p:nvPr/>
        </p:nvSpPr>
        <p:spPr>
          <a:xfrm>
            <a:off x="621792" y="2184380"/>
            <a:ext cx="6537960" cy="3549942"/>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2111228"/>
            <a:ext cx="6537960" cy="3549942"/>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pend-06.png"/>
          <p:cNvPicPr>
            <a:picLocks noChangeAspect="1"/>
          </p:cNvPicPr>
          <p:nvPr/>
        </p:nvPicPr>
        <p:blipFill>
          <a:blip r:embed="rId2"/>
          <a:stretch>
            <a:fillRect/>
          </a:stretch>
        </p:blipFill>
        <p:spPr>
          <a:xfrm>
            <a:off x="566928" y="2111228"/>
            <a:ext cx="6537960" cy="3549942"/>
          </a:xfrm>
          <a:prstGeom prst="rect">
            <a:avLst/>
          </a:prstGeom>
          <a:ln w="12700">
            <a:solidFill>
              <a:srgbClr val="D6DBE3"/>
            </a:solidFill>
          </a:ln>
        </p:spPr>
      </p:pic>
      <p:sp>
        <p:nvSpPr>
          <p:cNvPr id="10" name="Rectangle 9"/>
          <p:cNvSpPr/>
          <p:nvPr/>
        </p:nvSpPr>
        <p:spPr>
          <a:xfrm>
            <a:off x="7452360" y="1865376"/>
            <a:ext cx="82296" cy="201168"/>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71816" y="184708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IT SHOWS</a:t>
            </a:r>
          </a:p>
        </p:txBody>
      </p:sp>
      <p:sp>
        <p:nvSpPr>
          <p:cNvPr id="12" name="TextBox 11"/>
          <p:cNvSpPr txBox="1"/>
          <p:nvPr/>
        </p:nvSpPr>
        <p:spPr>
          <a:xfrm>
            <a:off x="7452360" y="215798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One bubble per client, plotting months active against total spend, with bubble size for average monthly spend.</a:t>
            </a:r>
          </a:p>
        </p:txBody>
      </p:sp>
      <p:sp>
        <p:nvSpPr>
          <p:cNvPr id="13" name="Rectangle 12"/>
          <p:cNvSpPr/>
          <p:nvPr/>
        </p:nvSpPr>
        <p:spPr>
          <a:xfrm>
            <a:off x="7452360" y="3122676"/>
            <a:ext cx="82296" cy="201168"/>
          </a:xfrm>
          <a:prstGeom prst="rect">
            <a:avLst/>
          </a:prstGeom>
          <a:solidFill>
            <a:srgbClr val="2E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71816" y="310438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HOW TO READ IT</a:t>
            </a:r>
          </a:p>
        </p:txBody>
      </p:sp>
      <p:sp>
        <p:nvSpPr>
          <p:cNvPr id="15" name="TextBox 14"/>
          <p:cNvSpPr txBox="1"/>
          <p:nvPr/>
        </p:nvSpPr>
        <p:spPr>
          <a:xfrm>
            <a:off x="7452360" y="341528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Top right is a long standing, high value client. A larger bubble spends more heavily each month.</a:t>
            </a:r>
          </a:p>
        </p:txBody>
      </p:sp>
      <p:sp>
        <p:nvSpPr>
          <p:cNvPr id="16" name="Rectangle 15"/>
          <p:cNvSpPr/>
          <p:nvPr/>
        </p:nvSpPr>
        <p:spPr>
          <a:xfrm>
            <a:off x="7452360" y="4174235"/>
            <a:ext cx="82296" cy="201168"/>
          </a:xfrm>
          <a:prstGeom prst="rect">
            <a:avLst/>
          </a:prstGeom>
          <a:solidFill>
            <a:srgbClr val="8A9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71816" y="415594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DRIVES IT</a:t>
            </a:r>
          </a:p>
        </p:txBody>
      </p:sp>
      <p:sp>
        <p:nvSpPr>
          <p:cNvPr id="18" name="TextBox 17"/>
          <p:cNvSpPr txBox="1"/>
          <p:nvPr/>
        </p:nvSpPr>
        <p:spPr>
          <a:xfrm>
            <a:off x="7452360" y="446684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Each client's active span, total spend and monthly average.</a:t>
            </a:r>
          </a:p>
        </p:txBody>
      </p:sp>
      <p:sp>
        <p:nvSpPr>
          <p:cNvPr id="19" name="Rectangle 18"/>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1" name="TextBox 20"/>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EVERY CHART EXPLAINED</a:t>
            </a:r>
          </a:p>
        </p:txBody>
      </p:sp>
      <p:sp>
        <p:nvSpPr>
          <p:cNvPr id="22" name="TextBox 21"/>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28 / 41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566928"/>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13232"/>
            <a:ext cx="10789920" cy="320040"/>
          </a:xfrm>
          <a:prstGeom prst="rect">
            <a:avLst/>
          </a:prstGeom>
          <a:noFill/>
        </p:spPr>
        <p:txBody>
          <a:bodyPr wrap="square" anchor="t" lIns="0" rIns="0" tIns="0" bIns="0">
            <a:spAutoFit/>
          </a:bodyPr>
          <a:lstStyle/>
          <a:p>
            <a:pPr algn="l">
              <a:lnSpc>
                <a:spcPct val="100000"/>
              </a:lnSpc>
              <a:spcBef>
                <a:spcPts val="0"/>
              </a:spcBef>
              <a:spcAft>
                <a:spcPts val="400"/>
              </a:spcAft>
            </a:pPr>
            <a:r>
              <a:rPr sz="1050" b="1" i="0" spc="160">
                <a:solidFill>
                  <a:srgbClr val="D9521C"/>
                </a:solidFill>
                <a:latin typeface="Hanken Grotesk"/>
              </a:rPr>
              <a:t>SPEND ANALYTICS  ·  CHART</a:t>
            </a:r>
          </a:p>
        </p:txBody>
      </p:sp>
      <p:sp>
        <p:nvSpPr>
          <p:cNvPr id="6" name="TextBox 5"/>
          <p:cNvSpPr txBox="1"/>
          <p:nvPr/>
        </p:nvSpPr>
        <p:spPr>
          <a:xfrm>
            <a:off x="548640" y="1024128"/>
            <a:ext cx="10881360" cy="548640"/>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16243C"/>
                </a:solidFill>
                <a:latin typeface="Hanken Grotesk"/>
              </a:rPr>
              <a:t>Agency Efficiency</a:t>
            </a:r>
          </a:p>
        </p:txBody>
      </p:sp>
      <p:sp>
        <p:nvSpPr>
          <p:cNvPr id="7" name="Rounded Rectangle 6"/>
          <p:cNvSpPr/>
          <p:nvPr/>
        </p:nvSpPr>
        <p:spPr>
          <a:xfrm>
            <a:off x="621792" y="1879091"/>
            <a:ext cx="5895812" cy="4160520"/>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1805939"/>
            <a:ext cx="5895812" cy="4160520"/>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pend-07.png"/>
          <p:cNvPicPr>
            <a:picLocks noChangeAspect="1"/>
          </p:cNvPicPr>
          <p:nvPr/>
        </p:nvPicPr>
        <p:blipFill>
          <a:blip r:embed="rId2"/>
          <a:stretch>
            <a:fillRect/>
          </a:stretch>
        </p:blipFill>
        <p:spPr>
          <a:xfrm>
            <a:off x="566928" y="1805939"/>
            <a:ext cx="5895812" cy="4160520"/>
          </a:xfrm>
          <a:prstGeom prst="rect">
            <a:avLst/>
          </a:prstGeom>
          <a:ln w="12700">
            <a:solidFill>
              <a:srgbClr val="D6DBE3"/>
            </a:solidFill>
          </a:ln>
        </p:spPr>
      </p:pic>
      <p:sp>
        <p:nvSpPr>
          <p:cNvPr id="10" name="Rectangle 9"/>
          <p:cNvSpPr/>
          <p:nvPr/>
        </p:nvSpPr>
        <p:spPr>
          <a:xfrm>
            <a:off x="7452360" y="1865376"/>
            <a:ext cx="82296" cy="201168"/>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71816" y="184708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IT SHOWS</a:t>
            </a:r>
          </a:p>
        </p:txBody>
      </p:sp>
      <p:sp>
        <p:nvSpPr>
          <p:cNvPr id="12" name="TextBox 11"/>
          <p:cNvSpPr txBox="1"/>
          <p:nvPr/>
        </p:nvSpPr>
        <p:spPr>
          <a:xfrm>
            <a:off x="7452360" y="215798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Average spend per schedule entry for each agency.</a:t>
            </a:r>
          </a:p>
        </p:txBody>
      </p:sp>
      <p:sp>
        <p:nvSpPr>
          <p:cNvPr id="13" name="Rectangle 12"/>
          <p:cNvSpPr/>
          <p:nvPr/>
        </p:nvSpPr>
        <p:spPr>
          <a:xfrm>
            <a:off x="7452360" y="2711196"/>
            <a:ext cx="82296" cy="201168"/>
          </a:xfrm>
          <a:prstGeom prst="rect">
            <a:avLst/>
          </a:prstGeom>
          <a:solidFill>
            <a:srgbClr val="2E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71816" y="269290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HOW TO READ IT</a:t>
            </a:r>
          </a:p>
        </p:txBody>
      </p:sp>
      <p:sp>
        <p:nvSpPr>
          <p:cNvPr id="15" name="TextBox 14"/>
          <p:cNvSpPr txBox="1"/>
          <p:nvPr/>
        </p:nvSpPr>
        <p:spPr>
          <a:xfrm>
            <a:off x="7452360" y="3003803"/>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A longer bar means each logged line carries more value on average, a rough read on deal size.</a:t>
            </a:r>
          </a:p>
        </p:txBody>
      </p:sp>
      <p:sp>
        <p:nvSpPr>
          <p:cNvPr id="16" name="Rectangle 15"/>
          <p:cNvSpPr/>
          <p:nvPr/>
        </p:nvSpPr>
        <p:spPr>
          <a:xfrm>
            <a:off x="7452360" y="3762755"/>
            <a:ext cx="82296" cy="201168"/>
          </a:xfrm>
          <a:prstGeom prst="rect">
            <a:avLst/>
          </a:prstGeom>
          <a:solidFill>
            <a:srgbClr val="8A9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71816" y="374446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DRIVES IT</a:t>
            </a:r>
          </a:p>
        </p:txBody>
      </p:sp>
      <p:sp>
        <p:nvSpPr>
          <p:cNvPr id="18" name="TextBox 17"/>
          <p:cNvSpPr txBox="1"/>
          <p:nvPr/>
        </p:nvSpPr>
        <p:spPr>
          <a:xfrm>
            <a:off x="7452360" y="4055363"/>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Agency total spend divided by its number of schedule entries.</a:t>
            </a:r>
          </a:p>
        </p:txBody>
      </p:sp>
      <p:sp>
        <p:nvSpPr>
          <p:cNvPr id="19" name="Rectangle 18"/>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1" name="TextBox 20"/>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EVERY CHART EXPLAINED</a:t>
            </a:r>
          </a:p>
        </p:txBody>
      </p:sp>
      <p:sp>
        <p:nvSpPr>
          <p:cNvPr id="22" name="TextBox 21"/>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29 / 41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566928"/>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13232"/>
            <a:ext cx="10789920" cy="320040"/>
          </a:xfrm>
          <a:prstGeom prst="rect">
            <a:avLst/>
          </a:prstGeom>
          <a:noFill/>
        </p:spPr>
        <p:txBody>
          <a:bodyPr wrap="square" anchor="t" lIns="0" rIns="0" tIns="0" bIns="0">
            <a:spAutoFit/>
          </a:bodyPr>
          <a:lstStyle/>
          <a:p>
            <a:pPr algn="l">
              <a:lnSpc>
                <a:spcPct val="100000"/>
              </a:lnSpc>
              <a:spcBef>
                <a:spcPts val="0"/>
              </a:spcBef>
              <a:spcAft>
                <a:spcPts val="400"/>
              </a:spcAft>
            </a:pPr>
            <a:r>
              <a:rPr sz="1050" b="1" i="0" spc="160">
                <a:solidFill>
                  <a:srgbClr val="D9521C"/>
                </a:solidFill>
                <a:latin typeface="Hanken Grotesk"/>
              </a:rPr>
              <a:t>SPEND ANALYTICS  ·  CHART</a:t>
            </a:r>
          </a:p>
        </p:txBody>
      </p:sp>
      <p:sp>
        <p:nvSpPr>
          <p:cNvPr id="6" name="TextBox 5"/>
          <p:cNvSpPr txBox="1"/>
          <p:nvPr/>
        </p:nvSpPr>
        <p:spPr>
          <a:xfrm>
            <a:off x="548640" y="1024128"/>
            <a:ext cx="10881360" cy="548640"/>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16243C"/>
                </a:solidFill>
                <a:latin typeface="Hanken Grotesk"/>
              </a:rPr>
              <a:t>Spend by Medium</a:t>
            </a:r>
          </a:p>
        </p:txBody>
      </p:sp>
      <p:sp>
        <p:nvSpPr>
          <p:cNvPr id="7" name="Rounded Rectangle 6"/>
          <p:cNvSpPr/>
          <p:nvPr/>
        </p:nvSpPr>
        <p:spPr>
          <a:xfrm>
            <a:off x="621792" y="1879091"/>
            <a:ext cx="4983395" cy="4160520"/>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1805939"/>
            <a:ext cx="4983395" cy="4160520"/>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pend-08.png"/>
          <p:cNvPicPr>
            <a:picLocks noChangeAspect="1"/>
          </p:cNvPicPr>
          <p:nvPr/>
        </p:nvPicPr>
        <p:blipFill>
          <a:blip r:embed="rId2"/>
          <a:stretch>
            <a:fillRect/>
          </a:stretch>
        </p:blipFill>
        <p:spPr>
          <a:xfrm>
            <a:off x="566928" y="1805939"/>
            <a:ext cx="4983395" cy="4160520"/>
          </a:xfrm>
          <a:prstGeom prst="rect">
            <a:avLst/>
          </a:prstGeom>
          <a:ln w="12700">
            <a:solidFill>
              <a:srgbClr val="D6DBE3"/>
            </a:solidFill>
          </a:ln>
        </p:spPr>
      </p:pic>
      <p:sp>
        <p:nvSpPr>
          <p:cNvPr id="10" name="Rectangle 9"/>
          <p:cNvSpPr/>
          <p:nvPr/>
        </p:nvSpPr>
        <p:spPr>
          <a:xfrm>
            <a:off x="7452360" y="1865376"/>
            <a:ext cx="82296" cy="201168"/>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71816" y="184708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IT SHOWS</a:t>
            </a:r>
          </a:p>
        </p:txBody>
      </p:sp>
      <p:sp>
        <p:nvSpPr>
          <p:cNvPr id="12" name="TextBox 11"/>
          <p:cNvSpPr txBox="1"/>
          <p:nvPr/>
        </p:nvSpPr>
        <p:spPr>
          <a:xfrm>
            <a:off x="7452360" y="215798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A donut of total spend split by medium, with the value and share of each.</a:t>
            </a:r>
          </a:p>
        </p:txBody>
      </p:sp>
      <p:sp>
        <p:nvSpPr>
          <p:cNvPr id="13" name="Rectangle 12"/>
          <p:cNvSpPr/>
          <p:nvPr/>
        </p:nvSpPr>
        <p:spPr>
          <a:xfrm>
            <a:off x="7452360" y="2916936"/>
            <a:ext cx="82296" cy="201168"/>
          </a:xfrm>
          <a:prstGeom prst="rect">
            <a:avLst/>
          </a:prstGeom>
          <a:solidFill>
            <a:srgbClr val="2E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71816" y="289864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HOW TO READ IT</a:t>
            </a:r>
          </a:p>
        </p:txBody>
      </p:sp>
      <p:sp>
        <p:nvSpPr>
          <p:cNvPr id="15" name="TextBox 14"/>
          <p:cNvSpPr txBox="1"/>
          <p:nvPr/>
        </p:nvSpPr>
        <p:spPr>
          <a:xfrm>
            <a:off x="7452360" y="320954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Click a slice to filter the channel views below it. The ring shows the balance across channel types.</a:t>
            </a:r>
          </a:p>
        </p:txBody>
      </p:sp>
      <p:sp>
        <p:nvSpPr>
          <p:cNvPr id="16" name="Rectangle 15"/>
          <p:cNvSpPr/>
          <p:nvPr/>
        </p:nvSpPr>
        <p:spPr>
          <a:xfrm>
            <a:off x="7452360" y="3968496"/>
            <a:ext cx="82296" cy="201168"/>
          </a:xfrm>
          <a:prstGeom prst="rect">
            <a:avLst/>
          </a:prstGeom>
          <a:solidFill>
            <a:srgbClr val="8A9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71816" y="395020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DRIVES IT</a:t>
            </a:r>
          </a:p>
        </p:txBody>
      </p:sp>
      <p:sp>
        <p:nvSpPr>
          <p:cNvPr id="18" name="TextBox 17"/>
          <p:cNvSpPr txBox="1"/>
          <p:nvPr/>
        </p:nvSpPr>
        <p:spPr>
          <a:xfrm>
            <a:off x="7452360" y="426110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Schedule value grouped by medium.</a:t>
            </a:r>
          </a:p>
        </p:txBody>
      </p:sp>
      <p:sp>
        <p:nvSpPr>
          <p:cNvPr id="19" name="Rectangle 18"/>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1" name="TextBox 20"/>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EVERY CHART EXPLAINED</a:t>
            </a:r>
          </a:p>
        </p:txBody>
      </p:sp>
      <p:sp>
        <p:nvSpPr>
          <p:cNvPr id="22" name="TextBox 21"/>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30 / 41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566928"/>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13232"/>
            <a:ext cx="10789920" cy="320040"/>
          </a:xfrm>
          <a:prstGeom prst="rect">
            <a:avLst/>
          </a:prstGeom>
          <a:noFill/>
        </p:spPr>
        <p:txBody>
          <a:bodyPr wrap="square" anchor="t" lIns="0" rIns="0" tIns="0" bIns="0">
            <a:spAutoFit/>
          </a:bodyPr>
          <a:lstStyle/>
          <a:p>
            <a:pPr algn="l">
              <a:lnSpc>
                <a:spcPct val="100000"/>
              </a:lnSpc>
              <a:spcBef>
                <a:spcPts val="0"/>
              </a:spcBef>
              <a:spcAft>
                <a:spcPts val="400"/>
              </a:spcAft>
            </a:pPr>
            <a:r>
              <a:rPr sz="1050" b="1" i="0" spc="160">
                <a:solidFill>
                  <a:srgbClr val="D9521C"/>
                </a:solidFill>
                <a:latin typeface="Hanken Grotesk"/>
              </a:rPr>
              <a:t>SPEND ANALYTICS  ·  CHART</a:t>
            </a:r>
          </a:p>
        </p:txBody>
      </p:sp>
      <p:sp>
        <p:nvSpPr>
          <p:cNvPr id="6" name="TextBox 5"/>
          <p:cNvSpPr txBox="1"/>
          <p:nvPr/>
        </p:nvSpPr>
        <p:spPr>
          <a:xfrm>
            <a:off x="548640" y="1024128"/>
            <a:ext cx="10881360" cy="548640"/>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16243C"/>
                </a:solidFill>
                <a:latin typeface="Hanken Grotesk"/>
              </a:rPr>
              <a:t>Spend by Media Group</a:t>
            </a:r>
          </a:p>
        </p:txBody>
      </p:sp>
      <p:sp>
        <p:nvSpPr>
          <p:cNvPr id="7" name="Rounded Rectangle 6"/>
          <p:cNvSpPr/>
          <p:nvPr/>
        </p:nvSpPr>
        <p:spPr>
          <a:xfrm>
            <a:off x="621792" y="1879091"/>
            <a:ext cx="4983395" cy="4160520"/>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1805939"/>
            <a:ext cx="4983395" cy="4160520"/>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pend-09.png"/>
          <p:cNvPicPr>
            <a:picLocks noChangeAspect="1"/>
          </p:cNvPicPr>
          <p:nvPr/>
        </p:nvPicPr>
        <p:blipFill>
          <a:blip r:embed="rId2"/>
          <a:stretch>
            <a:fillRect/>
          </a:stretch>
        </p:blipFill>
        <p:spPr>
          <a:xfrm>
            <a:off x="566928" y="1805939"/>
            <a:ext cx="4983395" cy="4160520"/>
          </a:xfrm>
          <a:prstGeom prst="rect">
            <a:avLst/>
          </a:prstGeom>
          <a:ln w="12700">
            <a:solidFill>
              <a:srgbClr val="D6DBE3"/>
            </a:solidFill>
          </a:ln>
        </p:spPr>
      </p:pic>
      <p:sp>
        <p:nvSpPr>
          <p:cNvPr id="10" name="Rectangle 9"/>
          <p:cNvSpPr/>
          <p:nvPr/>
        </p:nvSpPr>
        <p:spPr>
          <a:xfrm>
            <a:off x="7452360" y="1865376"/>
            <a:ext cx="82296" cy="201168"/>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71816" y="184708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IT SHOWS</a:t>
            </a:r>
          </a:p>
        </p:txBody>
      </p:sp>
      <p:sp>
        <p:nvSpPr>
          <p:cNvPr id="12" name="TextBox 11"/>
          <p:cNvSpPr txBox="1"/>
          <p:nvPr/>
        </p:nvSpPr>
        <p:spPr>
          <a:xfrm>
            <a:off x="7452360" y="215798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A donut of spend split by media group, the broadcaster or publisher behind the channels.</a:t>
            </a:r>
          </a:p>
        </p:txBody>
      </p:sp>
      <p:sp>
        <p:nvSpPr>
          <p:cNvPr id="13" name="Rectangle 12"/>
          <p:cNvSpPr/>
          <p:nvPr/>
        </p:nvSpPr>
        <p:spPr>
          <a:xfrm>
            <a:off x="7452360" y="2916936"/>
            <a:ext cx="82296" cy="201168"/>
          </a:xfrm>
          <a:prstGeom prst="rect">
            <a:avLst/>
          </a:prstGeom>
          <a:solidFill>
            <a:srgbClr val="2E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71816" y="289864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HOW TO READ IT</a:t>
            </a:r>
          </a:p>
        </p:txBody>
      </p:sp>
      <p:sp>
        <p:nvSpPr>
          <p:cNvPr id="15" name="TextBox 14"/>
          <p:cNvSpPr txBox="1"/>
          <p:nvPr/>
        </p:nvSpPr>
        <p:spPr>
          <a:xfrm>
            <a:off x="7452360" y="320954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The largest slice is your biggest media owner relationship by value.</a:t>
            </a:r>
          </a:p>
        </p:txBody>
      </p:sp>
      <p:sp>
        <p:nvSpPr>
          <p:cNvPr id="16" name="Rectangle 15"/>
          <p:cNvSpPr/>
          <p:nvPr/>
        </p:nvSpPr>
        <p:spPr>
          <a:xfrm>
            <a:off x="7452360" y="3968496"/>
            <a:ext cx="82296" cy="201168"/>
          </a:xfrm>
          <a:prstGeom prst="rect">
            <a:avLst/>
          </a:prstGeom>
          <a:solidFill>
            <a:srgbClr val="8A9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71816" y="395020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DRIVES IT</a:t>
            </a:r>
          </a:p>
        </p:txBody>
      </p:sp>
      <p:sp>
        <p:nvSpPr>
          <p:cNvPr id="18" name="TextBox 17"/>
          <p:cNvSpPr txBox="1"/>
          <p:nvPr/>
        </p:nvSpPr>
        <p:spPr>
          <a:xfrm>
            <a:off x="7452360" y="426110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Schedule value grouped by media group.</a:t>
            </a:r>
          </a:p>
        </p:txBody>
      </p:sp>
      <p:sp>
        <p:nvSpPr>
          <p:cNvPr id="19" name="Rectangle 18"/>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1" name="TextBox 20"/>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EVERY CHART EXPLAINED</a:t>
            </a:r>
          </a:p>
        </p:txBody>
      </p:sp>
      <p:sp>
        <p:nvSpPr>
          <p:cNvPr id="22" name="TextBox 21"/>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31 / 41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566928"/>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13232"/>
            <a:ext cx="10789920" cy="320040"/>
          </a:xfrm>
          <a:prstGeom prst="rect">
            <a:avLst/>
          </a:prstGeom>
          <a:noFill/>
        </p:spPr>
        <p:txBody>
          <a:bodyPr wrap="square" anchor="t" lIns="0" rIns="0" tIns="0" bIns="0">
            <a:spAutoFit/>
          </a:bodyPr>
          <a:lstStyle/>
          <a:p>
            <a:pPr algn="l">
              <a:lnSpc>
                <a:spcPct val="100000"/>
              </a:lnSpc>
              <a:spcBef>
                <a:spcPts val="0"/>
              </a:spcBef>
              <a:spcAft>
                <a:spcPts val="400"/>
              </a:spcAft>
            </a:pPr>
            <a:r>
              <a:rPr sz="1050" b="1" i="0" spc="160">
                <a:solidFill>
                  <a:srgbClr val="D9521C"/>
                </a:solidFill>
                <a:latin typeface="Hanken Grotesk"/>
              </a:rPr>
              <a:t>SPEND ANALYTICS  ·  CHART</a:t>
            </a:r>
          </a:p>
        </p:txBody>
      </p:sp>
      <p:sp>
        <p:nvSpPr>
          <p:cNvPr id="6" name="TextBox 5"/>
          <p:cNvSpPr txBox="1"/>
          <p:nvPr/>
        </p:nvSpPr>
        <p:spPr>
          <a:xfrm>
            <a:off x="548640" y="1024128"/>
            <a:ext cx="10881360" cy="548640"/>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16243C"/>
                </a:solidFill>
                <a:latin typeface="Hanken Grotesk"/>
              </a:rPr>
              <a:t>Top Clients by Spend</a:t>
            </a:r>
          </a:p>
        </p:txBody>
      </p:sp>
      <p:sp>
        <p:nvSpPr>
          <p:cNvPr id="7" name="Rounded Rectangle 6"/>
          <p:cNvSpPr/>
          <p:nvPr/>
        </p:nvSpPr>
        <p:spPr>
          <a:xfrm>
            <a:off x="621792" y="2740959"/>
            <a:ext cx="6537960" cy="2436785"/>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2667807"/>
            <a:ext cx="6537960" cy="2436785"/>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pend-10.png"/>
          <p:cNvPicPr>
            <a:picLocks noChangeAspect="1"/>
          </p:cNvPicPr>
          <p:nvPr/>
        </p:nvPicPr>
        <p:blipFill>
          <a:blip r:embed="rId2"/>
          <a:stretch>
            <a:fillRect/>
          </a:stretch>
        </p:blipFill>
        <p:spPr>
          <a:xfrm>
            <a:off x="566928" y="2667807"/>
            <a:ext cx="6537960" cy="2436785"/>
          </a:xfrm>
          <a:prstGeom prst="rect">
            <a:avLst/>
          </a:prstGeom>
          <a:ln w="12700">
            <a:solidFill>
              <a:srgbClr val="D6DBE3"/>
            </a:solidFill>
          </a:ln>
        </p:spPr>
      </p:pic>
      <p:sp>
        <p:nvSpPr>
          <p:cNvPr id="10" name="Rectangle 9"/>
          <p:cNvSpPr/>
          <p:nvPr/>
        </p:nvSpPr>
        <p:spPr>
          <a:xfrm>
            <a:off x="7452360" y="1865376"/>
            <a:ext cx="82296" cy="201168"/>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71816" y="184708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IT SHOWS</a:t>
            </a:r>
          </a:p>
        </p:txBody>
      </p:sp>
      <p:sp>
        <p:nvSpPr>
          <p:cNvPr id="12" name="TextBox 11"/>
          <p:cNvSpPr txBox="1"/>
          <p:nvPr/>
        </p:nvSpPr>
        <p:spPr>
          <a:xfrm>
            <a:off x="7452360" y="215798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Clients ranked by committed spend, as horizontal bars.</a:t>
            </a:r>
          </a:p>
        </p:txBody>
      </p:sp>
      <p:sp>
        <p:nvSpPr>
          <p:cNvPr id="13" name="Rectangle 12"/>
          <p:cNvSpPr/>
          <p:nvPr/>
        </p:nvSpPr>
        <p:spPr>
          <a:xfrm>
            <a:off x="7452360" y="2916936"/>
            <a:ext cx="82296" cy="201168"/>
          </a:xfrm>
          <a:prstGeom prst="rect">
            <a:avLst/>
          </a:prstGeom>
          <a:solidFill>
            <a:srgbClr val="2E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71816" y="289864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HOW TO READ IT</a:t>
            </a:r>
          </a:p>
        </p:txBody>
      </p:sp>
      <p:sp>
        <p:nvSpPr>
          <p:cNvPr id="15" name="TextBox 14"/>
          <p:cNvSpPr txBox="1"/>
          <p:nvPr/>
        </p:nvSpPr>
        <p:spPr>
          <a:xfrm>
            <a:off x="7452360" y="320954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The longest bars are your largest accounts. Hover any bar for the exact value.</a:t>
            </a:r>
          </a:p>
        </p:txBody>
      </p:sp>
      <p:sp>
        <p:nvSpPr>
          <p:cNvPr id="16" name="Rectangle 15"/>
          <p:cNvSpPr/>
          <p:nvPr/>
        </p:nvSpPr>
        <p:spPr>
          <a:xfrm>
            <a:off x="7452360" y="3968496"/>
            <a:ext cx="82296" cy="201168"/>
          </a:xfrm>
          <a:prstGeom prst="rect">
            <a:avLst/>
          </a:prstGeom>
          <a:solidFill>
            <a:srgbClr val="8A9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71816" y="395020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DRIVES IT</a:t>
            </a:r>
          </a:p>
        </p:txBody>
      </p:sp>
      <p:sp>
        <p:nvSpPr>
          <p:cNvPr id="18" name="TextBox 17"/>
          <p:cNvSpPr txBox="1"/>
          <p:nvPr/>
        </p:nvSpPr>
        <p:spPr>
          <a:xfrm>
            <a:off x="7452360" y="426110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Schedule value grouped by client.</a:t>
            </a:r>
          </a:p>
        </p:txBody>
      </p:sp>
      <p:sp>
        <p:nvSpPr>
          <p:cNvPr id="19" name="Rectangle 18"/>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1" name="TextBox 20"/>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EVERY CHART EXPLAINED</a:t>
            </a:r>
          </a:p>
        </p:txBody>
      </p:sp>
      <p:sp>
        <p:nvSpPr>
          <p:cNvPr id="22" name="TextBox 21"/>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32 / 41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566928"/>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13232"/>
            <a:ext cx="10789920" cy="320040"/>
          </a:xfrm>
          <a:prstGeom prst="rect">
            <a:avLst/>
          </a:prstGeom>
          <a:noFill/>
        </p:spPr>
        <p:txBody>
          <a:bodyPr wrap="square" anchor="t" lIns="0" rIns="0" tIns="0" bIns="0">
            <a:spAutoFit/>
          </a:bodyPr>
          <a:lstStyle/>
          <a:p>
            <a:pPr algn="l">
              <a:lnSpc>
                <a:spcPct val="100000"/>
              </a:lnSpc>
              <a:spcBef>
                <a:spcPts val="0"/>
              </a:spcBef>
              <a:spcAft>
                <a:spcPts val="400"/>
              </a:spcAft>
            </a:pPr>
            <a:r>
              <a:rPr sz="1050" b="1" i="0" spc="160">
                <a:solidFill>
                  <a:srgbClr val="D9521C"/>
                </a:solidFill>
                <a:latin typeface="Hanken Grotesk"/>
              </a:rPr>
              <a:t>DEEP DASHBOARD  ·  CHART</a:t>
            </a:r>
          </a:p>
        </p:txBody>
      </p:sp>
      <p:sp>
        <p:nvSpPr>
          <p:cNvPr id="6" name="TextBox 5"/>
          <p:cNvSpPr txBox="1"/>
          <p:nvPr/>
        </p:nvSpPr>
        <p:spPr>
          <a:xfrm>
            <a:off x="548640" y="1024128"/>
            <a:ext cx="10881360" cy="548640"/>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16243C"/>
                </a:solidFill>
                <a:latin typeface="Hanken Grotesk"/>
              </a:rPr>
              <a:t>Multi Year Monthly Trend</a:t>
            </a:r>
          </a:p>
        </p:txBody>
      </p:sp>
      <p:sp>
        <p:nvSpPr>
          <p:cNvPr id="7" name="Rounded Rectangle 6"/>
          <p:cNvSpPr/>
          <p:nvPr/>
        </p:nvSpPr>
        <p:spPr>
          <a:xfrm>
            <a:off x="621792" y="3043538"/>
            <a:ext cx="6537960" cy="1831626"/>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2970386"/>
            <a:ext cx="6537960" cy="1831626"/>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eep-00.png"/>
          <p:cNvPicPr>
            <a:picLocks noChangeAspect="1"/>
          </p:cNvPicPr>
          <p:nvPr/>
        </p:nvPicPr>
        <p:blipFill>
          <a:blip r:embed="rId2"/>
          <a:stretch>
            <a:fillRect/>
          </a:stretch>
        </p:blipFill>
        <p:spPr>
          <a:xfrm>
            <a:off x="566928" y="2970386"/>
            <a:ext cx="6537960" cy="1831626"/>
          </a:xfrm>
          <a:prstGeom prst="rect">
            <a:avLst/>
          </a:prstGeom>
          <a:ln w="12700">
            <a:solidFill>
              <a:srgbClr val="D6DBE3"/>
            </a:solidFill>
          </a:ln>
        </p:spPr>
      </p:pic>
      <p:sp>
        <p:nvSpPr>
          <p:cNvPr id="10" name="Rectangle 9"/>
          <p:cNvSpPr/>
          <p:nvPr/>
        </p:nvSpPr>
        <p:spPr>
          <a:xfrm>
            <a:off x="7452360" y="1865376"/>
            <a:ext cx="82296" cy="201168"/>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71816" y="184708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IT SHOWS</a:t>
            </a:r>
          </a:p>
        </p:txBody>
      </p:sp>
      <p:sp>
        <p:nvSpPr>
          <p:cNvPr id="12" name="TextBox 11"/>
          <p:cNvSpPr txBox="1"/>
          <p:nvPr/>
        </p:nvSpPr>
        <p:spPr>
          <a:xfrm>
            <a:off x="7452360" y="215798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Monthly spend with one line per year, plus a brush to zoom into a range.</a:t>
            </a:r>
          </a:p>
        </p:txBody>
      </p:sp>
      <p:sp>
        <p:nvSpPr>
          <p:cNvPr id="13" name="Rectangle 12"/>
          <p:cNvSpPr/>
          <p:nvPr/>
        </p:nvSpPr>
        <p:spPr>
          <a:xfrm>
            <a:off x="7452360" y="2916936"/>
            <a:ext cx="82296" cy="201168"/>
          </a:xfrm>
          <a:prstGeom prst="rect">
            <a:avLst/>
          </a:prstGeom>
          <a:solidFill>
            <a:srgbClr val="2E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71816" y="289864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HOW TO READ IT</a:t>
            </a:r>
          </a:p>
        </p:txBody>
      </p:sp>
      <p:sp>
        <p:nvSpPr>
          <p:cNvPr id="15" name="TextBox 14"/>
          <p:cNvSpPr txBox="1"/>
          <p:nvPr/>
        </p:nvSpPr>
        <p:spPr>
          <a:xfrm>
            <a:off x="7452360" y="320954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Overlay the years to compare seasonality. Drag the brush along the bottom to focus on a window.</a:t>
            </a:r>
          </a:p>
        </p:txBody>
      </p:sp>
      <p:sp>
        <p:nvSpPr>
          <p:cNvPr id="16" name="Rectangle 15"/>
          <p:cNvSpPr/>
          <p:nvPr/>
        </p:nvSpPr>
        <p:spPr>
          <a:xfrm>
            <a:off x="7452360" y="3968496"/>
            <a:ext cx="82296" cy="201168"/>
          </a:xfrm>
          <a:prstGeom prst="rect">
            <a:avLst/>
          </a:prstGeom>
          <a:solidFill>
            <a:srgbClr val="8A9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71816" y="395020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DRIVES IT</a:t>
            </a:r>
          </a:p>
        </p:txBody>
      </p:sp>
      <p:sp>
        <p:nvSpPr>
          <p:cNvPr id="18" name="TextBox 17"/>
          <p:cNvSpPr txBox="1"/>
          <p:nvPr/>
        </p:nvSpPr>
        <p:spPr>
          <a:xfrm>
            <a:off x="7452360" y="426110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Monthly spend under the active agency, client and channel filters.</a:t>
            </a:r>
          </a:p>
        </p:txBody>
      </p:sp>
      <p:sp>
        <p:nvSpPr>
          <p:cNvPr id="19" name="Rectangle 18"/>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1" name="TextBox 20"/>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EVERY CHART EXPLAINED</a:t>
            </a:r>
          </a:p>
        </p:txBody>
      </p:sp>
      <p:sp>
        <p:nvSpPr>
          <p:cNvPr id="22" name="TextBox 21"/>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33 / 41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566928"/>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13232"/>
            <a:ext cx="10789920" cy="320040"/>
          </a:xfrm>
          <a:prstGeom prst="rect">
            <a:avLst/>
          </a:prstGeom>
          <a:noFill/>
        </p:spPr>
        <p:txBody>
          <a:bodyPr wrap="square" anchor="t" lIns="0" rIns="0" tIns="0" bIns="0">
            <a:spAutoFit/>
          </a:bodyPr>
          <a:lstStyle/>
          <a:p>
            <a:pPr algn="l">
              <a:lnSpc>
                <a:spcPct val="100000"/>
              </a:lnSpc>
              <a:spcBef>
                <a:spcPts val="0"/>
              </a:spcBef>
              <a:spcAft>
                <a:spcPts val="400"/>
              </a:spcAft>
            </a:pPr>
            <a:r>
              <a:rPr sz="1050" b="1" i="0" spc="160">
                <a:solidFill>
                  <a:srgbClr val="D9521C"/>
                </a:solidFill>
                <a:latin typeface="Hanken Grotesk"/>
              </a:rPr>
              <a:t>DEEP DASHBOARD  ·  CHART</a:t>
            </a:r>
          </a:p>
        </p:txBody>
      </p:sp>
      <p:sp>
        <p:nvSpPr>
          <p:cNvPr id="6" name="TextBox 5"/>
          <p:cNvSpPr txBox="1"/>
          <p:nvPr/>
        </p:nvSpPr>
        <p:spPr>
          <a:xfrm>
            <a:off x="548640" y="1024128"/>
            <a:ext cx="10881360" cy="548640"/>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16243C"/>
                </a:solidFill>
                <a:latin typeface="Hanken Grotesk"/>
              </a:rPr>
              <a:t>Client Investment Contribution</a:t>
            </a:r>
          </a:p>
        </p:txBody>
      </p:sp>
      <p:sp>
        <p:nvSpPr>
          <p:cNvPr id="7" name="Rounded Rectangle 6"/>
          <p:cNvSpPr/>
          <p:nvPr/>
        </p:nvSpPr>
        <p:spPr>
          <a:xfrm>
            <a:off x="621792" y="2626345"/>
            <a:ext cx="6537960" cy="2666012"/>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2553193"/>
            <a:ext cx="6537960" cy="2666012"/>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eep-01.png"/>
          <p:cNvPicPr>
            <a:picLocks noChangeAspect="1"/>
          </p:cNvPicPr>
          <p:nvPr/>
        </p:nvPicPr>
        <p:blipFill>
          <a:blip r:embed="rId2"/>
          <a:stretch>
            <a:fillRect/>
          </a:stretch>
        </p:blipFill>
        <p:spPr>
          <a:xfrm>
            <a:off x="566928" y="2553193"/>
            <a:ext cx="6537960" cy="2666012"/>
          </a:xfrm>
          <a:prstGeom prst="rect">
            <a:avLst/>
          </a:prstGeom>
          <a:ln w="12700">
            <a:solidFill>
              <a:srgbClr val="D6DBE3"/>
            </a:solidFill>
          </a:ln>
        </p:spPr>
      </p:pic>
      <p:sp>
        <p:nvSpPr>
          <p:cNvPr id="10" name="Rectangle 9"/>
          <p:cNvSpPr/>
          <p:nvPr/>
        </p:nvSpPr>
        <p:spPr>
          <a:xfrm>
            <a:off x="7452360" y="1865376"/>
            <a:ext cx="82296" cy="201168"/>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71816" y="184708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IT SHOWS</a:t>
            </a:r>
          </a:p>
        </p:txBody>
      </p:sp>
      <p:sp>
        <p:nvSpPr>
          <p:cNvPr id="12" name="TextBox 11"/>
          <p:cNvSpPr txBox="1"/>
          <p:nvPr/>
        </p:nvSpPr>
        <p:spPr>
          <a:xfrm>
            <a:off x="7452360" y="215798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Each client's contribution to total spend, as ranked horizontal bars.</a:t>
            </a:r>
          </a:p>
        </p:txBody>
      </p:sp>
      <p:sp>
        <p:nvSpPr>
          <p:cNvPr id="13" name="Rectangle 12"/>
          <p:cNvSpPr/>
          <p:nvPr/>
        </p:nvSpPr>
        <p:spPr>
          <a:xfrm>
            <a:off x="7452360" y="2916936"/>
            <a:ext cx="82296" cy="201168"/>
          </a:xfrm>
          <a:prstGeom prst="rect">
            <a:avLst/>
          </a:prstGeom>
          <a:solidFill>
            <a:srgbClr val="2E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71816" y="289864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HOW TO READ IT</a:t>
            </a:r>
          </a:p>
        </p:txBody>
      </p:sp>
      <p:sp>
        <p:nvSpPr>
          <p:cNvPr id="15" name="TextBox 14"/>
          <p:cNvSpPr txBox="1"/>
          <p:nvPr/>
        </p:nvSpPr>
        <p:spPr>
          <a:xfrm>
            <a:off x="7452360" y="320954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The longest bars carry your portfolio. A short tail of small clients sits at the bottom.</a:t>
            </a:r>
          </a:p>
        </p:txBody>
      </p:sp>
      <p:sp>
        <p:nvSpPr>
          <p:cNvPr id="16" name="Rectangle 15"/>
          <p:cNvSpPr/>
          <p:nvPr/>
        </p:nvSpPr>
        <p:spPr>
          <a:xfrm>
            <a:off x="7452360" y="3968496"/>
            <a:ext cx="82296" cy="201168"/>
          </a:xfrm>
          <a:prstGeom prst="rect">
            <a:avLst/>
          </a:prstGeom>
          <a:solidFill>
            <a:srgbClr val="8A9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71816" y="395020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DRIVES IT</a:t>
            </a:r>
          </a:p>
        </p:txBody>
      </p:sp>
      <p:sp>
        <p:nvSpPr>
          <p:cNvPr id="18" name="TextBox 17"/>
          <p:cNvSpPr txBox="1"/>
          <p:nvPr/>
        </p:nvSpPr>
        <p:spPr>
          <a:xfrm>
            <a:off x="7452360" y="426110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Per client spend under the active filters.</a:t>
            </a:r>
          </a:p>
        </p:txBody>
      </p:sp>
      <p:sp>
        <p:nvSpPr>
          <p:cNvPr id="19" name="Rectangle 18"/>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1" name="TextBox 20"/>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EVERY CHART EXPLAINED</a:t>
            </a:r>
          </a:p>
        </p:txBody>
      </p:sp>
      <p:sp>
        <p:nvSpPr>
          <p:cNvPr id="22" name="TextBox 21"/>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34 / 41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566928"/>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13232"/>
            <a:ext cx="10789920" cy="320040"/>
          </a:xfrm>
          <a:prstGeom prst="rect">
            <a:avLst/>
          </a:prstGeom>
          <a:noFill/>
        </p:spPr>
        <p:txBody>
          <a:bodyPr wrap="square" anchor="t" lIns="0" rIns="0" tIns="0" bIns="0">
            <a:spAutoFit/>
          </a:bodyPr>
          <a:lstStyle/>
          <a:p>
            <a:pPr algn="l">
              <a:lnSpc>
                <a:spcPct val="100000"/>
              </a:lnSpc>
              <a:spcBef>
                <a:spcPts val="0"/>
              </a:spcBef>
              <a:spcAft>
                <a:spcPts val="400"/>
              </a:spcAft>
            </a:pPr>
            <a:r>
              <a:rPr sz="1050" b="1" i="0" spc="160">
                <a:solidFill>
                  <a:srgbClr val="D9521C"/>
                </a:solidFill>
                <a:latin typeface="Hanken Grotesk"/>
              </a:rPr>
              <a:t>CHANNEL INTELLIGENCE  ·  CHART</a:t>
            </a:r>
          </a:p>
        </p:txBody>
      </p:sp>
      <p:sp>
        <p:nvSpPr>
          <p:cNvPr id="6" name="TextBox 5"/>
          <p:cNvSpPr txBox="1"/>
          <p:nvPr/>
        </p:nvSpPr>
        <p:spPr>
          <a:xfrm>
            <a:off x="548640" y="1024128"/>
            <a:ext cx="10881360" cy="548640"/>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16243C"/>
                </a:solidFill>
                <a:latin typeface="Hanken Grotesk"/>
              </a:rPr>
              <a:t>Monthly Spend Trend</a:t>
            </a:r>
          </a:p>
        </p:txBody>
      </p:sp>
      <p:sp>
        <p:nvSpPr>
          <p:cNvPr id="7" name="Rounded Rectangle 6"/>
          <p:cNvSpPr/>
          <p:nvPr/>
        </p:nvSpPr>
        <p:spPr>
          <a:xfrm>
            <a:off x="621792" y="2704396"/>
            <a:ext cx="6537960" cy="2509911"/>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2631244"/>
            <a:ext cx="6537960" cy="2509911"/>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annel-00.png"/>
          <p:cNvPicPr>
            <a:picLocks noChangeAspect="1"/>
          </p:cNvPicPr>
          <p:nvPr/>
        </p:nvPicPr>
        <p:blipFill>
          <a:blip r:embed="rId2"/>
          <a:stretch>
            <a:fillRect/>
          </a:stretch>
        </p:blipFill>
        <p:spPr>
          <a:xfrm>
            <a:off x="566928" y="2631244"/>
            <a:ext cx="6537960" cy="2509911"/>
          </a:xfrm>
          <a:prstGeom prst="rect">
            <a:avLst/>
          </a:prstGeom>
          <a:ln w="12700">
            <a:solidFill>
              <a:srgbClr val="D6DBE3"/>
            </a:solidFill>
          </a:ln>
        </p:spPr>
      </p:pic>
      <p:sp>
        <p:nvSpPr>
          <p:cNvPr id="10" name="Rectangle 9"/>
          <p:cNvSpPr/>
          <p:nvPr/>
        </p:nvSpPr>
        <p:spPr>
          <a:xfrm>
            <a:off x="7452360" y="1865376"/>
            <a:ext cx="82296" cy="201168"/>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71816" y="184708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IT SHOWS</a:t>
            </a:r>
          </a:p>
        </p:txBody>
      </p:sp>
      <p:sp>
        <p:nvSpPr>
          <p:cNvPr id="12" name="TextBox 11"/>
          <p:cNvSpPr txBox="1"/>
          <p:nvPr/>
        </p:nvSpPr>
        <p:spPr>
          <a:xfrm>
            <a:off x="7452360" y="215798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Spend on this single channel, one line per year on a Jan to Dec axis.</a:t>
            </a:r>
          </a:p>
        </p:txBody>
      </p:sp>
      <p:sp>
        <p:nvSpPr>
          <p:cNvPr id="13" name="Rectangle 12"/>
          <p:cNvSpPr/>
          <p:nvPr/>
        </p:nvSpPr>
        <p:spPr>
          <a:xfrm>
            <a:off x="7452360" y="2916936"/>
            <a:ext cx="82296" cy="201168"/>
          </a:xfrm>
          <a:prstGeom prst="rect">
            <a:avLst/>
          </a:prstGeom>
          <a:solidFill>
            <a:srgbClr val="2E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71816" y="289864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HOW TO READ IT</a:t>
            </a:r>
          </a:p>
        </p:txBody>
      </p:sp>
      <p:sp>
        <p:nvSpPr>
          <p:cNvPr id="15" name="TextBox 14"/>
          <p:cNvSpPr txBox="1"/>
          <p:nvPr/>
        </p:nvSpPr>
        <p:spPr>
          <a:xfrm>
            <a:off x="7452360" y="320954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Compare the years for this channel. Click any point to open the schedules behind that month.</a:t>
            </a:r>
          </a:p>
        </p:txBody>
      </p:sp>
      <p:sp>
        <p:nvSpPr>
          <p:cNvPr id="16" name="Rectangle 15"/>
          <p:cNvSpPr/>
          <p:nvPr/>
        </p:nvSpPr>
        <p:spPr>
          <a:xfrm>
            <a:off x="7452360" y="3968496"/>
            <a:ext cx="82296" cy="201168"/>
          </a:xfrm>
          <a:prstGeom prst="rect">
            <a:avLst/>
          </a:prstGeom>
          <a:solidFill>
            <a:srgbClr val="8A9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71816" y="395020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DRIVES IT</a:t>
            </a:r>
          </a:p>
        </p:txBody>
      </p:sp>
      <p:sp>
        <p:nvSpPr>
          <p:cNvPr id="18" name="TextBox 17"/>
          <p:cNvSpPr txBox="1"/>
          <p:nvPr/>
        </p:nvSpPr>
        <p:spPr>
          <a:xfrm>
            <a:off x="7452360" y="426110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Schedule value on the selected channel, pivoted by year.</a:t>
            </a:r>
          </a:p>
        </p:txBody>
      </p:sp>
      <p:sp>
        <p:nvSpPr>
          <p:cNvPr id="19" name="Rectangle 18"/>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1" name="TextBox 20"/>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EVERY CHART EXPLAINED</a:t>
            </a:r>
          </a:p>
        </p:txBody>
      </p:sp>
      <p:sp>
        <p:nvSpPr>
          <p:cNvPr id="22" name="TextBox 21"/>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35 / 41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566928"/>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13232"/>
            <a:ext cx="10789920" cy="320040"/>
          </a:xfrm>
          <a:prstGeom prst="rect">
            <a:avLst/>
          </a:prstGeom>
          <a:noFill/>
        </p:spPr>
        <p:txBody>
          <a:bodyPr wrap="square" anchor="t" lIns="0" rIns="0" tIns="0" bIns="0">
            <a:spAutoFit/>
          </a:bodyPr>
          <a:lstStyle/>
          <a:p>
            <a:pPr algn="l">
              <a:lnSpc>
                <a:spcPct val="100000"/>
              </a:lnSpc>
              <a:spcBef>
                <a:spcPts val="0"/>
              </a:spcBef>
              <a:spcAft>
                <a:spcPts val="400"/>
              </a:spcAft>
            </a:pPr>
            <a:r>
              <a:rPr sz="1050" b="1" i="0" spc="160">
                <a:solidFill>
                  <a:srgbClr val="D9521C"/>
                </a:solidFill>
                <a:latin typeface="Hanken Grotesk"/>
              </a:rPr>
              <a:t>CHANNEL INTELLIGENCE  ·  CHART</a:t>
            </a:r>
          </a:p>
        </p:txBody>
      </p:sp>
      <p:sp>
        <p:nvSpPr>
          <p:cNvPr id="6" name="TextBox 5"/>
          <p:cNvSpPr txBox="1"/>
          <p:nvPr/>
        </p:nvSpPr>
        <p:spPr>
          <a:xfrm>
            <a:off x="548640" y="1024128"/>
            <a:ext cx="10881360" cy="548640"/>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16243C"/>
                </a:solidFill>
                <a:latin typeface="Hanken Grotesk"/>
              </a:rPr>
              <a:t>Spend by Agency Over Time</a:t>
            </a:r>
          </a:p>
        </p:txBody>
      </p:sp>
      <p:sp>
        <p:nvSpPr>
          <p:cNvPr id="7" name="Rounded Rectangle 6"/>
          <p:cNvSpPr/>
          <p:nvPr/>
        </p:nvSpPr>
        <p:spPr>
          <a:xfrm>
            <a:off x="621792" y="2812438"/>
            <a:ext cx="6537960" cy="2293826"/>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2739286"/>
            <a:ext cx="6537960" cy="2293826"/>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annel-01.png"/>
          <p:cNvPicPr>
            <a:picLocks noChangeAspect="1"/>
          </p:cNvPicPr>
          <p:nvPr/>
        </p:nvPicPr>
        <p:blipFill>
          <a:blip r:embed="rId2"/>
          <a:stretch>
            <a:fillRect/>
          </a:stretch>
        </p:blipFill>
        <p:spPr>
          <a:xfrm>
            <a:off x="566928" y="2739286"/>
            <a:ext cx="6537960" cy="2293826"/>
          </a:xfrm>
          <a:prstGeom prst="rect">
            <a:avLst/>
          </a:prstGeom>
          <a:ln w="12700">
            <a:solidFill>
              <a:srgbClr val="D6DBE3"/>
            </a:solidFill>
          </a:ln>
        </p:spPr>
      </p:pic>
      <p:sp>
        <p:nvSpPr>
          <p:cNvPr id="10" name="Rectangle 9"/>
          <p:cNvSpPr/>
          <p:nvPr/>
        </p:nvSpPr>
        <p:spPr>
          <a:xfrm>
            <a:off x="7452360" y="1865376"/>
            <a:ext cx="82296" cy="201168"/>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71816" y="184708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IT SHOWS</a:t>
            </a:r>
          </a:p>
        </p:txBody>
      </p:sp>
      <p:sp>
        <p:nvSpPr>
          <p:cNvPr id="12" name="TextBox 11"/>
          <p:cNvSpPr txBox="1"/>
          <p:nvPr/>
        </p:nvSpPr>
        <p:spPr>
          <a:xfrm>
            <a:off x="7452360" y="215798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Monthly spend on this channel, split by agency.</a:t>
            </a:r>
          </a:p>
        </p:txBody>
      </p:sp>
      <p:sp>
        <p:nvSpPr>
          <p:cNvPr id="13" name="Rectangle 12"/>
          <p:cNvSpPr/>
          <p:nvPr/>
        </p:nvSpPr>
        <p:spPr>
          <a:xfrm>
            <a:off x="7452360" y="2711196"/>
            <a:ext cx="82296" cy="201168"/>
          </a:xfrm>
          <a:prstGeom prst="rect">
            <a:avLst/>
          </a:prstGeom>
          <a:solidFill>
            <a:srgbClr val="2E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71816" y="269290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HOW TO READ IT</a:t>
            </a:r>
          </a:p>
        </p:txBody>
      </p:sp>
      <p:sp>
        <p:nvSpPr>
          <p:cNvPr id="15" name="TextBox 14"/>
          <p:cNvSpPr txBox="1"/>
          <p:nvPr/>
        </p:nvSpPr>
        <p:spPr>
          <a:xfrm>
            <a:off x="7452360" y="3003803"/>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See which agency drives this channel, and when their investment rises or falls.</a:t>
            </a:r>
          </a:p>
        </p:txBody>
      </p:sp>
      <p:sp>
        <p:nvSpPr>
          <p:cNvPr id="16" name="Rectangle 15"/>
          <p:cNvSpPr/>
          <p:nvPr/>
        </p:nvSpPr>
        <p:spPr>
          <a:xfrm>
            <a:off x="7452360" y="3762755"/>
            <a:ext cx="82296" cy="201168"/>
          </a:xfrm>
          <a:prstGeom prst="rect">
            <a:avLst/>
          </a:prstGeom>
          <a:solidFill>
            <a:srgbClr val="8A9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71816" y="374446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DRIVES IT</a:t>
            </a:r>
          </a:p>
        </p:txBody>
      </p:sp>
      <p:sp>
        <p:nvSpPr>
          <p:cNvPr id="18" name="TextBox 17"/>
          <p:cNvSpPr txBox="1"/>
          <p:nvPr/>
        </p:nvSpPr>
        <p:spPr>
          <a:xfrm>
            <a:off x="7452360" y="4055363"/>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Channel spend grouped by agency and month.</a:t>
            </a:r>
          </a:p>
        </p:txBody>
      </p:sp>
      <p:sp>
        <p:nvSpPr>
          <p:cNvPr id="19" name="Rectangle 18"/>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1" name="TextBox 20"/>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EVERY CHART EXPLAINED</a:t>
            </a:r>
          </a:p>
        </p:txBody>
      </p:sp>
      <p:sp>
        <p:nvSpPr>
          <p:cNvPr id="22" name="TextBox 21"/>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36 / 41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566928"/>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13232"/>
            <a:ext cx="10789920" cy="320040"/>
          </a:xfrm>
          <a:prstGeom prst="rect">
            <a:avLst/>
          </a:prstGeom>
          <a:noFill/>
        </p:spPr>
        <p:txBody>
          <a:bodyPr wrap="square" anchor="t" lIns="0" rIns="0" tIns="0" bIns="0">
            <a:spAutoFit/>
          </a:bodyPr>
          <a:lstStyle/>
          <a:p>
            <a:pPr algn="l">
              <a:lnSpc>
                <a:spcPct val="100000"/>
              </a:lnSpc>
              <a:spcBef>
                <a:spcPts val="0"/>
              </a:spcBef>
              <a:spcAft>
                <a:spcPts val="400"/>
              </a:spcAft>
            </a:pPr>
            <a:r>
              <a:rPr sz="1050" b="1" i="0" spc="160">
                <a:solidFill>
                  <a:srgbClr val="D9521C"/>
                </a:solidFill>
                <a:latin typeface="Hanken Grotesk"/>
              </a:rPr>
              <a:t>CHANNEL INTELLIGENCE  ·  CHART</a:t>
            </a:r>
          </a:p>
        </p:txBody>
      </p:sp>
      <p:sp>
        <p:nvSpPr>
          <p:cNvPr id="6" name="TextBox 5"/>
          <p:cNvSpPr txBox="1"/>
          <p:nvPr/>
        </p:nvSpPr>
        <p:spPr>
          <a:xfrm>
            <a:off x="548640" y="1024128"/>
            <a:ext cx="10881360" cy="548640"/>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16243C"/>
                </a:solidFill>
                <a:latin typeface="Hanken Grotesk"/>
              </a:rPr>
              <a:t>Client Spend Concentration</a:t>
            </a:r>
          </a:p>
        </p:txBody>
      </p:sp>
      <p:sp>
        <p:nvSpPr>
          <p:cNvPr id="7" name="Rounded Rectangle 6"/>
          <p:cNvSpPr/>
          <p:nvPr/>
        </p:nvSpPr>
        <p:spPr>
          <a:xfrm>
            <a:off x="621792" y="2757032"/>
            <a:ext cx="6537960" cy="2404639"/>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2683880"/>
            <a:ext cx="6537960" cy="2404639"/>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annel-02.png"/>
          <p:cNvPicPr>
            <a:picLocks noChangeAspect="1"/>
          </p:cNvPicPr>
          <p:nvPr/>
        </p:nvPicPr>
        <p:blipFill>
          <a:blip r:embed="rId2"/>
          <a:stretch>
            <a:fillRect/>
          </a:stretch>
        </p:blipFill>
        <p:spPr>
          <a:xfrm>
            <a:off x="566928" y="2683880"/>
            <a:ext cx="6537960" cy="2404639"/>
          </a:xfrm>
          <a:prstGeom prst="rect">
            <a:avLst/>
          </a:prstGeom>
          <a:ln w="12700">
            <a:solidFill>
              <a:srgbClr val="D6DBE3"/>
            </a:solidFill>
          </a:ln>
        </p:spPr>
      </p:pic>
      <p:sp>
        <p:nvSpPr>
          <p:cNvPr id="10" name="Rectangle 9"/>
          <p:cNvSpPr/>
          <p:nvPr/>
        </p:nvSpPr>
        <p:spPr>
          <a:xfrm>
            <a:off x="7452360" y="1865376"/>
            <a:ext cx="82296" cy="201168"/>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71816" y="184708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IT SHOWS</a:t>
            </a:r>
          </a:p>
        </p:txBody>
      </p:sp>
      <p:sp>
        <p:nvSpPr>
          <p:cNvPr id="12" name="TextBox 11"/>
          <p:cNvSpPr txBox="1"/>
          <p:nvPr/>
        </p:nvSpPr>
        <p:spPr>
          <a:xfrm>
            <a:off x="7452360" y="215798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A Pareto of the clients on this channel: bars plus a cumulative line and an 80 percent marker.</a:t>
            </a:r>
          </a:p>
        </p:txBody>
      </p:sp>
      <p:sp>
        <p:nvSpPr>
          <p:cNvPr id="13" name="Rectangle 12"/>
          <p:cNvSpPr/>
          <p:nvPr/>
        </p:nvSpPr>
        <p:spPr>
          <a:xfrm>
            <a:off x="7452360" y="2916936"/>
            <a:ext cx="82296" cy="201168"/>
          </a:xfrm>
          <a:prstGeom prst="rect">
            <a:avLst/>
          </a:prstGeom>
          <a:solidFill>
            <a:srgbClr val="2E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71816" y="289864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HOW TO READ IT</a:t>
            </a:r>
          </a:p>
        </p:txBody>
      </p:sp>
      <p:sp>
        <p:nvSpPr>
          <p:cNvPr id="15" name="TextBox 14"/>
          <p:cNvSpPr txBox="1"/>
          <p:nvPr/>
        </p:nvSpPr>
        <p:spPr>
          <a:xfrm>
            <a:off x="7452360" y="320954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See whether a handful of clients account for most of the channel's spend.</a:t>
            </a:r>
          </a:p>
        </p:txBody>
      </p:sp>
      <p:sp>
        <p:nvSpPr>
          <p:cNvPr id="16" name="Rectangle 15"/>
          <p:cNvSpPr/>
          <p:nvPr/>
        </p:nvSpPr>
        <p:spPr>
          <a:xfrm>
            <a:off x="7452360" y="3968496"/>
            <a:ext cx="82296" cy="201168"/>
          </a:xfrm>
          <a:prstGeom prst="rect">
            <a:avLst/>
          </a:prstGeom>
          <a:solidFill>
            <a:srgbClr val="8A9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71816" y="395020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DRIVES IT</a:t>
            </a:r>
          </a:p>
        </p:txBody>
      </p:sp>
      <p:sp>
        <p:nvSpPr>
          <p:cNvPr id="18" name="TextBox 17"/>
          <p:cNvSpPr txBox="1"/>
          <p:nvPr/>
        </p:nvSpPr>
        <p:spPr>
          <a:xfrm>
            <a:off x="7452360" y="426110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Per client spend on this channel, sorted high to low.</a:t>
            </a:r>
          </a:p>
        </p:txBody>
      </p:sp>
      <p:sp>
        <p:nvSpPr>
          <p:cNvPr id="19" name="Rectangle 18"/>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1" name="TextBox 20"/>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EVERY CHART EXPLAINED</a:t>
            </a:r>
          </a:p>
        </p:txBody>
      </p:sp>
      <p:sp>
        <p:nvSpPr>
          <p:cNvPr id="22" name="TextBox 21"/>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37 / 41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566928"/>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13232"/>
            <a:ext cx="10789920" cy="320040"/>
          </a:xfrm>
          <a:prstGeom prst="rect">
            <a:avLst/>
          </a:prstGeom>
          <a:noFill/>
        </p:spPr>
        <p:txBody>
          <a:bodyPr wrap="square" anchor="t" lIns="0" rIns="0" tIns="0" bIns="0">
            <a:spAutoFit/>
          </a:bodyPr>
          <a:lstStyle/>
          <a:p>
            <a:pPr algn="l">
              <a:lnSpc>
                <a:spcPct val="100000"/>
              </a:lnSpc>
              <a:spcBef>
                <a:spcPts val="0"/>
              </a:spcBef>
              <a:spcAft>
                <a:spcPts val="400"/>
              </a:spcAft>
            </a:pPr>
            <a:r>
              <a:rPr sz="1050" b="1" i="0" spc="160">
                <a:solidFill>
                  <a:srgbClr val="D9521C"/>
                </a:solidFill>
                <a:latin typeface="Hanken Grotesk"/>
              </a:rPr>
              <a:t>CLIENT DASHBOARD  ·  CHART</a:t>
            </a:r>
          </a:p>
        </p:txBody>
      </p:sp>
      <p:sp>
        <p:nvSpPr>
          <p:cNvPr id="6" name="TextBox 5"/>
          <p:cNvSpPr txBox="1"/>
          <p:nvPr/>
        </p:nvSpPr>
        <p:spPr>
          <a:xfrm>
            <a:off x="548640" y="1024128"/>
            <a:ext cx="10881360" cy="548640"/>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16243C"/>
                </a:solidFill>
                <a:latin typeface="Hanken Grotesk"/>
              </a:rPr>
              <a:t>Monthly Spend Trend</a:t>
            </a:r>
          </a:p>
        </p:txBody>
      </p:sp>
      <p:sp>
        <p:nvSpPr>
          <p:cNvPr id="7" name="Rounded Rectangle 6"/>
          <p:cNvSpPr/>
          <p:nvPr/>
        </p:nvSpPr>
        <p:spPr>
          <a:xfrm>
            <a:off x="621792" y="2812438"/>
            <a:ext cx="6537960" cy="2293826"/>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2739286"/>
            <a:ext cx="6537960" cy="2293826"/>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lient-00.png"/>
          <p:cNvPicPr>
            <a:picLocks noChangeAspect="1"/>
          </p:cNvPicPr>
          <p:nvPr/>
        </p:nvPicPr>
        <p:blipFill>
          <a:blip r:embed="rId2"/>
          <a:stretch>
            <a:fillRect/>
          </a:stretch>
        </p:blipFill>
        <p:spPr>
          <a:xfrm>
            <a:off x="566928" y="2739286"/>
            <a:ext cx="6537960" cy="2293826"/>
          </a:xfrm>
          <a:prstGeom prst="rect">
            <a:avLst/>
          </a:prstGeom>
          <a:ln w="12700">
            <a:solidFill>
              <a:srgbClr val="D6DBE3"/>
            </a:solidFill>
          </a:ln>
        </p:spPr>
      </p:pic>
      <p:sp>
        <p:nvSpPr>
          <p:cNvPr id="10" name="Rectangle 9"/>
          <p:cNvSpPr/>
          <p:nvPr/>
        </p:nvSpPr>
        <p:spPr>
          <a:xfrm>
            <a:off x="7452360" y="1865376"/>
            <a:ext cx="82296" cy="201168"/>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71816" y="184708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IT SHOWS</a:t>
            </a:r>
          </a:p>
        </p:txBody>
      </p:sp>
      <p:sp>
        <p:nvSpPr>
          <p:cNvPr id="12" name="TextBox 11"/>
          <p:cNvSpPr txBox="1"/>
          <p:nvPr/>
        </p:nvSpPr>
        <p:spPr>
          <a:xfrm>
            <a:off x="7452360" y="215798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This client's spend, one line per year on a Jan to Dec axis.</a:t>
            </a:r>
          </a:p>
        </p:txBody>
      </p:sp>
      <p:sp>
        <p:nvSpPr>
          <p:cNvPr id="13" name="Rectangle 12"/>
          <p:cNvSpPr/>
          <p:nvPr/>
        </p:nvSpPr>
        <p:spPr>
          <a:xfrm>
            <a:off x="7452360" y="2916936"/>
            <a:ext cx="82296" cy="201168"/>
          </a:xfrm>
          <a:prstGeom prst="rect">
            <a:avLst/>
          </a:prstGeom>
          <a:solidFill>
            <a:srgbClr val="2E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71816" y="289864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HOW TO READ IT</a:t>
            </a:r>
          </a:p>
        </p:txBody>
      </p:sp>
      <p:sp>
        <p:nvSpPr>
          <p:cNvPr id="15" name="TextBox 14"/>
          <p:cNvSpPr txBox="1"/>
          <p:nvPr/>
        </p:nvSpPr>
        <p:spPr>
          <a:xfrm>
            <a:off x="7452360" y="320954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Compare the client's years side by side to read growth or slowdown.</a:t>
            </a:r>
          </a:p>
        </p:txBody>
      </p:sp>
      <p:sp>
        <p:nvSpPr>
          <p:cNvPr id="16" name="Rectangle 15"/>
          <p:cNvSpPr/>
          <p:nvPr/>
        </p:nvSpPr>
        <p:spPr>
          <a:xfrm>
            <a:off x="7452360" y="3968496"/>
            <a:ext cx="82296" cy="201168"/>
          </a:xfrm>
          <a:prstGeom prst="rect">
            <a:avLst/>
          </a:prstGeom>
          <a:solidFill>
            <a:srgbClr val="8A9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71816" y="395020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DRIVES IT</a:t>
            </a:r>
          </a:p>
        </p:txBody>
      </p:sp>
      <p:sp>
        <p:nvSpPr>
          <p:cNvPr id="18" name="TextBox 17"/>
          <p:cNvSpPr txBox="1"/>
          <p:nvPr/>
        </p:nvSpPr>
        <p:spPr>
          <a:xfrm>
            <a:off x="7452360" y="426110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The client's schedule value by month.</a:t>
            </a:r>
          </a:p>
        </p:txBody>
      </p:sp>
      <p:sp>
        <p:nvSpPr>
          <p:cNvPr id="19" name="Rectangle 18"/>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1" name="TextBox 20"/>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EVERY CHART EXPLAINED</a:t>
            </a:r>
          </a:p>
        </p:txBody>
      </p:sp>
      <p:sp>
        <p:nvSpPr>
          <p:cNvPr id="22" name="TextBox 21"/>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38 / 41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566928"/>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13232"/>
            <a:ext cx="10789920" cy="320040"/>
          </a:xfrm>
          <a:prstGeom prst="rect">
            <a:avLst/>
          </a:prstGeom>
          <a:noFill/>
        </p:spPr>
        <p:txBody>
          <a:bodyPr wrap="square" anchor="t" lIns="0" rIns="0" tIns="0" bIns="0">
            <a:spAutoFit/>
          </a:bodyPr>
          <a:lstStyle/>
          <a:p>
            <a:pPr algn="l">
              <a:lnSpc>
                <a:spcPct val="100000"/>
              </a:lnSpc>
              <a:spcBef>
                <a:spcPts val="0"/>
              </a:spcBef>
              <a:spcAft>
                <a:spcPts val="400"/>
              </a:spcAft>
            </a:pPr>
            <a:r>
              <a:rPr sz="1050" b="1" i="0" spc="160">
                <a:solidFill>
                  <a:srgbClr val="D9521C"/>
                </a:solidFill>
                <a:latin typeface="Hanken Grotesk"/>
              </a:rPr>
              <a:t>CLIENT DASHBOARD  ·  CHART</a:t>
            </a:r>
          </a:p>
        </p:txBody>
      </p:sp>
      <p:sp>
        <p:nvSpPr>
          <p:cNvPr id="6" name="TextBox 5"/>
          <p:cNvSpPr txBox="1"/>
          <p:nvPr/>
        </p:nvSpPr>
        <p:spPr>
          <a:xfrm>
            <a:off x="548640" y="1024128"/>
            <a:ext cx="10881360" cy="548640"/>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16243C"/>
                </a:solidFill>
                <a:latin typeface="Hanken Grotesk"/>
              </a:rPr>
              <a:t>Spend by Channel</a:t>
            </a:r>
          </a:p>
        </p:txBody>
      </p:sp>
      <p:sp>
        <p:nvSpPr>
          <p:cNvPr id="7" name="Rounded Rectangle 6"/>
          <p:cNvSpPr/>
          <p:nvPr/>
        </p:nvSpPr>
        <p:spPr>
          <a:xfrm>
            <a:off x="621792" y="2183551"/>
            <a:ext cx="6537960" cy="3551600"/>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2110399"/>
            <a:ext cx="6537960" cy="3551600"/>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lient-01.png"/>
          <p:cNvPicPr>
            <a:picLocks noChangeAspect="1"/>
          </p:cNvPicPr>
          <p:nvPr/>
        </p:nvPicPr>
        <p:blipFill>
          <a:blip r:embed="rId2"/>
          <a:stretch>
            <a:fillRect/>
          </a:stretch>
        </p:blipFill>
        <p:spPr>
          <a:xfrm>
            <a:off x="566928" y="2110399"/>
            <a:ext cx="6537960" cy="3551600"/>
          </a:xfrm>
          <a:prstGeom prst="rect">
            <a:avLst/>
          </a:prstGeom>
          <a:ln w="12700">
            <a:solidFill>
              <a:srgbClr val="D6DBE3"/>
            </a:solidFill>
          </a:ln>
        </p:spPr>
      </p:pic>
      <p:sp>
        <p:nvSpPr>
          <p:cNvPr id="10" name="Rectangle 9"/>
          <p:cNvSpPr/>
          <p:nvPr/>
        </p:nvSpPr>
        <p:spPr>
          <a:xfrm>
            <a:off x="7452360" y="1865376"/>
            <a:ext cx="82296" cy="201168"/>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71816" y="184708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IT SHOWS</a:t>
            </a:r>
          </a:p>
        </p:txBody>
      </p:sp>
      <p:sp>
        <p:nvSpPr>
          <p:cNvPr id="12" name="TextBox 11"/>
          <p:cNvSpPr txBox="1"/>
          <p:nvPr/>
        </p:nvSpPr>
        <p:spPr>
          <a:xfrm>
            <a:off x="7452360" y="215798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The client's top channels, ranked by spend.</a:t>
            </a:r>
          </a:p>
        </p:txBody>
      </p:sp>
      <p:sp>
        <p:nvSpPr>
          <p:cNvPr id="13" name="Rectangle 12"/>
          <p:cNvSpPr/>
          <p:nvPr/>
        </p:nvSpPr>
        <p:spPr>
          <a:xfrm>
            <a:off x="7452360" y="2711196"/>
            <a:ext cx="82296" cy="201168"/>
          </a:xfrm>
          <a:prstGeom prst="rect">
            <a:avLst/>
          </a:prstGeom>
          <a:solidFill>
            <a:srgbClr val="2E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71816" y="269290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HOW TO READ IT</a:t>
            </a:r>
          </a:p>
        </p:txBody>
      </p:sp>
      <p:sp>
        <p:nvSpPr>
          <p:cNvPr id="15" name="TextBox 14"/>
          <p:cNvSpPr txBox="1"/>
          <p:nvPr/>
        </p:nvSpPr>
        <p:spPr>
          <a:xfrm>
            <a:off x="7452360" y="3003803"/>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The longest bar is where this client invests most of its budget.</a:t>
            </a:r>
          </a:p>
        </p:txBody>
      </p:sp>
      <p:sp>
        <p:nvSpPr>
          <p:cNvPr id="16" name="Rectangle 15"/>
          <p:cNvSpPr/>
          <p:nvPr/>
        </p:nvSpPr>
        <p:spPr>
          <a:xfrm>
            <a:off x="7452360" y="3762755"/>
            <a:ext cx="82296" cy="201168"/>
          </a:xfrm>
          <a:prstGeom prst="rect">
            <a:avLst/>
          </a:prstGeom>
          <a:solidFill>
            <a:srgbClr val="8A9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71816" y="374446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DRIVES IT</a:t>
            </a:r>
          </a:p>
        </p:txBody>
      </p:sp>
      <p:sp>
        <p:nvSpPr>
          <p:cNvPr id="18" name="TextBox 17"/>
          <p:cNvSpPr txBox="1"/>
          <p:nvPr/>
        </p:nvSpPr>
        <p:spPr>
          <a:xfrm>
            <a:off x="7452360" y="4055363"/>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The client's schedule value grouped by channel.</a:t>
            </a:r>
          </a:p>
        </p:txBody>
      </p:sp>
      <p:sp>
        <p:nvSpPr>
          <p:cNvPr id="19" name="Rectangle 18"/>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1" name="TextBox 20"/>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EVERY CHART EXPLAINED</a:t>
            </a:r>
          </a:p>
        </p:txBody>
      </p:sp>
      <p:sp>
        <p:nvSpPr>
          <p:cNvPr id="22" name="TextBox 21"/>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39 / 41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566928"/>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13232"/>
            <a:ext cx="10789920" cy="320040"/>
          </a:xfrm>
          <a:prstGeom prst="rect">
            <a:avLst/>
          </a:prstGeom>
          <a:noFill/>
        </p:spPr>
        <p:txBody>
          <a:bodyPr wrap="square" anchor="t" lIns="0" rIns="0" tIns="0" bIns="0">
            <a:spAutoFit/>
          </a:bodyPr>
          <a:lstStyle/>
          <a:p>
            <a:pPr algn="l">
              <a:lnSpc>
                <a:spcPct val="100000"/>
              </a:lnSpc>
              <a:spcBef>
                <a:spcPts val="0"/>
              </a:spcBef>
              <a:spcAft>
                <a:spcPts val="400"/>
              </a:spcAft>
            </a:pPr>
            <a:r>
              <a:rPr sz="1050" b="1" i="0" spc="160">
                <a:solidFill>
                  <a:srgbClr val="D9521C"/>
                </a:solidFill>
                <a:latin typeface="Hanken Grotesk"/>
              </a:rPr>
              <a:t>CLIENT DASHBOARD  ·  CHART</a:t>
            </a:r>
          </a:p>
        </p:txBody>
      </p:sp>
      <p:sp>
        <p:nvSpPr>
          <p:cNvPr id="6" name="TextBox 5"/>
          <p:cNvSpPr txBox="1"/>
          <p:nvPr/>
        </p:nvSpPr>
        <p:spPr>
          <a:xfrm>
            <a:off x="548640" y="1024128"/>
            <a:ext cx="10881360" cy="548640"/>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16243C"/>
                </a:solidFill>
                <a:latin typeface="Hanken Grotesk"/>
              </a:rPr>
              <a:t>Medium Split</a:t>
            </a:r>
          </a:p>
        </p:txBody>
      </p:sp>
      <p:sp>
        <p:nvSpPr>
          <p:cNvPr id="7" name="Rounded Rectangle 6"/>
          <p:cNvSpPr/>
          <p:nvPr/>
        </p:nvSpPr>
        <p:spPr>
          <a:xfrm>
            <a:off x="621792" y="1879091"/>
            <a:ext cx="5109604" cy="4160520"/>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1805939"/>
            <a:ext cx="5109604" cy="4160520"/>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lient-02.png"/>
          <p:cNvPicPr>
            <a:picLocks noChangeAspect="1"/>
          </p:cNvPicPr>
          <p:nvPr/>
        </p:nvPicPr>
        <p:blipFill>
          <a:blip r:embed="rId2"/>
          <a:stretch>
            <a:fillRect/>
          </a:stretch>
        </p:blipFill>
        <p:spPr>
          <a:xfrm>
            <a:off x="566928" y="1805939"/>
            <a:ext cx="5109604" cy="4160520"/>
          </a:xfrm>
          <a:prstGeom prst="rect">
            <a:avLst/>
          </a:prstGeom>
          <a:ln w="12700">
            <a:solidFill>
              <a:srgbClr val="D6DBE3"/>
            </a:solidFill>
          </a:ln>
        </p:spPr>
      </p:pic>
      <p:sp>
        <p:nvSpPr>
          <p:cNvPr id="10" name="Rectangle 9"/>
          <p:cNvSpPr/>
          <p:nvPr/>
        </p:nvSpPr>
        <p:spPr>
          <a:xfrm>
            <a:off x="7452360" y="1865376"/>
            <a:ext cx="82296" cy="201168"/>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71816" y="184708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IT SHOWS</a:t>
            </a:r>
          </a:p>
        </p:txBody>
      </p:sp>
      <p:sp>
        <p:nvSpPr>
          <p:cNvPr id="12" name="TextBox 11"/>
          <p:cNvSpPr txBox="1"/>
          <p:nvPr/>
        </p:nvSpPr>
        <p:spPr>
          <a:xfrm>
            <a:off x="7452360" y="2157984"/>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A donut of this client's spend by medium.</a:t>
            </a:r>
          </a:p>
        </p:txBody>
      </p:sp>
      <p:sp>
        <p:nvSpPr>
          <p:cNvPr id="13" name="Rectangle 12"/>
          <p:cNvSpPr/>
          <p:nvPr/>
        </p:nvSpPr>
        <p:spPr>
          <a:xfrm>
            <a:off x="7452360" y="2711196"/>
            <a:ext cx="82296" cy="201168"/>
          </a:xfrm>
          <a:prstGeom prst="rect">
            <a:avLst/>
          </a:prstGeom>
          <a:solidFill>
            <a:srgbClr val="2E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71816" y="269290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HOW TO READ IT</a:t>
            </a:r>
          </a:p>
        </p:txBody>
      </p:sp>
      <p:sp>
        <p:nvSpPr>
          <p:cNvPr id="15" name="TextBox 14"/>
          <p:cNvSpPr txBox="1"/>
          <p:nvPr/>
        </p:nvSpPr>
        <p:spPr>
          <a:xfrm>
            <a:off x="7452360" y="3003803"/>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The ring shows how the client balances TV, Radio, Print and Digital.</a:t>
            </a:r>
          </a:p>
        </p:txBody>
      </p:sp>
      <p:sp>
        <p:nvSpPr>
          <p:cNvPr id="16" name="Rectangle 15"/>
          <p:cNvSpPr/>
          <p:nvPr/>
        </p:nvSpPr>
        <p:spPr>
          <a:xfrm>
            <a:off x="7452360" y="3762755"/>
            <a:ext cx="82296" cy="201168"/>
          </a:xfrm>
          <a:prstGeom prst="rect">
            <a:avLst/>
          </a:prstGeom>
          <a:solidFill>
            <a:srgbClr val="8A9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71816" y="3744468"/>
            <a:ext cx="3941063"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1" i="0" spc="90">
                <a:solidFill>
                  <a:srgbClr val="16243C"/>
                </a:solidFill>
                <a:latin typeface="Hanken Grotesk"/>
              </a:rPr>
              <a:t>WHAT DRIVES IT</a:t>
            </a:r>
          </a:p>
        </p:txBody>
      </p:sp>
      <p:sp>
        <p:nvSpPr>
          <p:cNvPr id="18" name="TextBox 17"/>
          <p:cNvSpPr txBox="1"/>
          <p:nvPr/>
        </p:nvSpPr>
        <p:spPr>
          <a:xfrm>
            <a:off x="7452360" y="4055363"/>
            <a:ext cx="4160520" cy="1463040"/>
          </a:xfrm>
          <a:prstGeom prst="rect">
            <a:avLst/>
          </a:prstGeom>
          <a:noFill/>
        </p:spPr>
        <p:txBody>
          <a:bodyPr wrap="square" anchor="t" lIns="0" rIns="0" tIns="0" bIns="0">
            <a:spAutoFit/>
          </a:bodyPr>
          <a:lstStyle/>
          <a:p>
            <a:pPr algn="l">
              <a:lnSpc>
                <a:spcPct val="116000"/>
              </a:lnSpc>
              <a:spcBef>
                <a:spcPts val="0"/>
              </a:spcBef>
              <a:spcAft>
                <a:spcPts val="400"/>
              </a:spcAft>
            </a:pPr>
            <a:r>
              <a:rPr sz="1200" b="0" i="0">
                <a:solidFill>
                  <a:srgbClr val="3B4A63"/>
                </a:solidFill>
                <a:latin typeface="Hanken Grotesk"/>
              </a:rPr>
              <a:t>The client's schedule value grouped by medium.</a:t>
            </a:r>
          </a:p>
        </p:txBody>
      </p:sp>
      <p:sp>
        <p:nvSpPr>
          <p:cNvPr id="19" name="Rectangle 18"/>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Manager Guide</a:t>
            </a:r>
          </a:p>
        </p:txBody>
      </p:sp>
      <p:sp>
        <p:nvSpPr>
          <p:cNvPr id="21" name="TextBox 20"/>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EVERY CHART EXPLAINED</a:t>
            </a:r>
          </a:p>
        </p:txBody>
      </p:sp>
      <p:sp>
        <p:nvSpPr>
          <p:cNvPr id="22" name="TextBox 21"/>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40 / 41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7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522976" y="1444752"/>
            <a:ext cx="1133856" cy="1133856"/>
          </a:xfrm>
          <a:prstGeom prst="ellipse">
            <a:avLst/>
          </a:prstGeom>
          <a:noFill/>
          <a:ln w="12700">
            <a:solidFill>
              <a:srgbClr val="3A4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738408" y="1660184"/>
            <a:ext cx="702990" cy="702990"/>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38408" y="1641896"/>
            <a:ext cx="702990" cy="702990"/>
          </a:xfrm>
          <a:prstGeom prst="rect">
            <a:avLst/>
          </a:prstGeom>
          <a:noFill/>
        </p:spPr>
        <p:txBody>
          <a:bodyPr wrap="square" anchor="ctr" lIns="0" rIns="0" tIns="0" bIns="0">
            <a:spAutoFit/>
          </a:bodyPr>
          <a:lstStyle/>
          <a:p>
            <a:pPr algn="ctr">
              <a:lnSpc>
                <a:spcPct val="100000"/>
              </a:lnSpc>
              <a:spcBef>
                <a:spcPts val="0"/>
              </a:spcBef>
              <a:spcAft>
                <a:spcPts val="400"/>
              </a:spcAft>
            </a:pPr>
            <a:r>
              <a:rPr sz="1500" b="1" i="0">
                <a:solidFill>
                  <a:srgbClr val="FFFFFF"/>
                </a:solidFill>
                <a:latin typeface="Hanken Grotesk"/>
              </a:rPr>
              <a:t>O</a:t>
            </a:r>
          </a:p>
        </p:txBody>
      </p:sp>
      <p:sp>
        <p:nvSpPr>
          <p:cNvPr id="6" name="Oval 5"/>
          <p:cNvSpPr/>
          <p:nvPr/>
        </p:nvSpPr>
        <p:spPr>
          <a:xfrm>
            <a:off x="6441399" y="1478767"/>
            <a:ext cx="181416" cy="181416"/>
          </a:xfrm>
          <a:prstGeom prst="ellipse">
            <a:avLst/>
          </a:prstGeom>
          <a:solidFill>
            <a:srgbClr val="F07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118250" y="2442545"/>
            <a:ext cx="113385" cy="113385"/>
          </a:xfrm>
          <a:prstGeom prst="ellipse">
            <a:avLst/>
          </a:prstGeom>
          <a:solidFill>
            <a:srgbClr val="6E8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3063240"/>
            <a:ext cx="11091672" cy="822960"/>
          </a:xfrm>
          <a:prstGeom prst="rect">
            <a:avLst/>
          </a:prstGeom>
          <a:noFill/>
        </p:spPr>
        <p:txBody>
          <a:bodyPr wrap="square" anchor="t" lIns="0" rIns="0" tIns="0" bIns="0">
            <a:spAutoFit/>
          </a:bodyPr>
          <a:lstStyle/>
          <a:p>
            <a:pPr algn="ctr">
              <a:lnSpc>
                <a:spcPct val="100000"/>
              </a:lnSpc>
              <a:spcBef>
                <a:spcPts val="0"/>
              </a:spcBef>
              <a:spcAft>
                <a:spcPts val="400"/>
              </a:spcAft>
            </a:pPr>
            <a:r>
              <a:rPr sz="3400" b="1" i="0">
                <a:solidFill>
                  <a:srgbClr val="FFFFFF"/>
                </a:solidFill>
                <a:latin typeface="Hanken Grotesk"/>
              </a:rPr>
              <a:t>Now every chart tells you something.</a:t>
            </a:r>
          </a:p>
        </p:txBody>
      </p:sp>
      <p:sp>
        <p:nvSpPr>
          <p:cNvPr id="9" name="TextBox 8"/>
          <p:cNvSpPr txBox="1"/>
          <p:nvPr/>
        </p:nvSpPr>
        <p:spPr>
          <a:xfrm>
            <a:off x="1188720" y="4069080"/>
            <a:ext cx="9811512" cy="822960"/>
          </a:xfrm>
          <a:prstGeom prst="rect">
            <a:avLst/>
          </a:prstGeom>
          <a:noFill/>
        </p:spPr>
        <p:txBody>
          <a:bodyPr wrap="square" anchor="t" lIns="0" rIns="0" tIns="0" bIns="0">
            <a:spAutoFit/>
          </a:bodyPr>
          <a:lstStyle/>
          <a:p>
            <a:pPr algn="ctr">
              <a:lnSpc>
                <a:spcPct val="125000"/>
              </a:lnSpc>
              <a:spcBef>
                <a:spcPts val="0"/>
              </a:spcBef>
              <a:spcAft>
                <a:spcPts val="400"/>
              </a:spcAft>
            </a:pPr>
            <a:r>
              <a:rPr sz="1450" b="0" i="0">
                <a:solidFill>
                  <a:srgbClr val="9FB0CE"/>
                </a:solidFill>
                <a:latin typeface="Hanken Grotesk"/>
              </a:rPr>
              <a:t>Open the Executive Dashboard, read the trend, split and ranking on each screen, and export a report whenever leadership asks. The data is always live and always yours to review.</a:t>
            </a:r>
          </a:p>
        </p:txBody>
      </p:sp>
      <p:sp>
        <p:nvSpPr>
          <p:cNvPr id="10" name="Rectangle 9"/>
          <p:cNvSpPr/>
          <p:nvPr/>
        </p:nvSpPr>
        <p:spPr>
          <a:xfrm>
            <a:off x="5394960" y="5257800"/>
            <a:ext cx="1399032" cy="2743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5440680"/>
            <a:ext cx="11091672" cy="457200"/>
          </a:xfrm>
          <a:prstGeom prst="rect">
            <a:avLst/>
          </a:prstGeom>
          <a:noFill/>
        </p:spPr>
        <p:txBody>
          <a:bodyPr wrap="square" anchor="t" lIns="0" rIns="0" tIns="0" bIns="0">
            <a:spAutoFit/>
          </a:bodyPr>
          <a:lstStyle/>
          <a:p>
            <a:pPr algn="ctr">
              <a:lnSpc>
                <a:spcPct val="100000"/>
              </a:lnSpc>
              <a:spcBef>
                <a:spcPts val="0"/>
              </a:spcBef>
              <a:spcAft>
                <a:spcPts val="400"/>
              </a:spcAft>
            </a:pPr>
            <a:r>
              <a:rPr sz="1200" b="0" i="0">
                <a:solidFill>
                  <a:srgbClr val="9AA6BC"/>
                </a:solidFill>
                <a:latin typeface="Hanken Grotesk"/>
              </a:rPr>
              <a:t>Questions on any screen reach the media team through your admin.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