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2011680"/>
            <a:ext cx="5486400" cy="5486400"/>
          </a:xfrm>
          <a:prstGeom prst="ellipse">
            <a:avLst/>
          </a:prstGeom>
          <a:solidFill>
            <a:srgbClr val="1E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 y="1124712"/>
            <a:ext cx="950976" cy="950976"/>
          </a:xfrm>
          <a:prstGeom prst="ellipse">
            <a:avLst/>
          </a:prstGeom>
          <a:noFill/>
          <a:ln w="12700">
            <a:solidFill>
              <a:srgbClr val="3A4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2517" y="1305397"/>
            <a:ext cx="589605" cy="589605"/>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2517" y="1287109"/>
            <a:ext cx="589605" cy="589605"/>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Hanken Grotesk"/>
              </a:rPr>
              <a:t>O</a:t>
            </a:r>
          </a:p>
        </p:txBody>
      </p:sp>
      <p:sp>
        <p:nvSpPr>
          <p:cNvPr id="7" name="Oval 6"/>
          <p:cNvSpPr/>
          <p:nvPr/>
        </p:nvSpPr>
        <p:spPr>
          <a:xfrm>
            <a:off x="1712122" y="1153241"/>
            <a:ext cx="152156" cy="152156"/>
          </a:xfrm>
          <a:prstGeom prst="ellipse">
            <a:avLst/>
          </a:prstGeom>
          <a:solidFill>
            <a:srgbClr val="F07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41094" y="1961570"/>
            <a:ext cx="95097" cy="95097"/>
          </a:xfrm>
          <a:prstGeom prst="ellipse">
            <a:avLst/>
          </a:prstGeom>
          <a:solidFill>
            <a:srgbClr val="6E8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40" y="1170432"/>
            <a:ext cx="731520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spc="260">
                <a:solidFill>
                  <a:srgbClr val="9AA6BC"/>
                </a:solidFill>
                <a:latin typeface="Hanken Grotesk"/>
              </a:rPr>
              <a:t>OGILVY MEDIA</a:t>
            </a:r>
          </a:p>
        </p:txBody>
      </p:sp>
      <p:sp>
        <p:nvSpPr>
          <p:cNvPr id="10" name="TextBox 9"/>
          <p:cNvSpPr txBox="1"/>
          <p:nvPr/>
        </p:nvSpPr>
        <p:spPr>
          <a:xfrm>
            <a:off x="2121408" y="1481328"/>
            <a:ext cx="8229600" cy="914400"/>
          </a:xfrm>
          <a:prstGeom prst="rect">
            <a:avLst/>
          </a:prstGeom>
          <a:noFill/>
        </p:spPr>
        <p:txBody>
          <a:bodyPr wrap="square" anchor="t" lIns="0" rIns="0" tIns="0" bIns="0">
            <a:spAutoFit/>
          </a:bodyPr>
          <a:lstStyle/>
          <a:p>
            <a:pPr algn="l">
              <a:lnSpc>
                <a:spcPct val="100000"/>
              </a:lnSpc>
              <a:spcBef>
                <a:spcPts val="0"/>
              </a:spcBef>
              <a:spcAft>
                <a:spcPts val="400"/>
              </a:spcAft>
            </a:pPr>
            <a:r>
              <a:rPr sz="4000" b="1" i="0">
                <a:solidFill>
                  <a:srgbClr val="FFFFFF"/>
                </a:solidFill>
                <a:latin typeface="Hanken Grotesk"/>
              </a:rPr>
              <a:t>Ogilvy </a:t>
            </a:r>
            <a:r>
              <a:rPr sz="4000" b="1" i="1">
                <a:solidFill>
                  <a:srgbClr val="F0703F"/>
                </a:solidFill>
                <a:latin typeface="Newsreader"/>
              </a:rPr>
              <a:t>Orbit</a:t>
            </a:r>
          </a:p>
        </p:txBody>
      </p:sp>
      <p:sp>
        <p:nvSpPr>
          <p:cNvPr id="11" name="TextBox 10"/>
          <p:cNvSpPr txBox="1"/>
          <p:nvPr/>
        </p:nvSpPr>
        <p:spPr>
          <a:xfrm>
            <a:off x="566928" y="3154680"/>
            <a:ext cx="10881360" cy="1828800"/>
          </a:xfrm>
          <a:prstGeom prst="rect">
            <a:avLst/>
          </a:prstGeom>
          <a:noFill/>
        </p:spPr>
        <p:txBody>
          <a:bodyPr wrap="square" anchor="t" lIns="0" rIns="0" tIns="0" bIns="0">
            <a:spAutoFit/>
          </a:bodyPr>
          <a:lstStyle/>
          <a:p>
            <a:pPr algn="l">
              <a:lnSpc>
                <a:spcPct val="106000"/>
              </a:lnSpc>
              <a:spcBef>
                <a:spcPts val="0"/>
              </a:spcBef>
              <a:spcAft>
                <a:spcPts val="400"/>
              </a:spcAft>
            </a:pPr>
            <a:r>
              <a:rPr sz="3300" b="1" i="0">
                <a:solidFill>
                  <a:srgbClr val="FFFFFF"/>
                </a:solidFill>
                <a:latin typeface="Hanken Grotesk"/>
              </a:rPr>
              <a:t>The Media Buying Records System,</a:t>
            </a:r>
          </a:p>
          <a:p>
            <a:pPr algn="l">
              <a:lnSpc>
                <a:spcPct val="106000"/>
              </a:lnSpc>
              <a:spcBef>
                <a:spcPts val="0"/>
              </a:spcBef>
              <a:spcAft>
                <a:spcPts val="400"/>
              </a:spcAft>
            </a:pPr>
            <a:r>
              <a:rPr sz="3300" b="1" i="0">
                <a:solidFill>
                  <a:srgbClr val="B9C6DE"/>
                </a:solidFill>
                <a:latin typeface="Hanken Grotesk"/>
              </a:rPr>
              <a:t>explained for Managers.</a:t>
            </a:r>
          </a:p>
        </p:txBody>
      </p:sp>
      <p:sp>
        <p:nvSpPr>
          <p:cNvPr id="12" name="TextBox 11"/>
          <p:cNvSpPr txBox="1"/>
          <p:nvPr/>
        </p:nvSpPr>
        <p:spPr>
          <a:xfrm>
            <a:off x="603504" y="4937760"/>
            <a:ext cx="10332720" cy="822960"/>
          </a:xfrm>
          <a:prstGeom prst="rect">
            <a:avLst/>
          </a:prstGeom>
          <a:noFill/>
        </p:spPr>
        <p:txBody>
          <a:bodyPr wrap="square" anchor="t" lIns="0" rIns="0" tIns="0" bIns="0">
            <a:spAutoFit/>
          </a:bodyPr>
          <a:lstStyle/>
          <a:p>
            <a:pPr algn="l">
              <a:lnSpc>
                <a:spcPct val="120000"/>
              </a:lnSpc>
              <a:spcBef>
                <a:spcPts val="0"/>
              </a:spcBef>
              <a:spcAft>
                <a:spcPts val="400"/>
              </a:spcAft>
            </a:pPr>
            <a:r>
              <a:rPr sz="1450" b="0" i="0">
                <a:solidFill>
                  <a:srgbClr val="9FB0CE"/>
                </a:solidFill>
                <a:latin typeface="Hanken Grotesk"/>
              </a:rPr>
              <a:t>A read-only tour of the analytics you oversee, with every chart on every screen explained: what it shows, how to read it, and what data drives it.</a:t>
            </a:r>
          </a:p>
        </p:txBody>
      </p:sp>
      <p:sp>
        <p:nvSpPr>
          <p:cNvPr id="13" name="Rectangle 12"/>
          <p:cNvSpPr/>
          <p:nvPr/>
        </p:nvSpPr>
        <p:spPr>
          <a:xfrm>
            <a:off x="603504" y="5943600"/>
            <a:ext cx="457200" cy="2743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6080760"/>
            <a:ext cx="10058400" cy="365760"/>
          </a:xfrm>
          <a:prstGeom prst="rect">
            <a:avLst/>
          </a:prstGeom>
          <a:noFill/>
        </p:spPr>
        <p:txBody>
          <a:bodyPr wrap="square" anchor="t" lIns="0" rIns="0" tIns="0" bIns="0">
            <a:spAutoFit/>
          </a:bodyPr>
          <a:lstStyle/>
          <a:p>
            <a:pPr algn="l">
              <a:lnSpc>
                <a:spcPct val="100000"/>
              </a:lnSpc>
              <a:spcBef>
                <a:spcPts val="0"/>
              </a:spcBef>
              <a:spcAft>
                <a:spcPts val="400"/>
              </a:spcAft>
            </a:pPr>
            <a:r>
              <a:rPr sz="1150" b="0" i="0">
                <a:solidFill>
                  <a:srgbClr val="9AA6BC"/>
                </a:solidFill>
                <a:latin typeface="Hanken Grotesk"/>
              </a:rPr>
              <a:t>Prepared for the Managers team</a:t>
            </a:r>
            <a:r>
              <a:rPr sz="1150" b="0" i="0">
                <a:solidFill>
                  <a:srgbClr val="9AA6BC"/>
                </a:solidFill>
                <a:latin typeface="Spline Sans Mono"/>
              </a:rPr>
              <a: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48840"/>
            <a:ext cx="2743200" cy="1280160"/>
          </a:xfrm>
          <a:prstGeom prst="rect">
            <a:avLst/>
          </a:prstGeom>
          <a:noFill/>
        </p:spPr>
        <p:txBody>
          <a:bodyPr wrap="square" anchor="t" lIns="0" rIns="0" tIns="0" bIns="0">
            <a:spAutoFit/>
          </a:bodyPr>
          <a:lstStyle/>
          <a:p>
            <a:pPr algn="l">
              <a:lnSpc>
                <a:spcPct val="100000"/>
              </a:lnSpc>
              <a:spcBef>
                <a:spcPts val="0"/>
              </a:spcBef>
              <a:spcAft>
                <a:spcPts val="400"/>
              </a:spcAft>
            </a:pPr>
            <a:r>
              <a:rPr sz="9200" b="1" i="1">
                <a:solidFill>
                  <a:srgbClr val="243452"/>
                </a:solidFill>
                <a:latin typeface="Newsreader"/>
              </a:rPr>
              <a:t>01</a:t>
            </a:r>
          </a:p>
        </p:txBody>
      </p:sp>
      <p:sp>
        <p:nvSpPr>
          <p:cNvPr id="5" name="TextBox 4"/>
          <p:cNvSpPr txBox="1"/>
          <p:nvPr/>
        </p:nvSpPr>
        <p:spPr>
          <a:xfrm>
            <a:off x="2514600" y="2240280"/>
            <a:ext cx="868680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spc="240">
                <a:solidFill>
                  <a:srgbClr val="F0703F"/>
                </a:solidFill>
                <a:latin typeface="Hanken Grotesk"/>
              </a:rPr>
              <a:t>THE MANAGER'S VIEW</a:t>
            </a:r>
          </a:p>
        </p:txBody>
      </p:sp>
      <p:sp>
        <p:nvSpPr>
          <p:cNvPr id="6" name="TextBox 5"/>
          <p:cNvSpPr txBox="1"/>
          <p:nvPr/>
        </p:nvSpPr>
        <p:spPr>
          <a:xfrm>
            <a:off x="2487168" y="2651760"/>
            <a:ext cx="8869680" cy="1280160"/>
          </a:xfrm>
          <a:prstGeom prst="rect">
            <a:avLst/>
          </a:prstGeom>
          <a:noFill/>
        </p:spPr>
        <p:txBody>
          <a:bodyPr wrap="square" anchor="t" lIns="0" rIns="0" tIns="0" bIns="0">
            <a:spAutoFit/>
          </a:bodyPr>
          <a:lstStyle/>
          <a:p>
            <a:pPr algn="l">
              <a:lnSpc>
                <a:spcPct val="102000"/>
              </a:lnSpc>
              <a:spcBef>
                <a:spcPts val="0"/>
              </a:spcBef>
              <a:spcAft>
                <a:spcPts val="400"/>
              </a:spcAft>
            </a:pPr>
            <a:r>
              <a:rPr sz="4000" b="1" i="0">
                <a:solidFill>
                  <a:srgbClr val="FFFFFF"/>
                </a:solidFill>
                <a:latin typeface="Hanken Grotesk"/>
              </a:rPr>
              <a:t>Oversight, without
the spreadsheets</a:t>
            </a:r>
          </a:p>
        </p:txBody>
      </p:sp>
      <p:sp>
        <p:nvSpPr>
          <p:cNvPr id="7" name="TextBox 6"/>
          <p:cNvSpPr txBox="1"/>
          <p:nvPr/>
        </p:nvSpPr>
        <p:spPr>
          <a:xfrm>
            <a:off x="2514600" y="3977639"/>
            <a:ext cx="7955279" cy="914400"/>
          </a:xfrm>
          <a:prstGeom prst="rect">
            <a:avLst/>
          </a:prstGeom>
          <a:noFill/>
        </p:spPr>
        <p:txBody>
          <a:bodyPr wrap="square" anchor="t" lIns="0" rIns="0" tIns="0" bIns="0">
            <a:spAutoFit/>
          </a:bodyPr>
          <a:lstStyle/>
          <a:p>
            <a:pPr algn="l">
              <a:lnSpc>
                <a:spcPct val="120000"/>
              </a:lnSpc>
              <a:spcBef>
                <a:spcPts val="0"/>
              </a:spcBef>
              <a:spcAft>
                <a:spcPts val="400"/>
              </a:spcAft>
            </a:pPr>
            <a:r>
              <a:rPr sz="1450" b="0" i="0">
                <a:solidFill>
                  <a:srgbClr val="9FB0CE"/>
                </a:solidFill>
                <a:latin typeface="Hanken Grotesk"/>
              </a:rPr>
              <a:t>Orbit gives you a live, read only window into billings and performance across every agency you own.</a:t>
            </a:r>
          </a:p>
        </p:txBody>
      </p:sp>
      <p:sp>
        <p:nvSpPr>
          <p:cNvPr id="8" name="Oval 7"/>
          <p:cNvSpPr/>
          <p:nvPr/>
        </p:nvSpPr>
        <p:spPr>
          <a:xfrm>
            <a:off x="10981944" y="466344"/>
            <a:ext cx="621792" cy="621792"/>
          </a:xfrm>
          <a:prstGeom prst="ellipse">
            <a:avLst/>
          </a:prstGeom>
          <a:noFill/>
          <a:ln w="12700">
            <a:solidFill>
              <a:srgbClr val="3A4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100084" y="584484"/>
            <a:ext cx="385511" cy="385511"/>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0084" y="566196"/>
            <a:ext cx="385511" cy="385511"/>
          </a:xfrm>
          <a:prstGeom prst="rect">
            <a:avLst/>
          </a:prstGeom>
          <a:noFill/>
        </p:spPr>
        <p:txBody>
          <a:bodyPr wrap="square" anchor="ctr" lIns="0" rIns="0" tIns="0" bIns="0">
            <a:spAutoFit/>
          </a:bodyPr>
          <a:lstStyle/>
          <a:p>
            <a:pPr algn="ctr">
              <a:lnSpc>
                <a:spcPct val="100000"/>
              </a:lnSpc>
              <a:spcBef>
                <a:spcPts val="0"/>
              </a:spcBef>
              <a:spcAft>
                <a:spcPts val="400"/>
              </a:spcAft>
            </a:pPr>
            <a:r>
              <a:rPr sz="800" b="1" i="0">
                <a:solidFill>
                  <a:srgbClr val="FFFFFF"/>
                </a:solidFill>
                <a:latin typeface="Hanken Grotesk"/>
              </a:rPr>
              <a:t>O</a:t>
            </a:r>
          </a:p>
        </p:txBody>
      </p:sp>
      <p:sp>
        <p:nvSpPr>
          <p:cNvPr id="11" name="Oval 10"/>
          <p:cNvSpPr/>
          <p:nvPr/>
        </p:nvSpPr>
        <p:spPr>
          <a:xfrm>
            <a:off x="11485595" y="484997"/>
            <a:ext cx="99486" cy="99486"/>
          </a:xfrm>
          <a:prstGeom prst="ellipse">
            <a:avLst/>
          </a:prstGeom>
          <a:solidFill>
            <a:srgbClr val="F07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308384" y="1013520"/>
            <a:ext cx="62179" cy="62179"/>
          </a:xfrm>
          <a:prstGeom prst="ellipse">
            <a:avLst/>
          </a:prstGeom>
          <a:solidFill>
            <a:srgbClr val="6E8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640080"/>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786384"/>
            <a:ext cx="1005840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spc="180">
                <a:solidFill>
                  <a:srgbClr val="D9521C"/>
                </a:solidFill>
                <a:latin typeface="Hanken Grotesk"/>
              </a:rPr>
              <a:t>THE BIG PICTURE</a:t>
            </a:r>
          </a:p>
        </p:txBody>
      </p:sp>
      <p:sp>
        <p:nvSpPr>
          <p:cNvPr id="5" name="TextBox 4"/>
          <p:cNvSpPr txBox="1"/>
          <p:nvPr/>
        </p:nvSpPr>
        <p:spPr>
          <a:xfrm>
            <a:off x="548640" y="1097280"/>
            <a:ext cx="1078992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6243C"/>
                </a:solidFill>
                <a:latin typeface="Hanken Grotesk"/>
              </a:rPr>
              <a:t>One console for oversight</a:t>
            </a:r>
          </a:p>
        </p:txBody>
      </p:sp>
      <p:sp>
        <p:nvSpPr>
          <p:cNvPr id="6" name="TextBox 5"/>
          <p:cNvSpPr txBox="1"/>
          <p:nvPr/>
        </p:nvSpPr>
        <p:spPr>
          <a:xfrm>
            <a:off x="566928" y="1783080"/>
            <a:ext cx="10607040" cy="548640"/>
          </a:xfrm>
          <a:prstGeom prst="rect">
            <a:avLst/>
          </a:prstGeom>
          <a:noFill/>
        </p:spPr>
        <p:txBody>
          <a:bodyPr wrap="square" anchor="t" lIns="0" rIns="0" tIns="0" bIns="0">
            <a:spAutoFit/>
          </a:bodyPr>
          <a:lstStyle/>
          <a:p>
            <a:pPr algn="l">
              <a:lnSpc>
                <a:spcPct val="120000"/>
              </a:lnSpc>
              <a:spcBef>
                <a:spcPts val="0"/>
              </a:spcBef>
              <a:spcAft>
                <a:spcPts val="400"/>
              </a:spcAft>
            </a:pPr>
            <a:r>
              <a:rPr sz="1400" b="0" i="0">
                <a:solidFill>
                  <a:srgbClr val="3B4A63"/>
                </a:solidFill>
                <a:latin typeface="Hanken Grotesk"/>
              </a:rPr>
              <a:t>As a Manager you do not enter data. You review it, across agencies, the moment it lands.</a:t>
            </a:r>
          </a:p>
        </p:txBody>
      </p:sp>
      <p:sp>
        <p:nvSpPr>
          <p:cNvPr id="7" name="Rounded Rectangle 6"/>
          <p:cNvSpPr/>
          <p:nvPr/>
        </p:nvSpPr>
        <p:spPr>
          <a:xfrm>
            <a:off x="566928" y="2697480"/>
            <a:ext cx="3444239" cy="3108960"/>
          </a:xfrm>
          <a:prstGeom prst="roundRect">
            <a:avLst>
              <a:gd name="adj" fmla="val 4000"/>
            </a:avLst>
          </a:prstGeom>
          <a:solidFill>
            <a:srgbClr val="FFFFFF"/>
          </a:solidFill>
          <a:ln w="12700">
            <a:solidFill>
              <a:srgbClr val="E5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697480"/>
            <a:ext cx="3444239" cy="82296"/>
          </a:xfrm>
          <a:prstGeom prst="round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86968" y="3081528"/>
            <a:ext cx="640080" cy="640080"/>
          </a:xfrm>
          <a:prstGeom prst="roundRect">
            <a:avLst>
              <a:gd name="adj" fmla="val 25000"/>
            </a:avLst>
          </a:prstGeom>
          <a:solidFill>
            <a:srgbClr val="0A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3081528"/>
            <a:ext cx="64008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2200" b="1" i="0">
                <a:solidFill>
                  <a:srgbClr val="FFFFFF"/>
                </a:solidFill>
                <a:latin typeface="Hanken Grotesk"/>
              </a:rPr>
              <a:t>1</a:t>
            </a:r>
          </a:p>
        </p:txBody>
      </p:sp>
      <p:sp>
        <p:nvSpPr>
          <p:cNvPr id="11" name="TextBox 10"/>
          <p:cNvSpPr txBox="1"/>
          <p:nvPr/>
        </p:nvSpPr>
        <p:spPr>
          <a:xfrm>
            <a:off x="886968" y="3931920"/>
            <a:ext cx="2804160" cy="64008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16243C"/>
                </a:solidFill>
                <a:latin typeface="Hanken Grotesk"/>
              </a:rPr>
              <a:t>See every account</a:t>
            </a:r>
          </a:p>
        </p:txBody>
      </p:sp>
      <p:sp>
        <p:nvSpPr>
          <p:cNvPr id="12" name="TextBox 11"/>
          <p:cNvSpPr txBox="1"/>
          <p:nvPr/>
        </p:nvSpPr>
        <p:spPr>
          <a:xfrm>
            <a:off x="886968" y="4480560"/>
            <a:ext cx="2804160" cy="1280160"/>
          </a:xfrm>
          <a:prstGeom prst="rect">
            <a:avLst/>
          </a:prstGeom>
          <a:noFill/>
        </p:spPr>
        <p:txBody>
          <a:bodyPr wrap="square" anchor="t" lIns="0" rIns="0" tIns="0" bIns="0">
            <a:spAutoFit/>
          </a:bodyPr>
          <a:lstStyle/>
          <a:p>
            <a:pPr algn="l">
              <a:lnSpc>
                <a:spcPct val="118000"/>
              </a:lnSpc>
              <a:spcBef>
                <a:spcPts val="0"/>
              </a:spcBef>
              <a:spcAft>
                <a:spcPts val="400"/>
              </a:spcAft>
            </a:pPr>
            <a:r>
              <a:rPr sz="1200" b="0" i="0">
                <a:solidFill>
                  <a:srgbClr val="3B4A63"/>
                </a:solidFill>
                <a:latin typeface="Hanken Grotesk"/>
              </a:rPr>
              <a:t>Read access spans all agencies assigned to you, with billings, pacing and performance in one place.</a:t>
            </a:r>
          </a:p>
        </p:txBody>
      </p:sp>
      <p:sp>
        <p:nvSpPr>
          <p:cNvPr id="13" name="Rounded Rectangle 12"/>
          <p:cNvSpPr/>
          <p:nvPr/>
        </p:nvSpPr>
        <p:spPr>
          <a:xfrm>
            <a:off x="4376928" y="2697480"/>
            <a:ext cx="3444239" cy="3108960"/>
          </a:xfrm>
          <a:prstGeom prst="roundRect">
            <a:avLst>
              <a:gd name="adj" fmla="val 4000"/>
            </a:avLst>
          </a:prstGeom>
          <a:solidFill>
            <a:srgbClr val="FFFFFF"/>
          </a:solidFill>
          <a:ln w="12700">
            <a:solidFill>
              <a:srgbClr val="E5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76928" y="2697480"/>
            <a:ext cx="3444239" cy="82296"/>
          </a:xfrm>
          <a:prstGeom prst="round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696967" y="3081528"/>
            <a:ext cx="640080" cy="640080"/>
          </a:xfrm>
          <a:prstGeom prst="roundRect">
            <a:avLst>
              <a:gd name="adj" fmla="val 25000"/>
            </a:avLst>
          </a:prstGeom>
          <a:solidFill>
            <a:srgbClr val="0A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96967" y="3081528"/>
            <a:ext cx="64008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2200" b="1" i="0">
                <a:solidFill>
                  <a:srgbClr val="FFFFFF"/>
                </a:solidFill>
                <a:latin typeface="Hanken Grotesk"/>
              </a:rPr>
              <a:t>2</a:t>
            </a:r>
          </a:p>
        </p:txBody>
      </p:sp>
      <p:sp>
        <p:nvSpPr>
          <p:cNvPr id="17" name="TextBox 16"/>
          <p:cNvSpPr txBox="1"/>
          <p:nvPr/>
        </p:nvSpPr>
        <p:spPr>
          <a:xfrm>
            <a:off x="4696967" y="3931920"/>
            <a:ext cx="2804160" cy="64008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16243C"/>
                </a:solidFill>
                <a:latin typeface="Hanken Grotesk"/>
              </a:rPr>
              <a:t>Read the story in charts</a:t>
            </a:r>
          </a:p>
        </p:txBody>
      </p:sp>
      <p:sp>
        <p:nvSpPr>
          <p:cNvPr id="18" name="TextBox 17"/>
          <p:cNvSpPr txBox="1"/>
          <p:nvPr/>
        </p:nvSpPr>
        <p:spPr>
          <a:xfrm>
            <a:off x="4696967" y="4480560"/>
            <a:ext cx="2804160" cy="1280160"/>
          </a:xfrm>
          <a:prstGeom prst="rect">
            <a:avLst/>
          </a:prstGeom>
          <a:noFill/>
        </p:spPr>
        <p:txBody>
          <a:bodyPr wrap="square" anchor="t" lIns="0" rIns="0" tIns="0" bIns="0">
            <a:spAutoFit/>
          </a:bodyPr>
          <a:lstStyle/>
          <a:p>
            <a:pPr algn="l">
              <a:lnSpc>
                <a:spcPct val="118000"/>
              </a:lnSpc>
              <a:spcBef>
                <a:spcPts val="0"/>
              </a:spcBef>
              <a:spcAft>
                <a:spcPts val="400"/>
              </a:spcAft>
            </a:pPr>
            <a:r>
              <a:rPr sz="1200" b="0" i="0">
                <a:solidFill>
                  <a:srgbClr val="3B4A63"/>
                </a:solidFill>
                <a:latin typeface="Hanken Grotesk"/>
              </a:rPr>
              <a:t>Dashboards turn raw schedules into trends, splits and rankings you can act on in a review.</a:t>
            </a:r>
          </a:p>
        </p:txBody>
      </p:sp>
      <p:sp>
        <p:nvSpPr>
          <p:cNvPr id="19" name="Rounded Rectangle 18"/>
          <p:cNvSpPr/>
          <p:nvPr/>
        </p:nvSpPr>
        <p:spPr>
          <a:xfrm>
            <a:off x="8186928" y="2697480"/>
            <a:ext cx="3444239" cy="3108960"/>
          </a:xfrm>
          <a:prstGeom prst="roundRect">
            <a:avLst>
              <a:gd name="adj" fmla="val 4000"/>
            </a:avLst>
          </a:prstGeom>
          <a:solidFill>
            <a:srgbClr val="FFFFFF"/>
          </a:solidFill>
          <a:ln w="12700">
            <a:solidFill>
              <a:srgbClr val="E5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86928" y="2697480"/>
            <a:ext cx="3444239" cy="82296"/>
          </a:xfrm>
          <a:prstGeom prst="round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506968" y="3081528"/>
            <a:ext cx="640080" cy="640080"/>
          </a:xfrm>
          <a:prstGeom prst="roundRect">
            <a:avLst>
              <a:gd name="adj" fmla="val 25000"/>
            </a:avLst>
          </a:prstGeom>
          <a:solidFill>
            <a:srgbClr val="0A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968" y="3081528"/>
            <a:ext cx="64008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2200" b="1" i="0">
                <a:solidFill>
                  <a:srgbClr val="FFFFFF"/>
                </a:solidFill>
                <a:latin typeface="Hanken Grotesk"/>
              </a:rPr>
              <a:t>3</a:t>
            </a:r>
          </a:p>
        </p:txBody>
      </p:sp>
      <p:sp>
        <p:nvSpPr>
          <p:cNvPr id="23" name="TextBox 22"/>
          <p:cNvSpPr txBox="1"/>
          <p:nvPr/>
        </p:nvSpPr>
        <p:spPr>
          <a:xfrm>
            <a:off x="8506968" y="3931920"/>
            <a:ext cx="2804160" cy="64008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16243C"/>
                </a:solidFill>
                <a:latin typeface="Hanken Grotesk"/>
              </a:rPr>
              <a:t>Report and export</a:t>
            </a:r>
          </a:p>
        </p:txBody>
      </p:sp>
      <p:sp>
        <p:nvSpPr>
          <p:cNvPr id="24" name="TextBox 23"/>
          <p:cNvSpPr txBox="1"/>
          <p:nvPr/>
        </p:nvSpPr>
        <p:spPr>
          <a:xfrm>
            <a:off x="8506968" y="4480560"/>
            <a:ext cx="2804160" cy="1280160"/>
          </a:xfrm>
          <a:prstGeom prst="rect">
            <a:avLst/>
          </a:prstGeom>
          <a:noFill/>
        </p:spPr>
        <p:txBody>
          <a:bodyPr wrap="square" anchor="t" lIns="0" rIns="0" tIns="0" bIns="0">
            <a:spAutoFit/>
          </a:bodyPr>
          <a:lstStyle/>
          <a:p>
            <a:pPr algn="l">
              <a:lnSpc>
                <a:spcPct val="118000"/>
              </a:lnSpc>
              <a:spcBef>
                <a:spcPts val="0"/>
              </a:spcBef>
              <a:spcAft>
                <a:spcPts val="400"/>
              </a:spcAft>
            </a:pPr>
            <a:r>
              <a:rPr sz="1200" b="0" i="0">
                <a:solidFill>
                  <a:srgbClr val="3B4A63"/>
                </a:solidFill>
                <a:latin typeface="Hanken Grotesk"/>
              </a:rPr>
              <a:t>Pull branded Excel and PDF reports for any agency, client or channel on demand.</a:t>
            </a:r>
          </a:p>
        </p:txBody>
      </p:sp>
      <p:sp>
        <p:nvSpPr>
          <p:cNvPr id="25" name="Rectangle 24"/>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7" name="TextBox 26"/>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THE MANAGER'S VIEW</a:t>
            </a:r>
          </a:p>
        </p:txBody>
      </p:sp>
      <p:sp>
        <p:nvSpPr>
          <p:cNvPr id="28" name="TextBox 27"/>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03 / 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640080"/>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786384"/>
            <a:ext cx="1005840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spc="180">
                <a:solidFill>
                  <a:srgbClr val="D9521C"/>
                </a:solidFill>
                <a:latin typeface="Hanken Grotesk"/>
              </a:rPr>
              <a:t>YOUR ACCESS</a:t>
            </a:r>
          </a:p>
        </p:txBody>
      </p:sp>
      <p:sp>
        <p:nvSpPr>
          <p:cNvPr id="5" name="TextBox 4"/>
          <p:cNvSpPr txBox="1"/>
          <p:nvPr/>
        </p:nvSpPr>
        <p:spPr>
          <a:xfrm>
            <a:off x="548640" y="1097280"/>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6243C"/>
                </a:solidFill>
                <a:latin typeface="Hanken Grotesk"/>
              </a:rPr>
              <a:t>What a Manager can reach</a:t>
            </a:r>
          </a:p>
        </p:txBody>
      </p:sp>
      <p:sp>
        <p:nvSpPr>
          <p:cNvPr id="6" name="TextBox 5"/>
          <p:cNvSpPr txBox="1"/>
          <p:nvPr/>
        </p:nvSpPr>
        <p:spPr>
          <a:xfrm>
            <a:off x="566928" y="1810512"/>
            <a:ext cx="10698480" cy="640080"/>
          </a:xfrm>
          <a:prstGeom prst="rect">
            <a:avLst/>
          </a:prstGeom>
          <a:noFill/>
        </p:spPr>
        <p:txBody>
          <a:bodyPr wrap="square" anchor="t" lIns="0" rIns="0" tIns="0" bIns="0">
            <a:spAutoFit/>
          </a:bodyPr>
          <a:lstStyle/>
          <a:p>
            <a:pPr algn="l">
              <a:lnSpc>
                <a:spcPct val="120000"/>
              </a:lnSpc>
              <a:spcBef>
                <a:spcPts val="0"/>
              </a:spcBef>
              <a:spcAft>
                <a:spcPts val="400"/>
              </a:spcAft>
            </a:pPr>
            <a:r>
              <a:rPr sz="1350" b="0" i="0">
                <a:solidFill>
                  <a:srgbClr val="3B4A63"/>
                </a:solidFill>
                <a:latin typeface="Hanken Grotesk"/>
              </a:rPr>
              <a:t>You have read access across every agency assigned to you. You cannot edit records, which keeps the numbers you review clean and trustworthy.</a:t>
            </a:r>
          </a:p>
        </p:txBody>
      </p:sp>
      <p:sp>
        <p:nvSpPr>
          <p:cNvPr id="7" name="Rounded Rectangle 6"/>
          <p:cNvSpPr/>
          <p:nvPr/>
        </p:nvSpPr>
        <p:spPr>
          <a:xfrm>
            <a:off x="566928" y="2743200"/>
            <a:ext cx="5440680" cy="841248"/>
          </a:xfrm>
          <a:prstGeom prst="roundRect">
            <a:avLst>
              <a:gd name="adj" fmla="val 12000"/>
            </a:avLst>
          </a:prstGeom>
          <a:solidFill>
            <a:srgbClr val="FFFFFF"/>
          </a:solidFill>
          <a:ln w="12700">
            <a:solidFill>
              <a:srgbClr val="E5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889504"/>
            <a:ext cx="64008" cy="548640"/>
          </a:xfrm>
          <a:prstGeom prst="round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871216"/>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16243C"/>
                </a:solidFill>
                <a:latin typeface="Hanken Grotesk"/>
              </a:rPr>
              <a:t>Executive Dashboard</a:t>
            </a:r>
          </a:p>
        </p:txBody>
      </p:sp>
      <p:sp>
        <p:nvSpPr>
          <p:cNvPr id="10" name="TextBox 9"/>
          <p:cNvSpPr txBox="1"/>
          <p:nvPr/>
        </p:nvSpPr>
        <p:spPr>
          <a:xfrm>
            <a:off x="859536" y="3182112"/>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0" i="0">
                <a:solidFill>
                  <a:srgbClr val="6B7790"/>
                </a:solidFill>
                <a:latin typeface="Hanken Grotesk"/>
              </a:rPr>
              <a:t>Your home: billings and pacing across agencies</a:t>
            </a:r>
          </a:p>
        </p:txBody>
      </p:sp>
      <p:sp>
        <p:nvSpPr>
          <p:cNvPr id="11" name="Rounded Rectangle 10"/>
          <p:cNvSpPr/>
          <p:nvPr/>
        </p:nvSpPr>
        <p:spPr>
          <a:xfrm>
            <a:off x="6236208" y="2743200"/>
            <a:ext cx="5440680" cy="841248"/>
          </a:xfrm>
          <a:prstGeom prst="roundRect">
            <a:avLst>
              <a:gd name="adj" fmla="val 12000"/>
            </a:avLst>
          </a:prstGeom>
          <a:solidFill>
            <a:srgbClr val="FFFFFF"/>
          </a:solidFill>
          <a:ln w="12700">
            <a:solidFill>
              <a:srgbClr val="E5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36208" y="2889504"/>
            <a:ext cx="64008" cy="548640"/>
          </a:xfrm>
          <a:prstGeom prst="round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871216"/>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16243C"/>
                </a:solidFill>
                <a:latin typeface="Hanken Grotesk"/>
              </a:rPr>
              <a:t>Spend Analytics</a:t>
            </a:r>
          </a:p>
        </p:txBody>
      </p:sp>
      <p:sp>
        <p:nvSpPr>
          <p:cNvPr id="14" name="TextBox 13"/>
          <p:cNvSpPr txBox="1"/>
          <p:nvPr/>
        </p:nvSpPr>
        <p:spPr>
          <a:xfrm>
            <a:off x="6528816" y="3182112"/>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0" i="0">
                <a:solidFill>
                  <a:srgbClr val="6B7790"/>
                </a:solidFill>
                <a:latin typeface="Hanken Grotesk"/>
              </a:rPr>
              <a:t>Deep charts and breakdowns of committed spend</a:t>
            </a:r>
          </a:p>
        </p:txBody>
      </p:sp>
      <p:sp>
        <p:nvSpPr>
          <p:cNvPr id="15" name="Rounded Rectangle 14"/>
          <p:cNvSpPr/>
          <p:nvPr/>
        </p:nvSpPr>
        <p:spPr>
          <a:xfrm>
            <a:off x="566928" y="3767328"/>
            <a:ext cx="5440680" cy="841248"/>
          </a:xfrm>
          <a:prstGeom prst="roundRect">
            <a:avLst>
              <a:gd name="adj" fmla="val 12000"/>
            </a:avLst>
          </a:prstGeom>
          <a:solidFill>
            <a:srgbClr val="FFFFFF"/>
          </a:solidFill>
          <a:ln w="12700">
            <a:solidFill>
              <a:srgbClr val="E5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66928" y="3913632"/>
            <a:ext cx="64008" cy="548640"/>
          </a:xfrm>
          <a:prstGeom prst="round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3895344"/>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16243C"/>
                </a:solidFill>
                <a:latin typeface="Hanken Grotesk"/>
              </a:rPr>
              <a:t>Deep Dashboard</a:t>
            </a:r>
          </a:p>
        </p:txBody>
      </p:sp>
      <p:sp>
        <p:nvSpPr>
          <p:cNvPr id="18" name="TextBox 17"/>
          <p:cNvSpPr txBox="1"/>
          <p:nvPr/>
        </p:nvSpPr>
        <p:spPr>
          <a:xfrm>
            <a:off x="859536" y="4206240"/>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0" i="0">
                <a:solidFill>
                  <a:srgbClr val="6B7790"/>
                </a:solidFill>
                <a:latin typeface="Hanken Grotesk"/>
              </a:rPr>
              <a:t>Multi year trends and property performance</a:t>
            </a:r>
          </a:p>
        </p:txBody>
      </p:sp>
      <p:sp>
        <p:nvSpPr>
          <p:cNvPr id="19" name="Rounded Rectangle 18"/>
          <p:cNvSpPr/>
          <p:nvPr/>
        </p:nvSpPr>
        <p:spPr>
          <a:xfrm>
            <a:off x="6236208" y="3767328"/>
            <a:ext cx="5440680" cy="841248"/>
          </a:xfrm>
          <a:prstGeom prst="roundRect">
            <a:avLst>
              <a:gd name="adj" fmla="val 12000"/>
            </a:avLst>
          </a:prstGeom>
          <a:solidFill>
            <a:srgbClr val="FFFFFF"/>
          </a:solidFill>
          <a:ln w="12700">
            <a:solidFill>
              <a:srgbClr val="E5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36208" y="3913632"/>
            <a:ext cx="64008" cy="548640"/>
          </a:xfrm>
          <a:prstGeom prst="round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28816" y="3895344"/>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16243C"/>
                </a:solidFill>
                <a:latin typeface="Hanken Grotesk"/>
              </a:rPr>
              <a:t>Channel Intelligence</a:t>
            </a:r>
          </a:p>
        </p:txBody>
      </p:sp>
      <p:sp>
        <p:nvSpPr>
          <p:cNvPr id="22" name="TextBox 21"/>
          <p:cNvSpPr txBox="1"/>
          <p:nvPr/>
        </p:nvSpPr>
        <p:spPr>
          <a:xfrm>
            <a:off x="6528816" y="4206240"/>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0" i="0">
                <a:solidFill>
                  <a:srgbClr val="6B7790"/>
                </a:solidFill>
                <a:latin typeface="Hanken Grotesk"/>
              </a:rPr>
              <a:t>Spend and trends for any single channel</a:t>
            </a:r>
          </a:p>
        </p:txBody>
      </p:sp>
      <p:sp>
        <p:nvSpPr>
          <p:cNvPr id="23" name="Rounded Rectangle 22"/>
          <p:cNvSpPr/>
          <p:nvPr/>
        </p:nvSpPr>
        <p:spPr>
          <a:xfrm>
            <a:off x="566928" y="4791456"/>
            <a:ext cx="5440680" cy="841248"/>
          </a:xfrm>
          <a:prstGeom prst="roundRect">
            <a:avLst>
              <a:gd name="adj" fmla="val 12000"/>
            </a:avLst>
          </a:prstGeom>
          <a:solidFill>
            <a:srgbClr val="FFFFFF"/>
          </a:solidFill>
          <a:ln w="12700">
            <a:solidFill>
              <a:srgbClr val="E5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66928" y="4937760"/>
            <a:ext cx="64008" cy="548640"/>
          </a:xfrm>
          <a:prstGeom prst="round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 y="4919472"/>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16243C"/>
                </a:solidFill>
                <a:latin typeface="Hanken Grotesk"/>
              </a:rPr>
              <a:t>Client Dashboard</a:t>
            </a:r>
          </a:p>
        </p:txBody>
      </p:sp>
      <p:sp>
        <p:nvSpPr>
          <p:cNvPr id="26" name="TextBox 25"/>
          <p:cNvSpPr txBox="1"/>
          <p:nvPr/>
        </p:nvSpPr>
        <p:spPr>
          <a:xfrm>
            <a:off x="859536" y="5230368"/>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0" i="0">
                <a:solidFill>
                  <a:srgbClr val="6B7790"/>
                </a:solidFill>
                <a:latin typeface="Hanken Grotesk"/>
              </a:rPr>
              <a:t>A per client analytics view for reviews</a:t>
            </a:r>
          </a:p>
        </p:txBody>
      </p:sp>
      <p:sp>
        <p:nvSpPr>
          <p:cNvPr id="27" name="Rounded Rectangle 26"/>
          <p:cNvSpPr/>
          <p:nvPr/>
        </p:nvSpPr>
        <p:spPr>
          <a:xfrm>
            <a:off x="6236208" y="4791456"/>
            <a:ext cx="5440680" cy="841248"/>
          </a:xfrm>
          <a:prstGeom prst="roundRect">
            <a:avLst>
              <a:gd name="adj" fmla="val 12000"/>
            </a:avLst>
          </a:prstGeom>
          <a:solidFill>
            <a:srgbClr val="FFFFFF"/>
          </a:solidFill>
          <a:ln w="12700">
            <a:solidFill>
              <a:srgbClr val="E5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236208" y="4937760"/>
            <a:ext cx="64008" cy="548640"/>
          </a:xfrm>
          <a:prstGeom prst="round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28816" y="4919472"/>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16243C"/>
                </a:solidFill>
                <a:latin typeface="Hanken Grotesk"/>
              </a:rPr>
              <a:t>Agencies &amp; Clients</a:t>
            </a:r>
          </a:p>
        </p:txBody>
      </p:sp>
      <p:sp>
        <p:nvSpPr>
          <p:cNvPr id="30" name="TextBox 29"/>
          <p:cNvSpPr txBox="1"/>
          <p:nvPr/>
        </p:nvSpPr>
        <p:spPr>
          <a:xfrm>
            <a:off x="6528816" y="5230368"/>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0" i="0">
                <a:solidFill>
                  <a:srgbClr val="6B7790"/>
                </a:solidFill>
                <a:latin typeface="Hanken Grotesk"/>
              </a:rPr>
              <a:t>The full roster you oversee</a:t>
            </a:r>
          </a:p>
        </p:txBody>
      </p:sp>
      <p:sp>
        <p:nvSpPr>
          <p:cNvPr id="31" name="Rounded Rectangle 30"/>
          <p:cNvSpPr/>
          <p:nvPr/>
        </p:nvSpPr>
        <p:spPr>
          <a:xfrm>
            <a:off x="566928" y="5815584"/>
            <a:ext cx="5440680" cy="841248"/>
          </a:xfrm>
          <a:prstGeom prst="roundRect">
            <a:avLst>
              <a:gd name="adj" fmla="val 12000"/>
            </a:avLst>
          </a:prstGeom>
          <a:solidFill>
            <a:srgbClr val="FFFFFF"/>
          </a:solidFill>
          <a:ln w="12700">
            <a:solidFill>
              <a:srgbClr val="E5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66928" y="5961888"/>
            <a:ext cx="64008" cy="548640"/>
          </a:xfrm>
          <a:prstGeom prst="round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5943600"/>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16243C"/>
                </a:solidFill>
                <a:latin typeface="Hanken Grotesk"/>
              </a:rPr>
              <a:t>Reports</a:t>
            </a:r>
          </a:p>
        </p:txBody>
      </p:sp>
      <p:sp>
        <p:nvSpPr>
          <p:cNvPr id="34" name="TextBox 33"/>
          <p:cNvSpPr txBox="1"/>
          <p:nvPr/>
        </p:nvSpPr>
        <p:spPr>
          <a:xfrm>
            <a:off x="859536" y="6254496"/>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0" i="0">
                <a:solidFill>
                  <a:srgbClr val="6B7790"/>
                </a:solidFill>
                <a:latin typeface="Hanken Grotesk"/>
              </a:rPr>
              <a:t>Branded Excel and PDF exports on demand</a:t>
            </a:r>
          </a:p>
        </p:txBody>
      </p:sp>
      <p:sp>
        <p:nvSpPr>
          <p:cNvPr id="35" name="Rounded Rectangle 34"/>
          <p:cNvSpPr/>
          <p:nvPr/>
        </p:nvSpPr>
        <p:spPr>
          <a:xfrm>
            <a:off x="6236208" y="5815584"/>
            <a:ext cx="5440680" cy="841248"/>
          </a:xfrm>
          <a:prstGeom prst="roundRect">
            <a:avLst>
              <a:gd name="adj" fmla="val 12000"/>
            </a:avLst>
          </a:prstGeom>
          <a:solidFill>
            <a:srgbClr val="FFFFFF"/>
          </a:solidFill>
          <a:ln w="12700">
            <a:solidFill>
              <a:srgbClr val="E5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236208" y="5961888"/>
            <a:ext cx="64008" cy="548640"/>
          </a:xfrm>
          <a:prstGeom prst="round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28816" y="5943600"/>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16243C"/>
                </a:solidFill>
                <a:latin typeface="Hanken Grotesk"/>
              </a:rPr>
              <a:t>Database</a:t>
            </a:r>
          </a:p>
        </p:txBody>
      </p:sp>
      <p:sp>
        <p:nvSpPr>
          <p:cNvPr id="38" name="TextBox 37"/>
          <p:cNvSpPr txBox="1"/>
          <p:nvPr/>
        </p:nvSpPr>
        <p:spPr>
          <a:xfrm>
            <a:off x="6528816" y="6254496"/>
            <a:ext cx="498348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0" i="0">
                <a:solidFill>
                  <a:srgbClr val="6B7790"/>
                </a:solidFill>
                <a:latin typeface="Hanken Grotesk"/>
              </a:rPr>
              <a:t>The underlying schedule records, read only</a:t>
            </a:r>
          </a:p>
        </p:txBody>
      </p:sp>
      <p:sp>
        <p:nvSpPr>
          <p:cNvPr id="39" name="Rectangle 3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41" name="TextBox 4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GETTING ORIENTED</a:t>
            </a:r>
          </a:p>
        </p:txBody>
      </p:sp>
      <p:sp>
        <p:nvSpPr>
          <p:cNvPr id="42" name="TextBox 4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04 / 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03504"/>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49808"/>
            <a:ext cx="370332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spc="180">
                <a:solidFill>
                  <a:srgbClr val="D9521C"/>
                </a:solidFill>
                <a:latin typeface="Hanken Grotesk"/>
              </a:rPr>
              <a:t>SIGNING IN</a:t>
            </a:r>
          </a:p>
        </p:txBody>
      </p:sp>
      <p:sp>
        <p:nvSpPr>
          <p:cNvPr id="6" name="TextBox 5"/>
          <p:cNvSpPr txBox="1"/>
          <p:nvPr/>
        </p:nvSpPr>
        <p:spPr>
          <a:xfrm>
            <a:off x="548640" y="1060704"/>
            <a:ext cx="3721607" cy="118872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16243C"/>
                </a:solidFill>
                <a:latin typeface="Hanken Grotesk"/>
              </a:rPr>
              <a:t>Your secure sign in</a:t>
            </a:r>
          </a:p>
        </p:txBody>
      </p:sp>
      <p:sp>
        <p:nvSpPr>
          <p:cNvPr id="7" name="TextBox 6"/>
          <p:cNvSpPr txBox="1"/>
          <p:nvPr/>
        </p:nvSpPr>
        <p:spPr>
          <a:xfrm>
            <a:off x="566928" y="1645919"/>
            <a:ext cx="3685032" cy="1188720"/>
          </a:xfrm>
          <a:prstGeom prst="rect">
            <a:avLst/>
          </a:prstGeom>
          <a:noFill/>
        </p:spPr>
        <p:txBody>
          <a:bodyPr wrap="square" anchor="t" lIns="0" rIns="0" tIns="0" bIns="0">
            <a:spAutoFit/>
          </a:bodyPr>
          <a:lstStyle/>
          <a:p>
            <a:pPr algn="l">
              <a:lnSpc>
                <a:spcPct val="118000"/>
              </a:lnSpc>
              <a:spcBef>
                <a:spcPts val="0"/>
              </a:spcBef>
              <a:spcAft>
                <a:spcPts val="400"/>
              </a:spcAft>
            </a:pPr>
            <a:r>
              <a:rPr sz="1250" b="0" i="0">
                <a:solidFill>
                  <a:srgbClr val="3B4A63"/>
                </a:solidFill>
                <a:latin typeface="Hanken Grotesk"/>
              </a:rPr>
              <a:t>You sign in with your agency email and a private password. Orbit remembers nothing you should not see.</a:t>
            </a:r>
          </a:p>
        </p:txBody>
      </p:sp>
      <p:sp>
        <p:nvSpPr>
          <p:cNvPr id="8" name="TextBox 7"/>
          <p:cNvSpPr txBox="1"/>
          <p:nvPr/>
        </p:nvSpPr>
        <p:spPr>
          <a:xfrm>
            <a:off x="566928" y="2510027"/>
            <a:ext cx="370332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1" i="0" spc="120">
                <a:solidFill>
                  <a:srgbClr val="6B7790"/>
                </a:solidFill>
                <a:latin typeface="Hanken Grotesk"/>
              </a:rPr>
              <a:t>WHAT YOU CAN DO HERE</a:t>
            </a:r>
          </a:p>
        </p:txBody>
      </p:sp>
      <p:sp>
        <p:nvSpPr>
          <p:cNvPr id="9" name="Oval 8"/>
          <p:cNvSpPr/>
          <p:nvPr/>
        </p:nvSpPr>
        <p:spPr>
          <a:xfrm>
            <a:off x="603504" y="2903219"/>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39211"/>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Sign in with your Ogilvy email and password</a:t>
            </a:r>
          </a:p>
        </p:txBody>
      </p:sp>
      <p:sp>
        <p:nvSpPr>
          <p:cNvPr id="11" name="Oval 10"/>
          <p:cNvSpPr/>
          <p:nvPr/>
        </p:nvSpPr>
        <p:spPr>
          <a:xfrm>
            <a:off x="603504" y="3232403"/>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168395"/>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Reset a forgotten password from the same screen</a:t>
            </a:r>
          </a:p>
        </p:txBody>
      </p:sp>
      <p:sp>
        <p:nvSpPr>
          <p:cNvPr id="13" name="Oval 12"/>
          <p:cNvSpPr/>
          <p:nvPr/>
        </p:nvSpPr>
        <p:spPr>
          <a:xfrm>
            <a:off x="603504" y="3767327"/>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03319"/>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Set a fresh password on your very first sign in</a:t>
            </a:r>
          </a:p>
        </p:txBody>
      </p:sp>
      <p:sp>
        <p:nvSpPr>
          <p:cNvPr id="15" name="Oval 14"/>
          <p:cNvSpPr/>
          <p:nvPr/>
        </p:nvSpPr>
        <p:spPr>
          <a:xfrm>
            <a:off x="603504" y="4302251"/>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38243"/>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Read access only, so records stay protected</a:t>
            </a:r>
          </a:p>
        </p:txBody>
      </p:sp>
      <p:sp>
        <p:nvSpPr>
          <p:cNvPr id="17" name="Rounded Rectangle 16"/>
          <p:cNvSpPr/>
          <p:nvPr/>
        </p:nvSpPr>
        <p:spPr>
          <a:xfrm>
            <a:off x="566928" y="5760720"/>
            <a:ext cx="3931920" cy="566928"/>
          </a:xfrm>
          <a:prstGeom prst="roundRect">
            <a:avLst/>
          </a:prstGeom>
          <a:solidFill>
            <a:srgbClr val="FBEEE7"/>
          </a:solidFill>
          <a:ln w="9525">
            <a:solidFill>
              <a:srgbClr val="F2C9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5843016"/>
            <a:ext cx="3721607" cy="457200"/>
          </a:xfrm>
          <a:prstGeom prst="rect">
            <a:avLst/>
          </a:prstGeom>
          <a:noFill/>
        </p:spPr>
        <p:txBody>
          <a:bodyPr wrap="square" anchor="ctr" lIns="0" rIns="0" tIns="0" bIns="0">
            <a:spAutoFit/>
          </a:bodyPr>
          <a:lstStyle/>
          <a:p>
            <a:pPr algn="l">
              <a:lnSpc>
                <a:spcPct val="108000"/>
              </a:lnSpc>
              <a:spcBef>
                <a:spcPts val="0"/>
              </a:spcBef>
              <a:spcAft>
                <a:spcPts val="400"/>
              </a:spcAft>
            </a:pPr>
            <a:r>
              <a:rPr sz="1050" b="1" i="0">
                <a:solidFill>
                  <a:srgbClr val="D9521C"/>
                </a:solidFill>
                <a:latin typeface="Hanken Grotesk"/>
              </a:rPr>
              <a:t>Tip   </a:t>
            </a:r>
            <a:r>
              <a:rPr sz="1050" b="0" i="0">
                <a:solidFill>
                  <a:srgbClr val="3B4A63"/>
                </a:solidFill>
                <a:latin typeface="Hanken Grotesk"/>
              </a:rPr>
              <a:t>Your role is read only by design, which keeps every number you review trustworthy.</a:t>
            </a:r>
          </a:p>
        </p:txBody>
      </p:sp>
      <p:sp>
        <p:nvSpPr>
          <p:cNvPr id="19" name="Rounded Rectangle 18"/>
          <p:cNvSpPr/>
          <p:nvPr/>
        </p:nvSpPr>
        <p:spPr>
          <a:xfrm>
            <a:off x="4672583" y="1192149"/>
            <a:ext cx="7040880" cy="4400550"/>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617720" y="1118997"/>
            <a:ext cx="7040880" cy="4400550"/>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01-login.png"/>
          <p:cNvPicPr>
            <a:picLocks noChangeAspect="1"/>
          </p:cNvPicPr>
          <p:nvPr/>
        </p:nvPicPr>
        <p:blipFill>
          <a:blip r:embed="rId2"/>
          <a:stretch>
            <a:fillRect/>
          </a:stretch>
        </p:blipFill>
        <p:spPr>
          <a:xfrm>
            <a:off x="4617720" y="1118997"/>
            <a:ext cx="7040880" cy="4400550"/>
          </a:xfrm>
          <a:prstGeom prst="rect">
            <a:avLst/>
          </a:prstGeom>
          <a:ln w="12700">
            <a:solidFill>
              <a:srgbClr val="D6DBE3"/>
            </a:solidFill>
          </a:ln>
        </p:spPr>
      </p:pic>
      <p:sp>
        <p:nvSpPr>
          <p:cNvPr id="22" name="Rectangle 21"/>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4" name="TextBox 23"/>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THE MANAGER'S VIEW</a:t>
            </a:r>
          </a:p>
        </p:txBody>
      </p:sp>
      <p:sp>
        <p:nvSpPr>
          <p:cNvPr id="25" name="TextBox 24"/>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05 / 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48840"/>
            <a:ext cx="2743200" cy="1280160"/>
          </a:xfrm>
          <a:prstGeom prst="rect">
            <a:avLst/>
          </a:prstGeom>
          <a:noFill/>
        </p:spPr>
        <p:txBody>
          <a:bodyPr wrap="square" anchor="t" lIns="0" rIns="0" tIns="0" bIns="0">
            <a:spAutoFit/>
          </a:bodyPr>
          <a:lstStyle/>
          <a:p>
            <a:pPr algn="l">
              <a:lnSpc>
                <a:spcPct val="100000"/>
              </a:lnSpc>
              <a:spcBef>
                <a:spcPts val="0"/>
              </a:spcBef>
              <a:spcAft>
                <a:spcPts val="400"/>
              </a:spcAft>
            </a:pPr>
            <a:r>
              <a:rPr sz="9200" b="1" i="1">
                <a:solidFill>
                  <a:srgbClr val="243452"/>
                </a:solidFill>
                <a:latin typeface="Newsreader"/>
              </a:rPr>
              <a:t>02</a:t>
            </a:r>
          </a:p>
        </p:txBody>
      </p:sp>
      <p:sp>
        <p:nvSpPr>
          <p:cNvPr id="5" name="TextBox 4"/>
          <p:cNvSpPr txBox="1"/>
          <p:nvPr/>
        </p:nvSpPr>
        <p:spPr>
          <a:xfrm>
            <a:off x="2514600" y="2240280"/>
            <a:ext cx="868680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spc="240">
                <a:solidFill>
                  <a:srgbClr val="F0703F"/>
                </a:solidFill>
                <a:latin typeface="Hanken Grotesk"/>
              </a:rPr>
              <a:t>YOUR SCREENS AT A GLANCE</a:t>
            </a:r>
          </a:p>
        </p:txBody>
      </p:sp>
      <p:sp>
        <p:nvSpPr>
          <p:cNvPr id="6" name="TextBox 5"/>
          <p:cNvSpPr txBox="1"/>
          <p:nvPr/>
        </p:nvSpPr>
        <p:spPr>
          <a:xfrm>
            <a:off x="2487168" y="2651760"/>
            <a:ext cx="8869680" cy="1280160"/>
          </a:xfrm>
          <a:prstGeom prst="rect">
            <a:avLst/>
          </a:prstGeom>
          <a:noFill/>
        </p:spPr>
        <p:txBody>
          <a:bodyPr wrap="square" anchor="t" lIns="0" rIns="0" tIns="0" bIns="0">
            <a:spAutoFit/>
          </a:bodyPr>
          <a:lstStyle/>
          <a:p>
            <a:pPr algn="l">
              <a:lnSpc>
                <a:spcPct val="102000"/>
              </a:lnSpc>
              <a:spcBef>
                <a:spcPts val="0"/>
              </a:spcBef>
              <a:spcAft>
                <a:spcPts val="400"/>
              </a:spcAft>
            </a:pPr>
            <a:r>
              <a:rPr sz="4000" b="1" i="0">
                <a:solidFill>
                  <a:srgbClr val="FFFFFF"/>
                </a:solidFill>
                <a:latin typeface="Hanken Grotesk"/>
              </a:rPr>
              <a:t>Six screens you
will live in</a:t>
            </a:r>
          </a:p>
        </p:txBody>
      </p:sp>
      <p:sp>
        <p:nvSpPr>
          <p:cNvPr id="7" name="TextBox 6"/>
          <p:cNvSpPr txBox="1"/>
          <p:nvPr/>
        </p:nvSpPr>
        <p:spPr>
          <a:xfrm>
            <a:off x="2514600" y="3977639"/>
            <a:ext cx="7955279" cy="914400"/>
          </a:xfrm>
          <a:prstGeom prst="rect">
            <a:avLst/>
          </a:prstGeom>
          <a:noFill/>
        </p:spPr>
        <p:txBody>
          <a:bodyPr wrap="square" anchor="t" lIns="0" rIns="0" tIns="0" bIns="0">
            <a:spAutoFit/>
          </a:bodyPr>
          <a:lstStyle/>
          <a:p>
            <a:pPr algn="l">
              <a:lnSpc>
                <a:spcPct val="120000"/>
              </a:lnSpc>
              <a:spcBef>
                <a:spcPts val="0"/>
              </a:spcBef>
              <a:spcAft>
                <a:spcPts val="400"/>
              </a:spcAft>
            </a:pPr>
            <a:r>
              <a:rPr sz="1450" b="0" i="0">
                <a:solidFill>
                  <a:srgbClr val="9FB0CE"/>
                </a:solidFill>
                <a:latin typeface="Hanken Grotesk"/>
              </a:rPr>
              <a:t>A quick orientation to each screen before we open up every chart on them.</a:t>
            </a:r>
          </a:p>
        </p:txBody>
      </p:sp>
      <p:sp>
        <p:nvSpPr>
          <p:cNvPr id="8" name="Oval 7"/>
          <p:cNvSpPr/>
          <p:nvPr/>
        </p:nvSpPr>
        <p:spPr>
          <a:xfrm>
            <a:off x="10981944" y="466344"/>
            <a:ext cx="621792" cy="621792"/>
          </a:xfrm>
          <a:prstGeom prst="ellipse">
            <a:avLst/>
          </a:prstGeom>
          <a:noFill/>
          <a:ln w="12700">
            <a:solidFill>
              <a:srgbClr val="3A4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100084" y="584484"/>
            <a:ext cx="385511" cy="385511"/>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0084" y="566196"/>
            <a:ext cx="385511" cy="385511"/>
          </a:xfrm>
          <a:prstGeom prst="rect">
            <a:avLst/>
          </a:prstGeom>
          <a:noFill/>
        </p:spPr>
        <p:txBody>
          <a:bodyPr wrap="square" anchor="ctr" lIns="0" rIns="0" tIns="0" bIns="0">
            <a:spAutoFit/>
          </a:bodyPr>
          <a:lstStyle/>
          <a:p>
            <a:pPr algn="ctr">
              <a:lnSpc>
                <a:spcPct val="100000"/>
              </a:lnSpc>
              <a:spcBef>
                <a:spcPts val="0"/>
              </a:spcBef>
              <a:spcAft>
                <a:spcPts val="400"/>
              </a:spcAft>
            </a:pPr>
            <a:r>
              <a:rPr sz="800" b="1" i="0">
                <a:solidFill>
                  <a:srgbClr val="FFFFFF"/>
                </a:solidFill>
                <a:latin typeface="Hanken Grotesk"/>
              </a:rPr>
              <a:t>O</a:t>
            </a:r>
          </a:p>
        </p:txBody>
      </p:sp>
      <p:sp>
        <p:nvSpPr>
          <p:cNvPr id="11" name="Oval 10"/>
          <p:cNvSpPr/>
          <p:nvPr/>
        </p:nvSpPr>
        <p:spPr>
          <a:xfrm>
            <a:off x="11485595" y="484997"/>
            <a:ext cx="99486" cy="99486"/>
          </a:xfrm>
          <a:prstGeom prst="ellipse">
            <a:avLst/>
          </a:prstGeom>
          <a:solidFill>
            <a:srgbClr val="F07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308384" y="1013520"/>
            <a:ext cx="62179" cy="62179"/>
          </a:xfrm>
          <a:prstGeom prst="ellipse">
            <a:avLst/>
          </a:prstGeom>
          <a:solidFill>
            <a:srgbClr val="6E8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03504"/>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49808"/>
            <a:ext cx="370332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spc="180">
                <a:solidFill>
                  <a:srgbClr val="D9521C"/>
                </a:solidFill>
                <a:latin typeface="Hanken Grotesk"/>
              </a:rPr>
              <a:t>EXECUTIVE DASHBOARD</a:t>
            </a:r>
          </a:p>
        </p:txBody>
      </p:sp>
      <p:sp>
        <p:nvSpPr>
          <p:cNvPr id="6" name="TextBox 5"/>
          <p:cNvSpPr txBox="1"/>
          <p:nvPr/>
        </p:nvSpPr>
        <p:spPr>
          <a:xfrm>
            <a:off x="548640" y="1060704"/>
            <a:ext cx="3721607" cy="118872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16243C"/>
                </a:solidFill>
                <a:latin typeface="Hanken Grotesk"/>
              </a:rPr>
              <a:t>Executive Dashboard</a:t>
            </a:r>
          </a:p>
        </p:txBody>
      </p:sp>
      <p:sp>
        <p:nvSpPr>
          <p:cNvPr id="7" name="TextBox 6"/>
          <p:cNvSpPr txBox="1"/>
          <p:nvPr/>
        </p:nvSpPr>
        <p:spPr>
          <a:xfrm>
            <a:off x="566928" y="1645919"/>
            <a:ext cx="3685032" cy="1188720"/>
          </a:xfrm>
          <a:prstGeom prst="rect">
            <a:avLst/>
          </a:prstGeom>
          <a:noFill/>
        </p:spPr>
        <p:txBody>
          <a:bodyPr wrap="square" anchor="t" lIns="0" rIns="0" tIns="0" bIns="0">
            <a:spAutoFit/>
          </a:bodyPr>
          <a:lstStyle/>
          <a:p>
            <a:pPr algn="l">
              <a:lnSpc>
                <a:spcPct val="118000"/>
              </a:lnSpc>
              <a:spcBef>
                <a:spcPts val="0"/>
              </a:spcBef>
              <a:spcAft>
                <a:spcPts val="400"/>
              </a:spcAft>
            </a:pPr>
            <a:r>
              <a:rPr sz="1250" b="0" i="0">
                <a:solidFill>
                  <a:srgbClr val="3B4A63"/>
                </a:solidFill>
                <a:latin typeface="Hanken Grotesk"/>
              </a:rPr>
              <a:t>Your home screen. A billings overview across all agencies, anchored to the latest month with data.</a:t>
            </a:r>
          </a:p>
        </p:txBody>
      </p:sp>
      <p:sp>
        <p:nvSpPr>
          <p:cNvPr id="8" name="TextBox 7"/>
          <p:cNvSpPr txBox="1"/>
          <p:nvPr/>
        </p:nvSpPr>
        <p:spPr>
          <a:xfrm>
            <a:off x="566928" y="2510027"/>
            <a:ext cx="370332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1" i="0" spc="120">
                <a:solidFill>
                  <a:srgbClr val="6B7790"/>
                </a:solidFill>
                <a:latin typeface="Hanken Grotesk"/>
              </a:rPr>
              <a:t>WHAT YOU CAN DO HERE</a:t>
            </a:r>
          </a:p>
        </p:txBody>
      </p:sp>
      <p:sp>
        <p:nvSpPr>
          <p:cNvPr id="9" name="Oval 8"/>
          <p:cNvSpPr/>
          <p:nvPr/>
        </p:nvSpPr>
        <p:spPr>
          <a:xfrm>
            <a:off x="603504" y="2903219"/>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39211"/>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Lead with Annual Achievement: budget, pacing, actual</a:t>
            </a:r>
          </a:p>
        </p:txBody>
      </p:sp>
      <p:sp>
        <p:nvSpPr>
          <p:cNvPr id="11" name="Oval 10"/>
          <p:cNvSpPr/>
          <p:nvPr/>
        </p:nvSpPr>
        <p:spPr>
          <a:xfrm>
            <a:off x="603504" y="3438143"/>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74135"/>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Follow company spend on the Monthly Spend line</a:t>
            </a:r>
          </a:p>
        </p:txBody>
      </p:sp>
      <p:sp>
        <p:nvSpPr>
          <p:cNvPr id="13" name="Oval 12"/>
          <p:cNvSpPr/>
          <p:nvPr/>
        </p:nvSpPr>
        <p:spPr>
          <a:xfrm>
            <a:off x="603504" y="3973068"/>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909059"/>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Compare agencies, mediums and team contribution</a:t>
            </a:r>
          </a:p>
        </p:txBody>
      </p:sp>
      <p:sp>
        <p:nvSpPr>
          <p:cNvPr id="15" name="Oval 14"/>
          <p:cNvSpPr/>
          <p:nvPr/>
        </p:nvSpPr>
        <p:spPr>
          <a:xfrm>
            <a:off x="603504" y="4507992"/>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443983"/>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Export a branded summary in one click</a:t>
            </a:r>
          </a:p>
        </p:txBody>
      </p:sp>
      <p:sp>
        <p:nvSpPr>
          <p:cNvPr id="17" name="Rounded Rectangle 16"/>
          <p:cNvSpPr/>
          <p:nvPr/>
        </p:nvSpPr>
        <p:spPr>
          <a:xfrm>
            <a:off x="4672583" y="958539"/>
            <a:ext cx="7040880" cy="4867768"/>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17720" y="885387"/>
            <a:ext cx="7040880" cy="4867768"/>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hero-exec.png"/>
          <p:cNvPicPr>
            <a:picLocks noChangeAspect="1"/>
          </p:cNvPicPr>
          <p:nvPr/>
        </p:nvPicPr>
        <p:blipFill>
          <a:blip r:embed="rId2"/>
          <a:stretch>
            <a:fillRect/>
          </a:stretch>
        </p:blipFill>
        <p:spPr>
          <a:xfrm>
            <a:off x="4617720" y="885387"/>
            <a:ext cx="7040880" cy="4867768"/>
          </a:xfrm>
          <a:prstGeom prst="rect">
            <a:avLst/>
          </a:prstGeom>
          <a:ln w="12700">
            <a:solidFill>
              <a:srgbClr val="D6DBE3"/>
            </a:solidFill>
          </a:ln>
        </p:spPr>
      </p:pic>
      <p:sp>
        <p:nvSpPr>
          <p:cNvPr id="20" name="Rectangle 19"/>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2" name="TextBox 21"/>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YOUR SCREENS</a:t>
            </a:r>
          </a:p>
        </p:txBody>
      </p:sp>
      <p:sp>
        <p:nvSpPr>
          <p:cNvPr id="23" name="TextBox 22"/>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07 / 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03504"/>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49808"/>
            <a:ext cx="370332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spc="180">
                <a:solidFill>
                  <a:srgbClr val="D9521C"/>
                </a:solidFill>
                <a:latin typeface="Hanken Grotesk"/>
              </a:rPr>
              <a:t>SPEND ANALYTICS</a:t>
            </a:r>
          </a:p>
        </p:txBody>
      </p:sp>
      <p:sp>
        <p:nvSpPr>
          <p:cNvPr id="6" name="TextBox 5"/>
          <p:cNvSpPr txBox="1"/>
          <p:nvPr/>
        </p:nvSpPr>
        <p:spPr>
          <a:xfrm>
            <a:off x="548640" y="1060704"/>
            <a:ext cx="3721607" cy="118872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16243C"/>
                </a:solidFill>
                <a:latin typeface="Hanken Grotesk"/>
              </a:rPr>
              <a:t>Spend Analytics</a:t>
            </a:r>
          </a:p>
        </p:txBody>
      </p:sp>
      <p:sp>
        <p:nvSpPr>
          <p:cNvPr id="7" name="TextBox 6"/>
          <p:cNvSpPr txBox="1"/>
          <p:nvPr/>
        </p:nvSpPr>
        <p:spPr>
          <a:xfrm>
            <a:off x="566928" y="1645919"/>
            <a:ext cx="3685032" cy="1188720"/>
          </a:xfrm>
          <a:prstGeom prst="rect">
            <a:avLst/>
          </a:prstGeom>
          <a:noFill/>
        </p:spPr>
        <p:txBody>
          <a:bodyPr wrap="square" anchor="t" lIns="0" rIns="0" tIns="0" bIns="0">
            <a:spAutoFit/>
          </a:bodyPr>
          <a:lstStyle/>
          <a:p>
            <a:pPr algn="l">
              <a:lnSpc>
                <a:spcPct val="118000"/>
              </a:lnSpc>
              <a:spcBef>
                <a:spcPts val="0"/>
              </a:spcBef>
              <a:spcAft>
                <a:spcPts val="400"/>
              </a:spcAft>
            </a:pPr>
            <a:r>
              <a:rPr sz="1250" b="0" i="0">
                <a:solidFill>
                  <a:srgbClr val="3B4A63"/>
                </a:solidFill>
                <a:latin typeface="Hanken Grotesk"/>
              </a:rPr>
              <a:t>The deepest analytics screen. Filter by agency, client and date, then read spend from every angle.</a:t>
            </a:r>
          </a:p>
        </p:txBody>
      </p:sp>
      <p:sp>
        <p:nvSpPr>
          <p:cNvPr id="8" name="TextBox 7"/>
          <p:cNvSpPr txBox="1"/>
          <p:nvPr/>
        </p:nvSpPr>
        <p:spPr>
          <a:xfrm>
            <a:off x="566928" y="2510027"/>
            <a:ext cx="370332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1" i="0" spc="120">
                <a:solidFill>
                  <a:srgbClr val="6B7790"/>
                </a:solidFill>
                <a:latin typeface="Hanken Grotesk"/>
              </a:rPr>
              <a:t>WHAT YOU CAN DO HERE</a:t>
            </a:r>
          </a:p>
        </p:txBody>
      </p:sp>
      <p:sp>
        <p:nvSpPr>
          <p:cNvPr id="9" name="Oval 8"/>
          <p:cNvSpPr/>
          <p:nvPr/>
        </p:nvSpPr>
        <p:spPr>
          <a:xfrm>
            <a:off x="603504" y="2903219"/>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39211"/>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Twelve charts covering trend, mix, tenure and more</a:t>
            </a:r>
          </a:p>
        </p:txBody>
      </p:sp>
      <p:sp>
        <p:nvSpPr>
          <p:cNvPr id="11" name="Oval 10"/>
          <p:cNvSpPr/>
          <p:nvPr/>
        </p:nvSpPr>
        <p:spPr>
          <a:xfrm>
            <a:off x="603504" y="3438143"/>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74135"/>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Filter by agency, client and month range</a:t>
            </a:r>
          </a:p>
        </p:txBody>
      </p:sp>
      <p:sp>
        <p:nvSpPr>
          <p:cNvPr id="13" name="Oval 12"/>
          <p:cNvSpPr/>
          <p:nvPr/>
        </p:nvSpPr>
        <p:spPr>
          <a:xfrm>
            <a:off x="603504" y="3767328"/>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03320"/>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Cross filter the channel views from the medium donut</a:t>
            </a:r>
          </a:p>
        </p:txBody>
      </p:sp>
      <p:sp>
        <p:nvSpPr>
          <p:cNvPr id="15" name="Oval 14"/>
          <p:cNvSpPr/>
          <p:nvPr/>
        </p:nvSpPr>
        <p:spPr>
          <a:xfrm>
            <a:off x="603504" y="4302252"/>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38244"/>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Export the whole view to Excel or PDF</a:t>
            </a:r>
          </a:p>
        </p:txBody>
      </p:sp>
      <p:sp>
        <p:nvSpPr>
          <p:cNvPr id="17" name="Rounded Rectangle 16"/>
          <p:cNvSpPr/>
          <p:nvPr/>
        </p:nvSpPr>
        <p:spPr>
          <a:xfrm>
            <a:off x="4672583" y="958539"/>
            <a:ext cx="7040880" cy="4867768"/>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17720" y="885387"/>
            <a:ext cx="7040880" cy="4867768"/>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hero-spend.png"/>
          <p:cNvPicPr>
            <a:picLocks noChangeAspect="1"/>
          </p:cNvPicPr>
          <p:nvPr/>
        </p:nvPicPr>
        <p:blipFill>
          <a:blip r:embed="rId2"/>
          <a:stretch>
            <a:fillRect/>
          </a:stretch>
        </p:blipFill>
        <p:spPr>
          <a:xfrm>
            <a:off x="4617720" y="885387"/>
            <a:ext cx="7040880" cy="4867768"/>
          </a:xfrm>
          <a:prstGeom prst="rect">
            <a:avLst/>
          </a:prstGeom>
          <a:ln w="12700">
            <a:solidFill>
              <a:srgbClr val="D6DBE3"/>
            </a:solidFill>
          </a:ln>
        </p:spPr>
      </p:pic>
      <p:sp>
        <p:nvSpPr>
          <p:cNvPr id="20" name="Rectangle 19"/>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2" name="TextBox 21"/>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YOUR SCREENS</a:t>
            </a:r>
          </a:p>
        </p:txBody>
      </p:sp>
      <p:sp>
        <p:nvSpPr>
          <p:cNvPr id="23" name="TextBox 22"/>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08 / 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03504"/>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49808"/>
            <a:ext cx="370332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spc="180">
                <a:solidFill>
                  <a:srgbClr val="D9521C"/>
                </a:solidFill>
                <a:latin typeface="Hanken Grotesk"/>
              </a:rPr>
              <a:t>DEEP DASHBOARD</a:t>
            </a:r>
          </a:p>
        </p:txBody>
      </p:sp>
      <p:sp>
        <p:nvSpPr>
          <p:cNvPr id="6" name="TextBox 5"/>
          <p:cNvSpPr txBox="1"/>
          <p:nvPr/>
        </p:nvSpPr>
        <p:spPr>
          <a:xfrm>
            <a:off x="548640" y="1060704"/>
            <a:ext cx="3721607" cy="118872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16243C"/>
                </a:solidFill>
                <a:latin typeface="Hanken Grotesk"/>
              </a:rPr>
              <a:t>Deep Dashboard</a:t>
            </a:r>
          </a:p>
        </p:txBody>
      </p:sp>
      <p:sp>
        <p:nvSpPr>
          <p:cNvPr id="7" name="TextBox 6"/>
          <p:cNvSpPr txBox="1"/>
          <p:nvPr/>
        </p:nvSpPr>
        <p:spPr>
          <a:xfrm>
            <a:off x="566928" y="1645919"/>
            <a:ext cx="3685032" cy="1188720"/>
          </a:xfrm>
          <a:prstGeom prst="rect">
            <a:avLst/>
          </a:prstGeom>
          <a:noFill/>
        </p:spPr>
        <p:txBody>
          <a:bodyPr wrap="square" anchor="t" lIns="0" rIns="0" tIns="0" bIns="0">
            <a:spAutoFit/>
          </a:bodyPr>
          <a:lstStyle/>
          <a:p>
            <a:pPr algn="l">
              <a:lnSpc>
                <a:spcPct val="118000"/>
              </a:lnSpc>
              <a:spcBef>
                <a:spcPts val="0"/>
              </a:spcBef>
              <a:spcAft>
                <a:spcPts val="400"/>
              </a:spcAft>
            </a:pPr>
            <a:r>
              <a:rPr sz="1250" b="0" i="0">
                <a:solidFill>
                  <a:srgbClr val="3B4A63"/>
                </a:solidFill>
                <a:latin typeface="Hanken Grotesk"/>
              </a:rPr>
              <a:t>A drill down for multi year trends, client contribution and property level performance.</a:t>
            </a:r>
          </a:p>
        </p:txBody>
      </p:sp>
      <p:sp>
        <p:nvSpPr>
          <p:cNvPr id="8" name="TextBox 7"/>
          <p:cNvSpPr txBox="1"/>
          <p:nvPr/>
        </p:nvSpPr>
        <p:spPr>
          <a:xfrm>
            <a:off x="566928" y="2295144"/>
            <a:ext cx="370332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1" i="0" spc="120">
                <a:solidFill>
                  <a:srgbClr val="6B7790"/>
                </a:solidFill>
                <a:latin typeface="Hanken Grotesk"/>
              </a:rPr>
              <a:t>WHAT YOU CAN DO HERE</a:t>
            </a:r>
          </a:p>
        </p:txBody>
      </p:sp>
      <p:sp>
        <p:nvSpPr>
          <p:cNvPr id="9" name="Oval 8"/>
          <p:cNvSpPr/>
          <p:nvPr/>
        </p:nvSpPr>
        <p:spPr>
          <a:xfrm>
            <a:off x="603504" y="2688335"/>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624327"/>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Overlay several years on one trend, with a zoom brush</a:t>
            </a:r>
          </a:p>
        </p:txBody>
      </p:sp>
      <p:sp>
        <p:nvSpPr>
          <p:cNvPr id="11" name="Oval 10"/>
          <p:cNvSpPr/>
          <p:nvPr/>
        </p:nvSpPr>
        <p:spPr>
          <a:xfrm>
            <a:off x="603504" y="3223259"/>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159251"/>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Rank clients and channels by their contribution</a:t>
            </a:r>
          </a:p>
        </p:txBody>
      </p:sp>
      <p:sp>
        <p:nvSpPr>
          <p:cNvPr id="13" name="Oval 12"/>
          <p:cNvSpPr/>
          <p:nvPr/>
        </p:nvSpPr>
        <p:spPr>
          <a:xfrm>
            <a:off x="603504" y="3758183"/>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694175"/>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Sort a property table, including bonus yield</a:t>
            </a:r>
          </a:p>
        </p:txBody>
      </p:sp>
      <p:sp>
        <p:nvSpPr>
          <p:cNvPr id="15" name="Oval 14"/>
          <p:cNvSpPr/>
          <p:nvPr/>
        </p:nvSpPr>
        <p:spPr>
          <a:xfrm>
            <a:off x="603504" y="4087368"/>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59"/>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Export the detail to Excel or PDF</a:t>
            </a:r>
          </a:p>
        </p:txBody>
      </p:sp>
      <p:sp>
        <p:nvSpPr>
          <p:cNvPr id="17" name="Rounded Rectangle 16"/>
          <p:cNvSpPr/>
          <p:nvPr/>
        </p:nvSpPr>
        <p:spPr>
          <a:xfrm>
            <a:off x="4672583" y="958539"/>
            <a:ext cx="7040880" cy="4867768"/>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17720" y="885387"/>
            <a:ext cx="7040880" cy="4867768"/>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hero-deep.png"/>
          <p:cNvPicPr>
            <a:picLocks noChangeAspect="1"/>
          </p:cNvPicPr>
          <p:nvPr/>
        </p:nvPicPr>
        <p:blipFill>
          <a:blip r:embed="rId2"/>
          <a:stretch>
            <a:fillRect/>
          </a:stretch>
        </p:blipFill>
        <p:spPr>
          <a:xfrm>
            <a:off x="4617720" y="885387"/>
            <a:ext cx="7040880" cy="4867768"/>
          </a:xfrm>
          <a:prstGeom prst="rect">
            <a:avLst/>
          </a:prstGeom>
          <a:ln w="12700">
            <a:solidFill>
              <a:srgbClr val="D6DBE3"/>
            </a:solidFill>
          </a:ln>
        </p:spPr>
      </p:pic>
      <p:sp>
        <p:nvSpPr>
          <p:cNvPr id="20" name="Rectangle 19"/>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2" name="TextBox 21"/>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YOUR SCREENS</a:t>
            </a:r>
          </a:p>
        </p:txBody>
      </p:sp>
      <p:sp>
        <p:nvSpPr>
          <p:cNvPr id="23" name="TextBox 22"/>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09 / 40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03504"/>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49808"/>
            <a:ext cx="370332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spc="180">
                <a:solidFill>
                  <a:srgbClr val="D9521C"/>
                </a:solidFill>
                <a:latin typeface="Hanken Grotesk"/>
              </a:rPr>
              <a:t>CHANNEL INTELLIGENCE</a:t>
            </a:r>
          </a:p>
        </p:txBody>
      </p:sp>
      <p:sp>
        <p:nvSpPr>
          <p:cNvPr id="6" name="TextBox 5"/>
          <p:cNvSpPr txBox="1"/>
          <p:nvPr/>
        </p:nvSpPr>
        <p:spPr>
          <a:xfrm>
            <a:off x="548640" y="1060704"/>
            <a:ext cx="3721607" cy="118872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16243C"/>
                </a:solidFill>
                <a:latin typeface="Hanken Grotesk"/>
              </a:rPr>
              <a:t>Channel Intelligence</a:t>
            </a:r>
          </a:p>
        </p:txBody>
      </p:sp>
      <p:sp>
        <p:nvSpPr>
          <p:cNvPr id="7" name="TextBox 6"/>
          <p:cNvSpPr txBox="1"/>
          <p:nvPr/>
        </p:nvSpPr>
        <p:spPr>
          <a:xfrm>
            <a:off x="566928" y="1645919"/>
            <a:ext cx="3685032" cy="1188720"/>
          </a:xfrm>
          <a:prstGeom prst="rect">
            <a:avLst/>
          </a:prstGeom>
          <a:noFill/>
        </p:spPr>
        <p:txBody>
          <a:bodyPr wrap="square" anchor="t" lIns="0" rIns="0" tIns="0" bIns="0">
            <a:spAutoFit/>
          </a:bodyPr>
          <a:lstStyle/>
          <a:p>
            <a:pPr algn="l">
              <a:lnSpc>
                <a:spcPct val="118000"/>
              </a:lnSpc>
              <a:spcBef>
                <a:spcPts val="0"/>
              </a:spcBef>
              <a:spcAft>
                <a:spcPts val="400"/>
              </a:spcAft>
            </a:pPr>
            <a:r>
              <a:rPr sz="1250" b="0" i="0">
                <a:solidFill>
                  <a:srgbClr val="3B4A63"/>
                </a:solidFill>
                <a:latin typeface="Hanken Grotesk"/>
              </a:rPr>
              <a:t>A full read on a single channel across every client and agency, so you review from evidence.</a:t>
            </a:r>
          </a:p>
        </p:txBody>
      </p:sp>
      <p:sp>
        <p:nvSpPr>
          <p:cNvPr id="8" name="TextBox 7"/>
          <p:cNvSpPr txBox="1"/>
          <p:nvPr/>
        </p:nvSpPr>
        <p:spPr>
          <a:xfrm>
            <a:off x="566928" y="2295144"/>
            <a:ext cx="370332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1" i="0" spc="120">
                <a:solidFill>
                  <a:srgbClr val="6B7790"/>
                </a:solidFill>
                <a:latin typeface="Hanken Grotesk"/>
              </a:rPr>
              <a:t>WHAT YOU CAN DO HERE</a:t>
            </a:r>
          </a:p>
        </p:txBody>
      </p:sp>
      <p:sp>
        <p:nvSpPr>
          <p:cNvPr id="9" name="Oval 8"/>
          <p:cNvSpPr/>
          <p:nvPr/>
        </p:nvSpPr>
        <p:spPr>
          <a:xfrm>
            <a:off x="603504" y="2688335"/>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624327"/>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Read spend, growth and the peak month per channel</a:t>
            </a:r>
          </a:p>
        </p:txBody>
      </p:sp>
      <p:sp>
        <p:nvSpPr>
          <p:cNvPr id="11" name="Oval 10"/>
          <p:cNvSpPr/>
          <p:nvPr/>
        </p:nvSpPr>
        <p:spPr>
          <a:xfrm>
            <a:off x="603504" y="3223259"/>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159251"/>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Trace any month back to the schedules behind it</a:t>
            </a:r>
          </a:p>
        </p:txBody>
      </p:sp>
      <p:sp>
        <p:nvSpPr>
          <p:cNvPr id="13" name="Oval 12"/>
          <p:cNvSpPr/>
          <p:nvPr/>
        </p:nvSpPr>
        <p:spPr>
          <a:xfrm>
            <a:off x="603504" y="3758183"/>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694175"/>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See which agencies drive the channel over time</a:t>
            </a:r>
          </a:p>
        </p:txBody>
      </p:sp>
      <p:sp>
        <p:nvSpPr>
          <p:cNvPr id="15" name="Oval 14"/>
          <p:cNvSpPr/>
          <p:nvPr/>
        </p:nvSpPr>
        <p:spPr>
          <a:xfrm>
            <a:off x="603504" y="4293107"/>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29099"/>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Spot how concentrated the channel's clients are</a:t>
            </a:r>
          </a:p>
        </p:txBody>
      </p:sp>
      <p:sp>
        <p:nvSpPr>
          <p:cNvPr id="17" name="Rounded Rectangle 16"/>
          <p:cNvSpPr/>
          <p:nvPr/>
        </p:nvSpPr>
        <p:spPr>
          <a:xfrm>
            <a:off x="4672583" y="958539"/>
            <a:ext cx="7040880" cy="4867768"/>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17720" y="885387"/>
            <a:ext cx="7040880" cy="4867768"/>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hero-channel.png"/>
          <p:cNvPicPr>
            <a:picLocks noChangeAspect="1"/>
          </p:cNvPicPr>
          <p:nvPr/>
        </p:nvPicPr>
        <p:blipFill>
          <a:blip r:embed="rId2"/>
          <a:stretch>
            <a:fillRect/>
          </a:stretch>
        </p:blipFill>
        <p:spPr>
          <a:xfrm>
            <a:off x="4617720" y="885387"/>
            <a:ext cx="7040880" cy="4867768"/>
          </a:xfrm>
          <a:prstGeom prst="rect">
            <a:avLst/>
          </a:prstGeom>
          <a:ln w="12700">
            <a:solidFill>
              <a:srgbClr val="D6DBE3"/>
            </a:solidFill>
          </a:ln>
        </p:spPr>
      </p:pic>
      <p:sp>
        <p:nvSpPr>
          <p:cNvPr id="20" name="Rectangle 19"/>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2" name="TextBox 21"/>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YOUR SCREENS</a:t>
            </a:r>
          </a:p>
        </p:txBody>
      </p:sp>
      <p:sp>
        <p:nvSpPr>
          <p:cNvPr id="23" name="TextBox 22"/>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10 / 40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03504"/>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49808"/>
            <a:ext cx="370332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spc="180">
                <a:solidFill>
                  <a:srgbClr val="D9521C"/>
                </a:solidFill>
                <a:latin typeface="Hanken Grotesk"/>
              </a:rPr>
              <a:t>CLIENT DASHBOARD</a:t>
            </a:r>
          </a:p>
        </p:txBody>
      </p:sp>
      <p:sp>
        <p:nvSpPr>
          <p:cNvPr id="6" name="TextBox 5"/>
          <p:cNvSpPr txBox="1"/>
          <p:nvPr/>
        </p:nvSpPr>
        <p:spPr>
          <a:xfrm>
            <a:off x="548640" y="1060704"/>
            <a:ext cx="3721607" cy="118872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16243C"/>
                </a:solidFill>
                <a:latin typeface="Hanken Grotesk"/>
              </a:rPr>
              <a:t>Client Dashboard</a:t>
            </a:r>
          </a:p>
        </p:txBody>
      </p:sp>
      <p:sp>
        <p:nvSpPr>
          <p:cNvPr id="7" name="TextBox 6"/>
          <p:cNvSpPr txBox="1"/>
          <p:nvPr/>
        </p:nvSpPr>
        <p:spPr>
          <a:xfrm>
            <a:off x="566928" y="1645919"/>
            <a:ext cx="3685032" cy="1188720"/>
          </a:xfrm>
          <a:prstGeom prst="rect">
            <a:avLst/>
          </a:prstGeom>
          <a:noFill/>
        </p:spPr>
        <p:txBody>
          <a:bodyPr wrap="square" anchor="t" lIns="0" rIns="0" tIns="0" bIns="0">
            <a:spAutoFit/>
          </a:bodyPr>
          <a:lstStyle/>
          <a:p>
            <a:pPr algn="l">
              <a:lnSpc>
                <a:spcPct val="118000"/>
              </a:lnSpc>
              <a:spcBef>
                <a:spcPts val="0"/>
              </a:spcBef>
              <a:spcAft>
                <a:spcPts val="400"/>
              </a:spcAft>
            </a:pPr>
            <a:r>
              <a:rPr sz="1250" b="0" i="0">
                <a:solidFill>
                  <a:srgbClr val="3B4A63"/>
                </a:solidFill>
                <a:latin typeface="Hanken Grotesk"/>
              </a:rPr>
              <a:t>A focused analytics view for one client, so you can walk into any client review prepared.</a:t>
            </a:r>
          </a:p>
        </p:txBody>
      </p:sp>
      <p:sp>
        <p:nvSpPr>
          <p:cNvPr id="8" name="TextBox 7"/>
          <p:cNvSpPr txBox="1"/>
          <p:nvPr/>
        </p:nvSpPr>
        <p:spPr>
          <a:xfrm>
            <a:off x="566928" y="2295144"/>
            <a:ext cx="370332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1" i="0" spc="120">
                <a:solidFill>
                  <a:srgbClr val="6B7790"/>
                </a:solidFill>
                <a:latin typeface="Hanken Grotesk"/>
              </a:rPr>
              <a:t>WHAT YOU CAN DO HERE</a:t>
            </a:r>
          </a:p>
        </p:txBody>
      </p:sp>
      <p:sp>
        <p:nvSpPr>
          <p:cNvPr id="9" name="Oval 8"/>
          <p:cNvSpPr/>
          <p:nvPr/>
        </p:nvSpPr>
        <p:spPr>
          <a:xfrm>
            <a:off x="603504" y="2688335"/>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624327"/>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See the client's spend trend across years</a:t>
            </a:r>
          </a:p>
        </p:txBody>
      </p:sp>
      <p:sp>
        <p:nvSpPr>
          <p:cNvPr id="11" name="Oval 10"/>
          <p:cNvSpPr/>
          <p:nvPr/>
        </p:nvSpPr>
        <p:spPr>
          <a:xfrm>
            <a:off x="603504" y="3017519"/>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53511"/>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Read their channel and medium mix at a glance</a:t>
            </a:r>
          </a:p>
        </p:txBody>
      </p:sp>
      <p:sp>
        <p:nvSpPr>
          <p:cNvPr id="13" name="Oval 12"/>
          <p:cNvSpPr/>
          <p:nvPr/>
        </p:nvSpPr>
        <p:spPr>
          <a:xfrm>
            <a:off x="603504" y="3552443"/>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488435"/>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Understand where a client is growing or slowing</a:t>
            </a:r>
          </a:p>
        </p:txBody>
      </p:sp>
      <p:sp>
        <p:nvSpPr>
          <p:cNvPr id="15" name="Rounded Rectangle 14"/>
          <p:cNvSpPr/>
          <p:nvPr/>
        </p:nvSpPr>
        <p:spPr>
          <a:xfrm>
            <a:off x="4672583" y="958539"/>
            <a:ext cx="7040880" cy="4867768"/>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17720" y="885387"/>
            <a:ext cx="7040880" cy="4867768"/>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hero-client.png"/>
          <p:cNvPicPr>
            <a:picLocks noChangeAspect="1"/>
          </p:cNvPicPr>
          <p:nvPr/>
        </p:nvPicPr>
        <p:blipFill>
          <a:blip r:embed="rId2"/>
          <a:stretch>
            <a:fillRect/>
          </a:stretch>
        </p:blipFill>
        <p:spPr>
          <a:xfrm>
            <a:off x="4617720" y="885387"/>
            <a:ext cx="7040880" cy="4867768"/>
          </a:xfrm>
          <a:prstGeom prst="rect">
            <a:avLst/>
          </a:prstGeom>
          <a:ln w="12700">
            <a:solidFill>
              <a:srgbClr val="D6DBE3"/>
            </a:solidFill>
          </a:ln>
        </p:spPr>
      </p:pic>
      <p:sp>
        <p:nvSpPr>
          <p:cNvPr id="18" name="Rectangle 17"/>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0" name="TextBox 19"/>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YOUR SCREENS</a:t>
            </a:r>
          </a:p>
        </p:txBody>
      </p:sp>
      <p:sp>
        <p:nvSpPr>
          <p:cNvPr id="21" name="TextBox 20"/>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11 / 40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03504"/>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49808"/>
            <a:ext cx="370332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spc="180">
                <a:solidFill>
                  <a:srgbClr val="D9521C"/>
                </a:solidFill>
                <a:latin typeface="Hanken Grotesk"/>
              </a:rPr>
              <a:t>REPORTS</a:t>
            </a:r>
          </a:p>
        </p:txBody>
      </p:sp>
      <p:sp>
        <p:nvSpPr>
          <p:cNvPr id="6" name="TextBox 5"/>
          <p:cNvSpPr txBox="1"/>
          <p:nvPr/>
        </p:nvSpPr>
        <p:spPr>
          <a:xfrm>
            <a:off x="548640" y="1060704"/>
            <a:ext cx="3721607" cy="118872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16243C"/>
                </a:solidFill>
                <a:latin typeface="Hanken Grotesk"/>
              </a:rPr>
              <a:t>Reports</a:t>
            </a:r>
          </a:p>
        </p:txBody>
      </p:sp>
      <p:sp>
        <p:nvSpPr>
          <p:cNvPr id="7" name="TextBox 6"/>
          <p:cNvSpPr txBox="1"/>
          <p:nvPr/>
        </p:nvSpPr>
        <p:spPr>
          <a:xfrm>
            <a:off x="566928" y="1645919"/>
            <a:ext cx="3685032" cy="1188720"/>
          </a:xfrm>
          <a:prstGeom prst="rect">
            <a:avLst/>
          </a:prstGeom>
          <a:noFill/>
        </p:spPr>
        <p:txBody>
          <a:bodyPr wrap="square" anchor="t" lIns="0" rIns="0" tIns="0" bIns="0">
            <a:spAutoFit/>
          </a:bodyPr>
          <a:lstStyle/>
          <a:p>
            <a:pPr algn="l">
              <a:lnSpc>
                <a:spcPct val="118000"/>
              </a:lnSpc>
              <a:spcBef>
                <a:spcPts val="0"/>
              </a:spcBef>
              <a:spcAft>
                <a:spcPts val="400"/>
              </a:spcAft>
            </a:pPr>
            <a:r>
              <a:rPr sz="1250" b="0" i="0">
                <a:solidFill>
                  <a:srgbClr val="3B4A63"/>
                </a:solidFill>
                <a:latin typeface="Hanken Grotesk"/>
              </a:rPr>
              <a:t>Generate branded, shareable reports for any agency, client or channel, in Excel or PDF.</a:t>
            </a:r>
          </a:p>
        </p:txBody>
      </p:sp>
      <p:sp>
        <p:nvSpPr>
          <p:cNvPr id="8" name="TextBox 7"/>
          <p:cNvSpPr txBox="1"/>
          <p:nvPr/>
        </p:nvSpPr>
        <p:spPr>
          <a:xfrm>
            <a:off x="566928" y="2295144"/>
            <a:ext cx="370332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1" i="0" spc="120">
                <a:solidFill>
                  <a:srgbClr val="6B7790"/>
                </a:solidFill>
                <a:latin typeface="Hanken Grotesk"/>
              </a:rPr>
              <a:t>WHAT YOU CAN DO HERE</a:t>
            </a:r>
          </a:p>
        </p:txBody>
      </p:sp>
      <p:sp>
        <p:nvSpPr>
          <p:cNvPr id="9" name="Oval 8"/>
          <p:cNvSpPr/>
          <p:nvPr/>
        </p:nvSpPr>
        <p:spPr>
          <a:xfrm>
            <a:off x="603504" y="2688335"/>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624327"/>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Choose an agency, client or channel to report on</a:t>
            </a:r>
          </a:p>
        </p:txBody>
      </p:sp>
      <p:sp>
        <p:nvSpPr>
          <p:cNvPr id="11" name="Oval 10"/>
          <p:cNvSpPr/>
          <p:nvPr/>
        </p:nvSpPr>
        <p:spPr>
          <a:xfrm>
            <a:off x="603504" y="3223259"/>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159251"/>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Include rate history and property timelines</a:t>
            </a:r>
          </a:p>
        </p:txBody>
      </p:sp>
      <p:sp>
        <p:nvSpPr>
          <p:cNvPr id="13" name="Oval 12"/>
          <p:cNvSpPr/>
          <p:nvPr/>
        </p:nvSpPr>
        <p:spPr>
          <a:xfrm>
            <a:off x="603504" y="3552443"/>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488435"/>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Download as branded Excel or PDF</a:t>
            </a:r>
          </a:p>
        </p:txBody>
      </p:sp>
      <p:sp>
        <p:nvSpPr>
          <p:cNvPr id="15" name="Oval 14"/>
          <p:cNvSpPr/>
          <p:nvPr/>
        </p:nvSpPr>
        <p:spPr>
          <a:xfrm>
            <a:off x="603504" y="3881628"/>
            <a:ext cx="100584" cy="100584"/>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817620"/>
            <a:ext cx="3429000" cy="731520"/>
          </a:xfrm>
          <a:prstGeom prst="rect">
            <a:avLst/>
          </a:prstGeom>
          <a:noFill/>
        </p:spPr>
        <p:txBody>
          <a:bodyPr wrap="square" anchor="t" lIns="0" rIns="0" tIns="0" bIns="0">
            <a:spAutoFit/>
          </a:bodyPr>
          <a:lstStyle/>
          <a:p>
            <a:pPr algn="l">
              <a:lnSpc>
                <a:spcPct val="110000"/>
              </a:lnSpc>
              <a:spcBef>
                <a:spcPts val="0"/>
              </a:spcBef>
              <a:spcAft>
                <a:spcPts val="400"/>
              </a:spcAft>
            </a:pPr>
            <a:r>
              <a:rPr sz="1200" b="0" i="0">
                <a:solidFill>
                  <a:srgbClr val="16243C"/>
                </a:solidFill>
                <a:latin typeface="Hanken Grotesk"/>
              </a:rPr>
              <a:t>Share a clean document with stakeholders</a:t>
            </a:r>
          </a:p>
        </p:txBody>
      </p:sp>
      <p:sp>
        <p:nvSpPr>
          <p:cNvPr id="17" name="Rounded Rectangle 16"/>
          <p:cNvSpPr/>
          <p:nvPr/>
        </p:nvSpPr>
        <p:spPr>
          <a:xfrm>
            <a:off x="4672583" y="958539"/>
            <a:ext cx="7040880" cy="4867768"/>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17720" y="885387"/>
            <a:ext cx="7040880" cy="4867768"/>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hero-reports.png"/>
          <p:cNvPicPr>
            <a:picLocks noChangeAspect="1"/>
          </p:cNvPicPr>
          <p:nvPr/>
        </p:nvPicPr>
        <p:blipFill>
          <a:blip r:embed="rId2"/>
          <a:stretch>
            <a:fillRect/>
          </a:stretch>
        </p:blipFill>
        <p:spPr>
          <a:xfrm>
            <a:off x="4617720" y="885387"/>
            <a:ext cx="7040880" cy="4867768"/>
          </a:xfrm>
          <a:prstGeom prst="rect">
            <a:avLst/>
          </a:prstGeom>
          <a:ln w="12700">
            <a:solidFill>
              <a:srgbClr val="D6DBE3"/>
            </a:solidFill>
          </a:ln>
        </p:spPr>
      </p:pic>
      <p:sp>
        <p:nvSpPr>
          <p:cNvPr id="20" name="Rectangle 19"/>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2" name="TextBox 21"/>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YOUR SCREENS</a:t>
            </a:r>
          </a:p>
        </p:txBody>
      </p:sp>
      <p:sp>
        <p:nvSpPr>
          <p:cNvPr id="23" name="TextBox 22"/>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12 / 40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48840"/>
            <a:ext cx="2743200" cy="1280160"/>
          </a:xfrm>
          <a:prstGeom prst="rect">
            <a:avLst/>
          </a:prstGeom>
          <a:noFill/>
        </p:spPr>
        <p:txBody>
          <a:bodyPr wrap="square" anchor="t" lIns="0" rIns="0" tIns="0" bIns="0">
            <a:spAutoFit/>
          </a:bodyPr>
          <a:lstStyle/>
          <a:p>
            <a:pPr algn="l">
              <a:lnSpc>
                <a:spcPct val="100000"/>
              </a:lnSpc>
              <a:spcBef>
                <a:spcPts val="0"/>
              </a:spcBef>
              <a:spcAft>
                <a:spcPts val="400"/>
              </a:spcAft>
            </a:pPr>
            <a:r>
              <a:rPr sz="9200" b="1" i="1">
                <a:solidFill>
                  <a:srgbClr val="243452"/>
                </a:solidFill>
                <a:latin typeface="Newsreader"/>
              </a:rPr>
              <a:t>03</a:t>
            </a:r>
          </a:p>
        </p:txBody>
      </p:sp>
      <p:sp>
        <p:nvSpPr>
          <p:cNvPr id="5" name="TextBox 4"/>
          <p:cNvSpPr txBox="1"/>
          <p:nvPr/>
        </p:nvSpPr>
        <p:spPr>
          <a:xfrm>
            <a:off x="2514600" y="2240280"/>
            <a:ext cx="868680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spc="240">
                <a:solidFill>
                  <a:srgbClr val="F0703F"/>
                </a:solidFill>
                <a:latin typeface="Hanken Grotesk"/>
              </a:rPr>
              <a:t>EVERY CHART, EXPLAINED</a:t>
            </a:r>
          </a:p>
        </p:txBody>
      </p:sp>
      <p:sp>
        <p:nvSpPr>
          <p:cNvPr id="6" name="TextBox 5"/>
          <p:cNvSpPr txBox="1"/>
          <p:nvPr/>
        </p:nvSpPr>
        <p:spPr>
          <a:xfrm>
            <a:off x="2487168" y="2651760"/>
            <a:ext cx="8869680" cy="1280160"/>
          </a:xfrm>
          <a:prstGeom prst="rect">
            <a:avLst/>
          </a:prstGeom>
          <a:noFill/>
        </p:spPr>
        <p:txBody>
          <a:bodyPr wrap="square" anchor="t" lIns="0" rIns="0" tIns="0" bIns="0">
            <a:spAutoFit/>
          </a:bodyPr>
          <a:lstStyle/>
          <a:p>
            <a:pPr algn="l">
              <a:lnSpc>
                <a:spcPct val="102000"/>
              </a:lnSpc>
              <a:spcBef>
                <a:spcPts val="0"/>
              </a:spcBef>
              <a:spcAft>
                <a:spcPts val="400"/>
              </a:spcAft>
            </a:pPr>
            <a:r>
              <a:rPr sz="4000" b="1" i="0">
                <a:solidFill>
                  <a:srgbClr val="FFFFFF"/>
                </a:solidFill>
                <a:latin typeface="Hanken Grotesk"/>
              </a:rPr>
              <a:t>Reading every chart,
one at a time</a:t>
            </a:r>
          </a:p>
        </p:txBody>
      </p:sp>
      <p:sp>
        <p:nvSpPr>
          <p:cNvPr id="7" name="TextBox 6"/>
          <p:cNvSpPr txBox="1"/>
          <p:nvPr/>
        </p:nvSpPr>
        <p:spPr>
          <a:xfrm>
            <a:off x="2514600" y="3977639"/>
            <a:ext cx="7955279" cy="914400"/>
          </a:xfrm>
          <a:prstGeom prst="rect">
            <a:avLst/>
          </a:prstGeom>
          <a:noFill/>
        </p:spPr>
        <p:txBody>
          <a:bodyPr wrap="square" anchor="t" lIns="0" rIns="0" tIns="0" bIns="0">
            <a:spAutoFit/>
          </a:bodyPr>
          <a:lstStyle/>
          <a:p>
            <a:pPr algn="l">
              <a:lnSpc>
                <a:spcPct val="120000"/>
              </a:lnSpc>
              <a:spcBef>
                <a:spcPts val="0"/>
              </a:spcBef>
              <a:spcAft>
                <a:spcPts val="400"/>
              </a:spcAft>
            </a:pPr>
            <a:r>
              <a:rPr sz="1450" b="0" i="0">
                <a:solidFill>
                  <a:srgbClr val="9FB0CE"/>
                </a:solidFill>
                <a:latin typeface="Hanken Grotesk"/>
              </a:rPr>
              <a:t>For each chart: what it shows, how to read it, and the data that drives it. Grouped by the screen it lives on.</a:t>
            </a:r>
          </a:p>
        </p:txBody>
      </p:sp>
      <p:sp>
        <p:nvSpPr>
          <p:cNvPr id="8" name="Oval 7"/>
          <p:cNvSpPr/>
          <p:nvPr/>
        </p:nvSpPr>
        <p:spPr>
          <a:xfrm>
            <a:off x="10981944" y="466344"/>
            <a:ext cx="621792" cy="621792"/>
          </a:xfrm>
          <a:prstGeom prst="ellipse">
            <a:avLst/>
          </a:prstGeom>
          <a:noFill/>
          <a:ln w="12700">
            <a:solidFill>
              <a:srgbClr val="3A4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100084" y="584484"/>
            <a:ext cx="385511" cy="385511"/>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0084" y="566196"/>
            <a:ext cx="385511" cy="385511"/>
          </a:xfrm>
          <a:prstGeom prst="rect">
            <a:avLst/>
          </a:prstGeom>
          <a:noFill/>
        </p:spPr>
        <p:txBody>
          <a:bodyPr wrap="square" anchor="ctr" lIns="0" rIns="0" tIns="0" bIns="0">
            <a:spAutoFit/>
          </a:bodyPr>
          <a:lstStyle/>
          <a:p>
            <a:pPr algn="ctr">
              <a:lnSpc>
                <a:spcPct val="100000"/>
              </a:lnSpc>
              <a:spcBef>
                <a:spcPts val="0"/>
              </a:spcBef>
              <a:spcAft>
                <a:spcPts val="400"/>
              </a:spcAft>
            </a:pPr>
            <a:r>
              <a:rPr sz="800" b="1" i="0">
                <a:solidFill>
                  <a:srgbClr val="FFFFFF"/>
                </a:solidFill>
                <a:latin typeface="Hanken Grotesk"/>
              </a:rPr>
              <a:t>O</a:t>
            </a:r>
          </a:p>
        </p:txBody>
      </p:sp>
      <p:sp>
        <p:nvSpPr>
          <p:cNvPr id="11" name="Oval 10"/>
          <p:cNvSpPr/>
          <p:nvPr/>
        </p:nvSpPr>
        <p:spPr>
          <a:xfrm>
            <a:off x="11485595" y="484997"/>
            <a:ext cx="99486" cy="99486"/>
          </a:xfrm>
          <a:prstGeom prst="ellipse">
            <a:avLst/>
          </a:prstGeom>
          <a:solidFill>
            <a:srgbClr val="F07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308384" y="1013520"/>
            <a:ext cx="62179" cy="62179"/>
          </a:xfrm>
          <a:prstGeom prst="ellipse">
            <a:avLst/>
          </a:prstGeom>
          <a:solidFill>
            <a:srgbClr val="6E8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EXECUTIVE DASHBOARD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Annual Achievement</a:t>
            </a:r>
          </a:p>
        </p:txBody>
      </p:sp>
      <p:sp>
        <p:nvSpPr>
          <p:cNvPr id="7" name="Rounded Rectangle 6"/>
          <p:cNvSpPr/>
          <p:nvPr/>
        </p:nvSpPr>
        <p:spPr>
          <a:xfrm>
            <a:off x="621792" y="3007560"/>
            <a:ext cx="6537960" cy="1903582"/>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934408"/>
            <a:ext cx="6537960" cy="1903582"/>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xec-00.png"/>
          <p:cNvPicPr>
            <a:picLocks noChangeAspect="1"/>
          </p:cNvPicPr>
          <p:nvPr/>
        </p:nvPicPr>
        <p:blipFill>
          <a:blip r:embed="rId2"/>
          <a:stretch>
            <a:fillRect/>
          </a:stretch>
        </p:blipFill>
        <p:spPr>
          <a:xfrm>
            <a:off x="566928" y="2934408"/>
            <a:ext cx="6537960" cy="1903582"/>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year's budget target, the target you should have reached by this month, and actual billings so far, all in LKR millions.</a:t>
            </a:r>
          </a:p>
        </p:txBody>
      </p:sp>
      <p:sp>
        <p:nvSpPr>
          <p:cNvPr id="13" name="Rectangle 12"/>
          <p:cNvSpPr/>
          <p:nvPr/>
        </p:nvSpPr>
        <p:spPr>
          <a:xfrm>
            <a:off x="7452360" y="312267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31043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4152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Compare the green Actual bar against the amber pacing target. The chip reads the percent of the pacing target achieved. The lighter tip on Actual is forecast fill for months not yet closed.</a:t>
            </a:r>
          </a:p>
        </p:txBody>
      </p:sp>
      <p:sp>
        <p:nvSpPr>
          <p:cNvPr id="16" name="Rectangle 15"/>
          <p:cNvSpPr/>
          <p:nvPr/>
        </p:nvSpPr>
        <p:spPr>
          <a:xfrm>
            <a:off x="7452360" y="4585716"/>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456742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87832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Annual Target set by admins, confirmed schedule billings, and Group Head forecasts for the gap month.</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14 / 40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EXECUTIVE DASHBOARD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Monthly Spend</a:t>
            </a:r>
          </a:p>
        </p:txBody>
      </p:sp>
      <p:sp>
        <p:nvSpPr>
          <p:cNvPr id="7" name="Rounded Rectangle 6"/>
          <p:cNvSpPr/>
          <p:nvPr/>
        </p:nvSpPr>
        <p:spPr>
          <a:xfrm>
            <a:off x="621792" y="3032476"/>
            <a:ext cx="6537960" cy="1853750"/>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959324"/>
            <a:ext cx="6537960" cy="1853750"/>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xec-01.png"/>
          <p:cNvPicPr>
            <a:picLocks noChangeAspect="1"/>
          </p:cNvPicPr>
          <p:nvPr/>
        </p:nvPicPr>
        <p:blipFill>
          <a:blip r:embed="rId2"/>
          <a:stretch>
            <a:fillRect/>
          </a:stretch>
        </p:blipFill>
        <p:spPr>
          <a:xfrm>
            <a:off x="566928" y="2959324"/>
            <a:ext cx="6537960" cy="1853750"/>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Company wide spend for each month of the selected year, with the coming month shown as a forecast point.</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Follow the line for pace and seasonality. The final point is a forecast until real schedules arrive, then it switches to actual on its own.</a:t>
            </a:r>
          </a:p>
        </p:txBody>
      </p:sp>
      <p:sp>
        <p:nvSpPr>
          <p:cNvPr id="16" name="Rectangle 15"/>
          <p:cNvSpPr/>
          <p:nvPr/>
        </p:nvSpPr>
        <p:spPr>
          <a:xfrm>
            <a:off x="7452360" y="4174235"/>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41559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4668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Confirmed schedule billings, plus Group Head forecasts for the upcoming month.</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15 / 40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EXECUTIVE DASHBOARD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Group Contribution</a:t>
            </a:r>
          </a:p>
        </p:txBody>
      </p:sp>
      <p:sp>
        <p:nvSpPr>
          <p:cNvPr id="7" name="Rounded Rectangle 6"/>
          <p:cNvSpPr/>
          <p:nvPr/>
        </p:nvSpPr>
        <p:spPr>
          <a:xfrm>
            <a:off x="621792" y="3000085"/>
            <a:ext cx="6537960" cy="1918532"/>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926933"/>
            <a:ext cx="6537960" cy="1918532"/>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xec-02.png"/>
          <p:cNvPicPr>
            <a:picLocks noChangeAspect="1"/>
          </p:cNvPicPr>
          <p:nvPr/>
        </p:nvPicPr>
        <p:blipFill>
          <a:blip r:embed="rId2"/>
          <a:stretch>
            <a:fillRect/>
          </a:stretch>
        </p:blipFill>
        <p:spPr>
          <a:xfrm>
            <a:off x="566928" y="2926933"/>
            <a:ext cx="6537960" cy="1918532"/>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Two donuts, one per recent month, each split into every team's share of that month's total team spend.</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Each slice is a team, labelled by its head. Compare the two donuts to see whose share grew or shrank month to month.</a:t>
            </a:r>
          </a:p>
        </p:txBody>
      </p:sp>
      <p:sp>
        <p:nvSpPr>
          <p:cNvPr id="16" name="Rectangle 15"/>
          <p:cNvSpPr/>
          <p:nvPr/>
        </p:nvSpPr>
        <p:spPr>
          <a:xfrm>
            <a:off x="7452360" y="4174235"/>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41559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4668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Schedule billings grouped by the team that owns each client, for the latest two months with data.</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16 / 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EXECUTIVE DASHBOARD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Monthly Avg</a:t>
            </a:r>
          </a:p>
        </p:txBody>
      </p:sp>
      <p:sp>
        <p:nvSpPr>
          <p:cNvPr id="7" name="Rounded Rectangle 6"/>
          <p:cNvSpPr/>
          <p:nvPr/>
        </p:nvSpPr>
        <p:spPr>
          <a:xfrm>
            <a:off x="621792" y="3107224"/>
            <a:ext cx="6537960" cy="1704254"/>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3034072"/>
            <a:ext cx="6537960" cy="1704254"/>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xec-03.png"/>
          <p:cNvPicPr>
            <a:picLocks noChangeAspect="1"/>
          </p:cNvPicPr>
          <p:nvPr/>
        </p:nvPicPr>
        <p:blipFill>
          <a:blip r:embed="rId2"/>
          <a:stretch>
            <a:fillRect/>
          </a:stretch>
        </p:blipFill>
        <p:spPr>
          <a:xfrm>
            <a:off x="566928" y="3034072"/>
            <a:ext cx="6537960" cy="1704254"/>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average monthly spend for each calendar year, one bar per year.</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A taller bar is a higher run rate that year. A part year divides by only the months that have data, so partial years stay comparable.</a:t>
            </a:r>
          </a:p>
        </p:txBody>
      </p:sp>
      <p:sp>
        <p:nvSpPr>
          <p:cNvPr id="16" name="Rectangle 15"/>
          <p:cNvSpPr/>
          <p:nvPr/>
        </p:nvSpPr>
        <p:spPr>
          <a:xfrm>
            <a:off x="7452360" y="4174235"/>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41559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4668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Each year's total billings divided by its number of months with data.</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17 / 40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EXECUTIVE DASHBOARD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Monthly Billing Trend</a:t>
            </a:r>
          </a:p>
        </p:txBody>
      </p:sp>
      <p:sp>
        <p:nvSpPr>
          <p:cNvPr id="7" name="Rounded Rectangle 6"/>
          <p:cNvSpPr/>
          <p:nvPr/>
        </p:nvSpPr>
        <p:spPr>
          <a:xfrm>
            <a:off x="621792" y="2917862"/>
            <a:ext cx="6537960" cy="2082978"/>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844710"/>
            <a:ext cx="6537960" cy="2082978"/>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xec-04.png"/>
          <p:cNvPicPr>
            <a:picLocks noChangeAspect="1"/>
          </p:cNvPicPr>
          <p:nvPr/>
        </p:nvPicPr>
        <p:blipFill>
          <a:blip r:embed="rId2"/>
          <a:stretch>
            <a:fillRect/>
          </a:stretch>
        </p:blipFill>
        <p:spPr>
          <a:xfrm>
            <a:off x="566928" y="2844710"/>
            <a:ext cx="6537960" cy="2082978"/>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Invoice value over the last 24 months, shown as one combined line or split by agency.</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Toggle Combined or By Agency at the top right. Look for sustained rises, dips and seasonal peaks.</a:t>
            </a:r>
          </a:p>
        </p:txBody>
      </p:sp>
      <p:sp>
        <p:nvSpPr>
          <p:cNvPr id="16" name="Rectangle 15"/>
          <p:cNvSpPr/>
          <p:nvPr/>
        </p:nvSpPr>
        <p:spPr>
          <a:xfrm>
            <a:off x="7452360" y="3968496"/>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9502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26110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Schedule billings totalled by invoice month.</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18 / 40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EXECUTIVE DASHBOARD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Agency Comparison</a:t>
            </a:r>
          </a:p>
        </p:txBody>
      </p:sp>
      <p:sp>
        <p:nvSpPr>
          <p:cNvPr id="7" name="Rounded Rectangle 6"/>
          <p:cNvSpPr/>
          <p:nvPr/>
        </p:nvSpPr>
        <p:spPr>
          <a:xfrm>
            <a:off x="621792" y="2628837"/>
            <a:ext cx="6537960" cy="2661029"/>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555685"/>
            <a:ext cx="6537960" cy="2661029"/>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xec-05.png"/>
          <p:cNvPicPr>
            <a:picLocks noChangeAspect="1"/>
          </p:cNvPicPr>
          <p:nvPr/>
        </p:nvPicPr>
        <p:blipFill>
          <a:blip r:embed="rId2"/>
          <a:stretch>
            <a:fillRect/>
          </a:stretch>
        </p:blipFill>
        <p:spPr>
          <a:xfrm>
            <a:off x="566928" y="2555685"/>
            <a:ext cx="6537960" cy="2661029"/>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Monthly billings per agency over the last 12 months, with a summary card for each agency below.</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Compare bar heights month by month to see which agency paces ahead. The cards read each agency's totals and growth.</a:t>
            </a:r>
          </a:p>
        </p:txBody>
      </p:sp>
      <p:sp>
        <p:nvSpPr>
          <p:cNvPr id="16" name="Rectangle 15"/>
          <p:cNvSpPr/>
          <p:nvPr/>
        </p:nvSpPr>
        <p:spPr>
          <a:xfrm>
            <a:off x="7452360" y="4174235"/>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41559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4668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Schedule billings grouped by agency.</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19 / 40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EXECUTIVE DASHBOARD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Medium Split</a:t>
            </a:r>
          </a:p>
        </p:txBody>
      </p:sp>
      <p:sp>
        <p:nvSpPr>
          <p:cNvPr id="7" name="Rounded Rectangle 6"/>
          <p:cNvSpPr/>
          <p:nvPr/>
        </p:nvSpPr>
        <p:spPr>
          <a:xfrm>
            <a:off x="621792" y="2932812"/>
            <a:ext cx="6537960" cy="2053078"/>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859660"/>
            <a:ext cx="6537960" cy="2053078"/>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xec-06.png"/>
          <p:cNvPicPr>
            <a:picLocks noChangeAspect="1"/>
          </p:cNvPicPr>
          <p:nvPr/>
        </p:nvPicPr>
        <p:blipFill>
          <a:blip r:embed="rId2"/>
          <a:stretch>
            <a:fillRect/>
          </a:stretch>
        </p:blipFill>
        <p:spPr>
          <a:xfrm>
            <a:off x="566928" y="2859660"/>
            <a:ext cx="6537960" cy="2053078"/>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Two donuts, this month and year to date, each split by medium with the value and share per medium.</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ring shows where money goes by channel type. Compare this month against the year to spot a shift toward or away from a medium.</a:t>
            </a:r>
          </a:p>
        </p:txBody>
      </p:sp>
      <p:sp>
        <p:nvSpPr>
          <p:cNvPr id="16" name="Rectangle 15"/>
          <p:cNvSpPr/>
          <p:nvPr/>
        </p:nvSpPr>
        <p:spPr>
          <a:xfrm>
            <a:off x="7452360" y="4174235"/>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41559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4668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Schedule billings grouped by medium.</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20 / 40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SPEND ANALYTICS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Monthly Spend Trend</a:t>
            </a:r>
          </a:p>
        </p:txBody>
      </p:sp>
      <p:sp>
        <p:nvSpPr>
          <p:cNvPr id="7" name="Rounded Rectangle 6"/>
          <p:cNvSpPr/>
          <p:nvPr/>
        </p:nvSpPr>
        <p:spPr>
          <a:xfrm>
            <a:off x="621792" y="2962711"/>
            <a:ext cx="6537960" cy="1993280"/>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889559"/>
            <a:ext cx="6537960" cy="1993280"/>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end-00.png"/>
          <p:cNvPicPr>
            <a:picLocks noChangeAspect="1"/>
          </p:cNvPicPr>
          <p:nvPr/>
        </p:nvPicPr>
        <p:blipFill>
          <a:blip r:embed="rId2"/>
          <a:stretch>
            <a:fillRect/>
          </a:stretch>
        </p:blipFill>
        <p:spPr>
          <a:xfrm>
            <a:off x="566928" y="2889559"/>
            <a:ext cx="6537960" cy="1993280"/>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One line per year on a fixed Jan to Dec axis, so the years overlay for easy comparison.</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Read vertically to compare the same month across years. A higher line means a stronger year at that point.</a:t>
            </a:r>
          </a:p>
        </p:txBody>
      </p:sp>
      <p:sp>
        <p:nvSpPr>
          <p:cNvPr id="16" name="Rectangle 15"/>
          <p:cNvSpPr/>
          <p:nvPr/>
        </p:nvSpPr>
        <p:spPr>
          <a:xfrm>
            <a:off x="7452360" y="3968496"/>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9502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26110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Committed schedule value by month, pivoted into one series per year.</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21 / 40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SPEND ANALYTICS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Cumulative Spend</a:t>
            </a:r>
          </a:p>
        </p:txBody>
      </p:sp>
      <p:sp>
        <p:nvSpPr>
          <p:cNvPr id="7" name="Rounded Rectangle 6"/>
          <p:cNvSpPr/>
          <p:nvPr/>
        </p:nvSpPr>
        <p:spPr>
          <a:xfrm>
            <a:off x="621792" y="2254235"/>
            <a:ext cx="6537960" cy="3410232"/>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181083"/>
            <a:ext cx="6537960" cy="3410232"/>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end-01.png"/>
          <p:cNvPicPr>
            <a:picLocks noChangeAspect="1"/>
          </p:cNvPicPr>
          <p:nvPr/>
        </p:nvPicPr>
        <p:blipFill>
          <a:blip r:embed="rId2"/>
          <a:stretch>
            <a:fillRect/>
          </a:stretch>
        </p:blipFill>
        <p:spPr>
          <a:xfrm>
            <a:off x="566928" y="2181083"/>
            <a:ext cx="6537960" cy="3410232"/>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running total of committed media value building up across the period.</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A steeper slope means faster spending. Flat stretches are quiet months.</a:t>
            </a:r>
          </a:p>
        </p:txBody>
      </p:sp>
      <p:sp>
        <p:nvSpPr>
          <p:cNvPr id="16" name="Rectangle 15"/>
          <p:cNvSpPr/>
          <p:nvPr/>
        </p:nvSpPr>
        <p:spPr>
          <a:xfrm>
            <a:off x="7452360" y="3968496"/>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9502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26110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Schedule value accumulated month by month.</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22 / 40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SPEND ANALYTICS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Spend by Agency</a:t>
            </a:r>
          </a:p>
        </p:txBody>
      </p:sp>
      <p:sp>
        <p:nvSpPr>
          <p:cNvPr id="7" name="Rounded Rectangle 6"/>
          <p:cNvSpPr/>
          <p:nvPr/>
        </p:nvSpPr>
        <p:spPr>
          <a:xfrm>
            <a:off x="621792" y="2254235"/>
            <a:ext cx="6537960" cy="3410232"/>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181083"/>
            <a:ext cx="6537960" cy="3410232"/>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end-02.png"/>
          <p:cNvPicPr>
            <a:picLocks noChangeAspect="1"/>
          </p:cNvPicPr>
          <p:nvPr/>
        </p:nvPicPr>
        <p:blipFill>
          <a:blip r:embed="rId2"/>
          <a:stretch>
            <a:fillRect/>
          </a:stretch>
        </p:blipFill>
        <p:spPr>
          <a:xfrm>
            <a:off x="566928" y="2181083"/>
            <a:ext cx="6537960" cy="3410232"/>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Total committed value per agency, as horizontal bars.</a:t>
            </a:r>
          </a:p>
        </p:txBody>
      </p:sp>
      <p:sp>
        <p:nvSpPr>
          <p:cNvPr id="13" name="Rectangle 12"/>
          <p:cNvSpPr/>
          <p:nvPr/>
        </p:nvSpPr>
        <p:spPr>
          <a:xfrm>
            <a:off x="7452360" y="271119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6929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003803"/>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longest bar is the biggest agency by spend. It sizes each agency at a glance.</a:t>
            </a:r>
          </a:p>
        </p:txBody>
      </p:sp>
      <p:sp>
        <p:nvSpPr>
          <p:cNvPr id="16" name="Rectangle 15"/>
          <p:cNvSpPr/>
          <p:nvPr/>
        </p:nvSpPr>
        <p:spPr>
          <a:xfrm>
            <a:off x="7452360" y="3762755"/>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74446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055363"/>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Schedule value grouped by agency across the filtered period.</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23 / 40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SPEND ANALYTICS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Spend Concentration (Pareto)</a:t>
            </a:r>
          </a:p>
        </p:txBody>
      </p:sp>
      <p:sp>
        <p:nvSpPr>
          <p:cNvPr id="7" name="Rounded Rectangle 6"/>
          <p:cNvSpPr/>
          <p:nvPr/>
        </p:nvSpPr>
        <p:spPr>
          <a:xfrm>
            <a:off x="621792" y="2917862"/>
            <a:ext cx="6537960" cy="2082978"/>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844710"/>
            <a:ext cx="6537960" cy="2082978"/>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end-03.png"/>
          <p:cNvPicPr>
            <a:picLocks noChangeAspect="1"/>
          </p:cNvPicPr>
          <p:nvPr/>
        </p:nvPicPr>
        <p:blipFill>
          <a:blip r:embed="rId2"/>
          <a:stretch>
            <a:fillRect/>
          </a:stretch>
        </p:blipFill>
        <p:spPr>
          <a:xfrm>
            <a:off x="566928" y="2844710"/>
            <a:ext cx="6537960" cy="2082978"/>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Channels ranked by spend as bars, with a cumulative percentage line and an 80 percent reference line.</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Where the line crosses 80 percent tells you how few channels make up most of the spend.</a:t>
            </a:r>
          </a:p>
        </p:txBody>
      </p:sp>
      <p:sp>
        <p:nvSpPr>
          <p:cNvPr id="16" name="Rectangle 15"/>
          <p:cNvSpPr/>
          <p:nvPr/>
        </p:nvSpPr>
        <p:spPr>
          <a:xfrm>
            <a:off x="7452360" y="3968496"/>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9502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26110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Per channel spend, sorted high to low, with a running cumulative share.</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24 / 40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SPEND ANALYTICS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Medium Mix Shift</a:t>
            </a:r>
          </a:p>
        </p:txBody>
      </p:sp>
      <p:sp>
        <p:nvSpPr>
          <p:cNvPr id="7" name="Rounded Rectangle 6"/>
          <p:cNvSpPr/>
          <p:nvPr/>
        </p:nvSpPr>
        <p:spPr>
          <a:xfrm>
            <a:off x="621792" y="2148296"/>
            <a:ext cx="6537960" cy="3622110"/>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075144"/>
            <a:ext cx="6537960" cy="3622110"/>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end-04.png"/>
          <p:cNvPicPr>
            <a:picLocks noChangeAspect="1"/>
          </p:cNvPicPr>
          <p:nvPr/>
        </p:nvPicPr>
        <p:blipFill>
          <a:blip r:embed="rId2"/>
          <a:stretch>
            <a:fillRect/>
          </a:stretch>
        </p:blipFill>
        <p:spPr>
          <a:xfrm>
            <a:off x="566928" y="2075144"/>
            <a:ext cx="6537960" cy="3622110"/>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A 100 percent stacked area showing each medium's share of spend, month by month.</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Each band is a medium. A widening band means that medium is taking a larger share over time.</a:t>
            </a:r>
          </a:p>
        </p:txBody>
      </p:sp>
      <p:sp>
        <p:nvSpPr>
          <p:cNvPr id="16" name="Rectangle 15"/>
          <p:cNvSpPr/>
          <p:nvPr/>
        </p:nvSpPr>
        <p:spPr>
          <a:xfrm>
            <a:off x="7452360" y="3968496"/>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9502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26110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Monthly spend by medium, normalised to 100 percent.</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25 / 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SPEND ANALYTICS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Brand Spend Trend</a:t>
            </a:r>
          </a:p>
        </p:txBody>
      </p:sp>
      <p:sp>
        <p:nvSpPr>
          <p:cNvPr id="7" name="Rounded Rectangle 6"/>
          <p:cNvSpPr/>
          <p:nvPr/>
        </p:nvSpPr>
        <p:spPr>
          <a:xfrm>
            <a:off x="621792" y="2148296"/>
            <a:ext cx="6537960" cy="3622110"/>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075144"/>
            <a:ext cx="6537960" cy="3622110"/>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end-05.png"/>
          <p:cNvPicPr>
            <a:picLocks noChangeAspect="1"/>
          </p:cNvPicPr>
          <p:nvPr/>
        </p:nvPicPr>
        <p:blipFill>
          <a:blip r:embed="rId2"/>
          <a:stretch>
            <a:fillRect/>
          </a:stretch>
        </p:blipFill>
        <p:spPr>
          <a:xfrm>
            <a:off x="566928" y="2075144"/>
            <a:ext cx="6537960" cy="3622110"/>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Monthly spend for the top brands, one line each.</a:t>
            </a:r>
          </a:p>
        </p:txBody>
      </p:sp>
      <p:sp>
        <p:nvSpPr>
          <p:cNvPr id="13" name="Rectangle 12"/>
          <p:cNvSpPr/>
          <p:nvPr/>
        </p:nvSpPr>
        <p:spPr>
          <a:xfrm>
            <a:off x="7452360" y="271119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6929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003803"/>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Track a brand's line for momentum. Crossing lines show one brand overtaking another.</a:t>
            </a:r>
          </a:p>
        </p:txBody>
      </p:sp>
      <p:sp>
        <p:nvSpPr>
          <p:cNvPr id="16" name="Rectangle 15"/>
          <p:cNvSpPr/>
          <p:nvPr/>
        </p:nvSpPr>
        <p:spPr>
          <a:xfrm>
            <a:off x="7452360" y="3762755"/>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74446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055363"/>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Schedule billings that carry a brand name, for the leading brands.</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26 / 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SPEND ANALYTICS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Client Tenure &amp; Value</a:t>
            </a:r>
          </a:p>
        </p:txBody>
      </p:sp>
      <p:sp>
        <p:nvSpPr>
          <p:cNvPr id="7" name="Rounded Rectangle 6"/>
          <p:cNvSpPr/>
          <p:nvPr/>
        </p:nvSpPr>
        <p:spPr>
          <a:xfrm>
            <a:off x="621792" y="2184380"/>
            <a:ext cx="6537960" cy="3549942"/>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111228"/>
            <a:ext cx="6537960" cy="3549942"/>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end-06.png"/>
          <p:cNvPicPr>
            <a:picLocks noChangeAspect="1"/>
          </p:cNvPicPr>
          <p:nvPr/>
        </p:nvPicPr>
        <p:blipFill>
          <a:blip r:embed="rId2"/>
          <a:stretch>
            <a:fillRect/>
          </a:stretch>
        </p:blipFill>
        <p:spPr>
          <a:xfrm>
            <a:off x="566928" y="2111228"/>
            <a:ext cx="6537960" cy="3549942"/>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One bubble per client, plotting months active against total spend, with bubble size for average monthly spend.</a:t>
            </a:r>
          </a:p>
        </p:txBody>
      </p:sp>
      <p:sp>
        <p:nvSpPr>
          <p:cNvPr id="13" name="Rectangle 12"/>
          <p:cNvSpPr/>
          <p:nvPr/>
        </p:nvSpPr>
        <p:spPr>
          <a:xfrm>
            <a:off x="7452360" y="312267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31043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4152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Top right is a long standing, high value client. A larger bubble spends more heavily each month.</a:t>
            </a:r>
          </a:p>
        </p:txBody>
      </p:sp>
      <p:sp>
        <p:nvSpPr>
          <p:cNvPr id="16" name="Rectangle 15"/>
          <p:cNvSpPr/>
          <p:nvPr/>
        </p:nvSpPr>
        <p:spPr>
          <a:xfrm>
            <a:off x="7452360" y="4174235"/>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41559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4668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Each client's active span, total spend and monthly average.</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27 / 40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SPEND ANALYTICS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Agency Efficiency</a:t>
            </a:r>
          </a:p>
        </p:txBody>
      </p:sp>
      <p:sp>
        <p:nvSpPr>
          <p:cNvPr id="7" name="Rounded Rectangle 6"/>
          <p:cNvSpPr/>
          <p:nvPr/>
        </p:nvSpPr>
        <p:spPr>
          <a:xfrm>
            <a:off x="621792" y="1879091"/>
            <a:ext cx="5895812" cy="4160520"/>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805939"/>
            <a:ext cx="5895812" cy="4160520"/>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end-07.png"/>
          <p:cNvPicPr>
            <a:picLocks noChangeAspect="1"/>
          </p:cNvPicPr>
          <p:nvPr/>
        </p:nvPicPr>
        <p:blipFill>
          <a:blip r:embed="rId2"/>
          <a:stretch>
            <a:fillRect/>
          </a:stretch>
        </p:blipFill>
        <p:spPr>
          <a:xfrm>
            <a:off x="566928" y="1805939"/>
            <a:ext cx="5895812" cy="4160520"/>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Average spend per schedule entry for each agency.</a:t>
            </a:r>
          </a:p>
        </p:txBody>
      </p:sp>
      <p:sp>
        <p:nvSpPr>
          <p:cNvPr id="13" name="Rectangle 12"/>
          <p:cNvSpPr/>
          <p:nvPr/>
        </p:nvSpPr>
        <p:spPr>
          <a:xfrm>
            <a:off x="7452360" y="271119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6929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003803"/>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A longer bar means each logged line carries more value on average, a rough read on deal size.</a:t>
            </a:r>
          </a:p>
        </p:txBody>
      </p:sp>
      <p:sp>
        <p:nvSpPr>
          <p:cNvPr id="16" name="Rectangle 15"/>
          <p:cNvSpPr/>
          <p:nvPr/>
        </p:nvSpPr>
        <p:spPr>
          <a:xfrm>
            <a:off x="7452360" y="3762755"/>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74446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055363"/>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Agency total spend divided by its number of schedule entries.</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28 / 40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SPEND ANALYTICS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Spend by Medium</a:t>
            </a:r>
          </a:p>
        </p:txBody>
      </p:sp>
      <p:sp>
        <p:nvSpPr>
          <p:cNvPr id="7" name="Rounded Rectangle 6"/>
          <p:cNvSpPr/>
          <p:nvPr/>
        </p:nvSpPr>
        <p:spPr>
          <a:xfrm>
            <a:off x="621792" y="1879091"/>
            <a:ext cx="4983395" cy="4160520"/>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805939"/>
            <a:ext cx="4983395" cy="4160520"/>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end-08.png"/>
          <p:cNvPicPr>
            <a:picLocks noChangeAspect="1"/>
          </p:cNvPicPr>
          <p:nvPr/>
        </p:nvPicPr>
        <p:blipFill>
          <a:blip r:embed="rId2"/>
          <a:stretch>
            <a:fillRect/>
          </a:stretch>
        </p:blipFill>
        <p:spPr>
          <a:xfrm>
            <a:off x="566928" y="1805939"/>
            <a:ext cx="4983395" cy="4160520"/>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A donut of total spend split by medium, with the value and share of each.</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Click a slice to filter the channel views below it. The ring shows the balance across channel types.</a:t>
            </a:r>
          </a:p>
        </p:txBody>
      </p:sp>
      <p:sp>
        <p:nvSpPr>
          <p:cNvPr id="16" name="Rectangle 15"/>
          <p:cNvSpPr/>
          <p:nvPr/>
        </p:nvSpPr>
        <p:spPr>
          <a:xfrm>
            <a:off x="7452360" y="3968496"/>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9502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26110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Schedule value grouped by medium.</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29 / 40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SPEND ANALYTICS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Spend by Media Group</a:t>
            </a:r>
          </a:p>
        </p:txBody>
      </p:sp>
      <p:sp>
        <p:nvSpPr>
          <p:cNvPr id="7" name="Rounded Rectangle 6"/>
          <p:cNvSpPr/>
          <p:nvPr/>
        </p:nvSpPr>
        <p:spPr>
          <a:xfrm>
            <a:off x="621792" y="1879091"/>
            <a:ext cx="4983395" cy="4160520"/>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805939"/>
            <a:ext cx="4983395" cy="4160520"/>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end-09.png"/>
          <p:cNvPicPr>
            <a:picLocks noChangeAspect="1"/>
          </p:cNvPicPr>
          <p:nvPr/>
        </p:nvPicPr>
        <p:blipFill>
          <a:blip r:embed="rId2"/>
          <a:stretch>
            <a:fillRect/>
          </a:stretch>
        </p:blipFill>
        <p:spPr>
          <a:xfrm>
            <a:off x="566928" y="1805939"/>
            <a:ext cx="4983395" cy="4160520"/>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A donut of spend split by media group, the broadcaster or publisher behind the channels.</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largest slice is your biggest media owner relationship by value.</a:t>
            </a:r>
          </a:p>
        </p:txBody>
      </p:sp>
      <p:sp>
        <p:nvSpPr>
          <p:cNvPr id="16" name="Rectangle 15"/>
          <p:cNvSpPr/>
          <p:nvPr/>
        </p:nvSpPr>
        <p:spPr>
          <a:xfrm>
            <a:off x="7452360" y="3968496"/>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9502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26110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Schedule value grouped by media group.</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30 / 40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SPEND ANALYTICS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Top Clients by Spend</a:t>
            </a:r>
          </a:p>
        </p:txBody>
      </p:sp>
      <p:sp>
        <p:nvSpPr>
          <p:cNvPr id="7" name="Rounded Rectangle 6"/>
          <p:cNvSpPr/>
          <p:nvPr/>
        </p:nvSpPr>
        <p:spPr>
          <a:xfrm>
            <a:off x="621792" y="2740959"/>
            <a:ext cx="6537960" cy="2436785"/>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667807"/>
            <a:ext cx="6537960" cy="2436785"/>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end-10.png"/>
          <p:cNvPicPr>
            <a:picLocks noChangeAspect="1"/>
          </p:cNvPicPr>
          <p:nvPr/>
        </p:nvPicPr>
        <p:blipFill>
          <a:blip r:embed="rId2"/>
          <a:stretch>
            <a:fillRect/>
          </a:stretch>
        </p:blipFill>
        <p:spPr>
          <a:xfrm>
            <a:off x="566928" y="2667807"/>
            <a:ext cx="6537960" cy="2436785"/>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Clients ranked by committed spend, as horizontal bars.</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longest bars are your largest accounts. Hover any bar for the exact value.</a:t>
            </a:r>
          </a:p>
        </p:txBody>
      </p:sp>
      <p:sp>
        <p:nvSpPr>
          <p:cNvPr id="16" name="Rectangle 15"/>
          <p:cNvSpPr/>
          <p:nvPr/>
        </p:nvSpPr>
        <p:spPr>
          <a:xfrm>
            <a:off x="7452360" y="3968496"/>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9502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26110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Schedule value grouped by client.</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31 / 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DEEP DASHBOARD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Multi Year Monthly Trend</a:t>
            </a:r>
          </a:p>
        </p:txBody>
      </p:sp>
      <p:sp>
        <p:nvSpPr>
          <p:cNvPr id="7" name="Rounded Rectangle 6"/>
          <p:cNvSpPr/>
          <p:nvPr/>
        </p:nvSpPr>
        <p:spPr>
          <a:xfrm>
            <a:off x="621792" y="3043538"/>
            <a:ext cx="6537960" cy="1831626"/>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970386"/>
            <a:ext cx="6537960" cy="1831626"/>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eep-00.png"/>
          <p:cNvPicPr>
            <a:picLocks noChangeAspect="1"/>
          </p:cNvPicPr>
          <p:nvPr/>
        </p:nvPicPr>
        <p:blipFill>
          <a:blip r:embed="rId2"/>
          <a:stretch>
            <a:fillRect/>
          </a:stretch>
        </p:blipFill>
        <p:spPr>
          <a:xfrm>
            <a:off x="566928" y="2970386"/>
            <a:ext cx="6537960" cy="1831626"/>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Monthly spend with one line per year, plus a brush to zoom into a range.</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Overlay the years to compare seasonality. Drag the brush along the bottom to focus on a window.</a:t>
            </a:r>
          </a:p>
        </p:txBody>
      </p:sp>
      <p:sp>
        <p:nvSpPr>
          <p:cNvPr id="16" name="Rectangle 15"/>
          <p:cNvSpPr/>
          <p:nvPr/>
        </p:nvSpPr>
        <p:spPr>
          <a:xfrm>
            <a:off x="7452360" y="3968496"/>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9502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26110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Monthly spend under the active agency, client and channel filters.</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32 / 40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DEEP DASHBOARD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Client Investment Contribution</a:t>
            </a:r>
          </a:p>
        </p:txBody>
      </p:sp>
      <p:sp>
        <p:nvSpPr>
          <p:cNvPr id="7" name="Rounded Rectangle 6"/>
          <p:cNvSpPr/>
          <p:nvPr/>
        </p:nvSpPr>
        <p:spPr>
          <a:xfrm>
            <a:off x="621792" y="2626345"/>
            <a:ext cx="6537960" cy="2666012"/>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553193"/>
            <a:ext cx="6537960" cy="2666012"/>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eep-01.png"/>
          <p:cNvPicPr>
            <a:picLocks noChangeAspect="1"/>
          </p:cNvPicPr>
          <p:nvPr/>
        </p:nvPicPr>
        <p:blipFill>
          <a:blip r:embed="rId2"/>
          <a:stretch>
            <a:fillRect/>
          </a:stretch>
        </p:blipFill>
        <p:spPr>
          <a:xfrm>
            <a:off x="566928" y="2553193"/>
            <a:ext cx="6537960" cy="2666012"/>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Each client's contribution to total spend, as ranked horizontal bars.</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longest bars carry your portfolio. A short tail of small clients sits at the bottom.</a:t>
            </a:r>
          </a:p>
        </p:txBody>
      </p:sp>
      <p:sp>
        <p:nvSpPr>
          <p:cNvPr id="16" name="Rectangle 15"/>
          <p:cNvSpPr/>
          <p:nvPr/>
        </p:nvSpPr>
        <p:spPr>
          <a:xfrm>
            <a:off x="7452360" y="3968496"/>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9502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26110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Per client spend under the active filters.</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33 / 40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CHANNEL INTELLIGENCE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Monthly Spend Trend</a:t>
            </a:r>
          </a:p>
        </p:txBody>
      </p:sp>
      <p:sp>
        <p:nvSpPr>
          <p:cNvPr id="7" name="Rounded Rectangle 6"/>
          <p:cNvSpPr/>
          <p:nvPr/>
        </p:nvSpPr>
        <p:spPr>
          <a:xfrm>
            <a:off x="621792" y="2704396"/>
            <a:ext cx="6537960" cy="2509911"/>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631244"/>
            <a:ext cx="6537960" cy="2509911"/>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nnel-00.png"/>
          <p:cNvPicPr>
            <a:picLocks noChangeAspect="1"/>
          </p:cNvPicPr>
          <p:nvPr/>
        </p:nvPicPr>
        <p:blipFill>
          <a:blip r:embed="rId2"/>
          <a:stretch>
            <a:fillRect/>
          </a:stretch>
        </p:blipFill>
        <p:spPr>
          <a:xfrm>
            <a:off x="566928" y="2631244"/>
            <a:ext cx="6537960" cy="2509911"/>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Spend on this single channel, one line per year on a Jan to Dec axis.</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Compare the years for this channel. Click any point to open the schedules behind that month.</a:t>
            </a:r>
          </a:p>
        </p:txBody>
      </p:sp>
      <p:sp>
        <p:nvSpPr>
          <p:cNvPr id="16" name="Rectangle 15"/>
          <p:cNvSpPr/>
          <p:nvPr/>
        </p:nvSpPr>
        <p:spPr>
          <a:xfrm>
            <a:off x="7452360" y="3968496"/>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9502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26110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Schedule value on the selected channel, pivoted by year.</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34 / 40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CHANNEL INTELLIGENCE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Spend by Agency Over Time</a:t>
            </a:r>
          </a:p>
        </p:txBody>
      </p:sp>
      <p:sp>
        <p:nvSpPr>
          <p:cNvPr id="7" name="Rounded Rectangle 6"/>
          <p:cNvSpPr/>
          <p:nvPr/>
        </p:nvSpPr>
        <p:spPr>
          <a:xfrm>
            <a:off x="621792" y="2812438"/>
            <a:ext cx="6537960" cy="2293826"/>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739286"/>
            <a:ext cx="6537960" cy="2293826"/>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nnel-01.png"/>
          <p:cNvPicPr>
            <a:picLocks noChangeAspect="1"/>
          </p:cNvPicPr>
          <p:nvPr/>
        </p:nvPicPr>
        <p:blipFill>
          <a:blip r:embed="rId2"/>
          <a:stretch>
            <a:fillRect/>
          </a:stretch>
        </p:blipFill>
        <p:spPr>
          <a:xfrm>
            <a:off x="566928" y="2739286"/>
            <a:ext cx="6537960" cy="2293826"/>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Monthly spend on this channel, split by agency.</a:t>
            </a:r>
          </a:p>
        </p:txBody>
      </p:sp>
      <p:sp>
        <p:nvSpPr>
          <p:cNvPr id="13" name="Rectangle 12"/>
          <p:cNvSpPr/>
          <p:nvPr/>
        </p:nvSpPr>
        <p:spPr>
          <a:xfrm>
            <a:off x="7452360" y="271119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6929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003803"/>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See which agency drives this channel, and when their investment rises or falls.</a:t>
            </a:r>
          </a:p>
        </p:txBody>
      </p:sp>
      <p:sp>
        <p:nvSpPr>
          <p:cNvPr id="16" name="Rectangle 15"/>
          <p:cNvSpPr/>
          <p:nvPr/>
        </p:nvSpPr>
        <p:spPr>
          <a:xfrm>
            <a:off x="7452360" y="3762755"/>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74446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055363"/>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Channel spend grouped by agency and month.</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35 / 40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CHANNEL INTELLIGENCE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Client Spend Concentration</a:t>
            </a:r>
          </a:p>
        </p:txBody>
      </p:sp>
      <p:sp>
        <p:nvSpPr>
          <p:cNvPr id="7" name="Rounded Rectangle 6"/>
          <p:cNvSpPr/>
          <p:nvPr/>
        </p:nvSpPr>
        <p:spPr>
          <a:xfrm>
            <a:off x="621792" y="2757032"/>
            <a:ext cx="6537960" cy="2404639"/>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683880"/>
            <a:ext cx="6537960" cy="2404639"/>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nnel-02.png"/>
          <p:cNvPicPr>
            <a:picLocks noChangeAspect="1"/>
          </p:cNvPicPr>
          <p:nvPr/>
        </p:nvPicPr>
        <p:blipFill>
          <a:blip r:embed="rId2"/>
          <a:stretch>
            <a:fillRect/>
          </a:stretch>
        </p:blipFill>
        <p:spPr>
          <a:xfrm>
            <a:off x="566928" y="2683880"/>
            <a:ext cx="6537960" cy="2404639"/>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A Pareto of the clients on this channel: bars plus a cumulative line and an 80 percent marker.</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See whether a handful of clients account for most of the channel's spend.</a:t>
            </a:r>
          </a:p>
        </p:txBody>
      </p:sp>
      <p:sp>
        <p:nvSpPr>
          <p:cNvPr id="16" name="Rectangle 15"/>
          <p:cNvSpPr/>
          <p:nvPr/>
        </p:nvSpPr>
        <p:spPr>
          <a:xfrm>
            <a:off x="7452360" y="3968496"/>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9502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26110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Per client spend on this channel, sorted high to low.</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36 / 40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CLIENT DASHBOARD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Monthly Spend Trend</a:t>
            </a:r>
          </a:p>
        </p:txBody>
      </p:sp>
      <p:sp>
        <p:nvSpPr>
          <p:cNvPr id="7" name="Rounded Rectangle 6"/>
          <p:cNvSpPr/>
          <p:nvPr/>
        </p:nvSpPr>
        <p:spPr>
          <a:xfrm>
            <a:off x="621792" y="2812438"/>
            <a:ext cx="6537960" cy="2293826"/>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739286"/>
            <a:ext cx="6537960" cy="2293826"/>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lient-00.png"/>
          <p:cNvPicPr>
            <a:picLocks noChangeAspect="1"/>
          </p:cNvPicPr>
          <p:nvPr/>
        </p:nvPicPr>
        <p:blipFill>
          <a:blip r:embed="rId2"/>
          <a:stretch>
            <a:fillRect/>
          </a:stretch>
        </p:blipFill>
        <p:spPr>
          <a:xfrm>
            <a:off x="566928" y="2739286"/>
            <a:ext cx="6537960" cy="2293826"/>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This client's spend, one line per year on a Jan to Dec axis.</a:t>
            </a:r>
          </a:p>
        </p:txBody>
      </p:sp>
      <p:sp>
        <p:nvSpPr>
          <p:cNvPr id="13" name="Rectangle 12"/>
          <p:cNvSpPr/>
          <p:nvPr/>
        </p:nvSpPr>
        <p:spPr>
          <a:xfrm>
            <a:off x="7452360" y="291693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89864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20954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Compare the client's years side by side to read growth or slowdown.</a:t>
            </a:r>
          </a:p>
        </p:txBody>
      </p:sp>
      <p:sp>
        <p:nvSpPr>
          <p:cNvPr id="16" name="Rectangle 15"/>
          <p:cNvSpPr/>
          <p:nvPr/>
        </p:nvSpPr>
        <p:spPr>
          <a:xfrm>
            <a:off x="7452360" y="3968496"/>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9502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26110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client's schedule value by month.</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37 / 40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CLIENT DASHBOARD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Spend by Channel</a:t>
            </a:r>
          </a:p>
        </p:txBody>
      </p:sp>
      <p:sp>
        <p:nvSpPr>
          <p:cNvPr id="7" name="Rounded Rectangle 6"/>
          <p:cNvSpPr/>
          <p:nvPr/>
        </p:nvSpPr>
        <p:spPr>
          <a:xfrm>
            <a:off x="621792" y="2183551"/>
            <a:ext cx="6537960" cy="3551600"/>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110399"/>
            <a:ext cx="6537960" cy="3551600"/>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lient-01.png"/>
          <p:cNvPicPr>
            <a:picLocks noChangeAspect="1"/>
          </p:cNvPicPr>
          <p:nvPr/>
        </p:nvPicPr>
        <p:blipFill>
          <a:blip r:embed="rId2"/>
          <a:stretch>
            <a:fillRect/>
          </a:stretch>
        </p:blipFill>
        <p:spPr>
          <a:xfrm>
            <a:off x="566928" y="2110399"/>
            <a:ext cx="6537960" cy="3551600"/>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client's top channels, ranked by spend.</a:t>
            </a:r>
          </a:p>
        </p:txBody>
      </p:sp>
      <p:sp>
        <p:nvSpPr>
          <p:cNvPr id="13" name="Rectangle 12"/>
          <p:cNvSpPr/>
          <p:nvPr/>
        </p:nvSpPr>
        <p:spPr>
          <a:xfrm>
            <a:off x="7452360" y="271119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6929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003803"/>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longest bar is where this client invests most of its budget.</a:t>
            </a:r>
          </a:p>
        </p:txBody>
      </p:sp>
      <p:sp>
        <p:nvSpPr>
          <p:cNvPr id="16" name="Rectangle 15"/>
          <p:cNvSpPr/>
          <p:nvPr/>
        </p:nvSpPr>
        <p:spPr>
          <a:xfrm>
            <a:off x="7452360" y="3762755"/>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74446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055363"/>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client's schedule value grouped by channel.</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38 / 40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66928"/>
            <a:ext cx="384048" cy="5029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1323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spc="160">
                <a:solidFill>
                  <a:srgbClr val="D9521C"/>
                </a:solidFill>
                <a:latin typeface="Hanken Grotesk"/>
              </a:rPr>
              <a:t>CLIENT DASHBOARD  ·  CHART</a:t>
            </a:r>
          </a:p>
        </p:txBody>
      </p:sp>
      <p:sp>
        <p:nvSpPr>
          <p:cNvPr id="6" name="TextBox 5"/>
          <p:cNvSpPr txBox="1"/>
          <p:nvPr/>
        </p:nvSpPr>
        <p:spPr>
          <a:xfrm>
            <a:off x="548640" y="1024128"/>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6243C"/>
                </a:solidFill>
                <a:latin typeface="Hanken Grotesk"/>
              </a:rPr>
              <a:t>Medium Split</a:t>
            </a:r>
          </a:p>
        </p:txBody>
      </p:sp>
      <p:sp>
        <p:nvSpPr>
          <p:cNvPr id="7" name="Rounded Rectangle 6"/>
          <p:cNvSpPr/>
          <p:nvPr/>
        </p:nvSpPr>
        <p:spPr>
          <a:xfrm>
            <a:off x="621792" y="1879091"/>
            <a:ext cx="5109604" cy="4160520"/>
          </a:xfrm>
          <a:prstGeom prst="roundRect">
            <a:avLst>
              <a:gd name="adj" fmla="val 2000"/>
            </a:avLst>
          </a:prstGeom>
          <a:solidFill>
            <a:srgbClr val="DD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805939"/>
            <a:ext cx="5109604" cy="4160520"/>
          </a:xfrm>
          <a:prstGeom prst="roundRect">
            <a:avLst>
              <a:gd name="adj" fmla="val 2000"/>
            </a:avLst>
          </a:prstGeom>
          <a:solidFill>
            <a:srgbClr val="FFFFFF"/>
          </a:solidFill>
          <a:ln w="12700">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lient-02.png"/>
          <p:cNvPicPr>
            <a:picLocks noChangeAspect="1"/>
          </p:cNvPicPr>
          <p:nvPr/>
        </p:nvPicPr>
        <p:blipFill>
          <a:blip r:embed="rId2"/>
          <a:stretch>
            <a:fillRect/>
          </a:stretch>
        </p:blipFill>
        <p:spPr>
          <a:xfrm>
            <a:off x="566928" y="1805939"/>
            <a:ext cx="5109604" cy="4160520"/>
          </a:xfrm>
          <a:prstGeom prst="rect">
            <a:avLst/>
          </a:prstGeom>
          <a:ln w="12700">
            <a:solidFill>
              <a:srgbClr val="D6DBE3"/>
            </a:solidFill>
          </a:ln>
        </p:spPr>
      </p:pic>
      <p:sp>
        <p:nvSpPr>
          <p:cNvPr id="10" name="Rectangle 9"/>
          <p:cNvSpPr/>
          <p:nvPr/>
        </p:nvSpPr>
        <p:spPr>
          <a:xfrm>
            <a:off x="7452360" y="1865376"/>
            <a:ext cx="82296" cy="201168"/>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184708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IT SHOWS</a:t>
            </a:r>
          </a:p>
        </p:txBody>
      </p:sp>
      <p:sp>
        <p:nvSpPr>
          <p:cNvPr id="12" name="TextBox 11"/>
          <p:cNvSpPr txBox="1"/>
          <p:nvPr/>
        </p:nvSpPr>
        <p:spPr>
          <a:xfrm>
            <a:off x="7452360" y="2157984"/>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A donut of this client's spend by medium.</a:t>
            </a:r>
          </a:p>
        </p:txBody>
      </p:sp>
      <p:sp>
        <p:nvSpPr>
          <p:cNvPr id="13" name="Rectangle 12"/>
          <p:cNvSpPr/>
          <p:nvPr/>
        </p:nvSpPr>
        <p:spPr>
          <a:xfrm>
            <a:off x="7452360" y="2711196"/>
            <a:ext cx="82296" cy="201168"/>
          </a:xfrm>
          <a:prstGeom prst="rect">
            <a:avLst/>
          </a:prstGeom>
          <a:solidFill>
            <a:srgbClr val="2E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71816" y="269290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HOW TO READ IT</a:t>
            </a:r>
          </a:p>
        </p:txBody>
      </p:sp>
      <p:sp>
        <p:nvSpPr>
          <p:cNvPr id="15" name="TextBox 14"/>
          <p:cNvSpPr txBox="1"/>
          <p:nvPr/>
        </p:nvSpPr>
        <p:spPr>
          <a:xfrm>
            <a:off x="7452360" y="3003803"/>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ring shows how the client balances TV, Radio, Print and Digital.</a:t>
            </a:r>
          </a:p>
        </p:txBody>
      </p:sp>
      <p:sp>
        <p:nvSpPr>
          <p:cNvPr id="16" name="Rectangle 15"/>
          <p:cNvSpPr/>
          <p:nvPr/>
        </p:nvSpPr>
        <p:spPr>
          <a:xfrm>
            <a:off x="7452360" y="3762755"/>
            <a:ext cx="82296" cy="201168"/>
          </a:xfrm>
          <a:prstGeom prst="rect">
            <a:avLst/>
          </a:prstGeom>
          <a:solidFill>
            <a:srgbClr val="8A9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3744468"/>
            <a:ext cx="3941063"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spc="90">
                <a:solidFill>
                  <a:srgbClr val="16243C"/>
                </a:solidFill>
                <a:latin typeface="Hanken Grotesk"/>
              </a:rPr>
              <a:t>WHAT DRIVES IT</a:t>
            </a:r>
          </a:p>
        </p:txBody>
      </p:sp>
      <p:sp>
        <p:nvSpPr>
          <p:cNvPr id="18" name="TextBox 17"/>
          <p:cNvSpPr txBox="1"/>
          <p:nvPr/>
        </p:nvSpPr>
        <p:spPr>
          <a:xfrm>
            <a:off x="7452360" y="4055363"/>
            <a:ext cx="4160520" cy="1463040"/>
          </a:xfrm>
          <a:prstGeom prst="rect">
            <a:avLst/>
          </a:prstGeom>
          <a:noFill/>
        </p:spPr>
        <p:txBody>
          <a:bodyPr wrap="square" anchor="t" lIns="0" rIns="0" tIns="0" bIns="0">
            <a:spAutoFit/>
          </a:bodyPr>
          <a:lstStyle/>
          <a:p>
            <a:pPr algn="l">
              <a:lnSpc>
                <a:spcPct val="116000"/>
              </a:lnSpc>
              <a:spcBef>
                <a:spcPts val="0"/>
              </a:spcBef>
              <a:spcAft>
                <a:spcPts val="400"/>
              </a:spcAft>
            </a:pPr>
            <a:r>
              <a:rPr sz="1200" b="0" i="0">
                <a:solidFill>
                  <a:srgbClr val="3B4A63"/>
                </a:solidFill>
                <a:latin typeface="Hanken Grotesk"/>
              </a:rPr>
              <a:t>The client's schedule value grouped by medium.</a:t>
            </a:r>
          </a:p>
        </p:txBody>
      </p:sp>
      <p:sp>
        <p:nvSpPr>
          <p:cNvPr id="19" name="Rectangle 18"/>
          <p:cNvSpPr/>
          <p:nvPr/>
        </p:nvSpPr>
        <p:spPr>
          <a:xfrm>
            <a:off x="548640" y="6455664"/>
            <a:ext cx="11091672" cy="1097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51052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1" i="0" spc="40">
                <a:solidFill>
                  <a:srgbClr val="D9521C"/>
                </a:solidFill>
                <a:latin typeface="Hanken Grotesk"/>
              </a:rPr>
              <a:t>Ogilvy Orbit</a:t>
            </a:r>
            <a:r>
              <a:rPr sz="850" b="0" i="0" spc="40">
                <a:solidFill>
                  <a:srgbClr val="6B7790"/>
                </a:solidFill>
                <a:latin typeface="Hanken Grotesk"/>
              </a:rPr>
              <a:t>   Manager Guide</a:t>
            </a:r>
          </a:p>
        </p:txBody>
      </p:sp>
      <p:sp>
        <p:nvSpPr>
          <p:cNvPr id="21" name="TextBox 20"/>
          <p:cNvSpPr txBox="1"/>
          <p:nvPr/>
        </p:nvSpPr>
        <p:spPr>
          <a:xfrm>
            <a:off x="548640" y="6510528"/>
            <a:ext cx="10515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850" b="1" i="0" spc="80">
                <a:solidFill>
                  <a:srgbClr val="9AA6BC"/>
                </a:solidFill>
                <a:latin typeface="Hanken Grotesk"/>
              </a:rPr>
              <a:t>EVERY CHART EXPLAINED</a:t>
            </a:r>
          </a:p>
        </p:txBody>
      </p:sp>
      <p:sp>
        <p:nvSpPr>
          <p:cNvPr id="22" name="TextBox 21"/>
          <p:cNvSpPr txBox="1"/>
          <p:nvPr/>
        </p:nvSpPr>
        <p:spPr>
          <a:xfrm>
            <a:off x="4325112" y="6510528"/>
            <a:ext cx="731520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0" i="0">
                <a:solidFill>
                  <a:srgbClr val="6B7790"/>
                </a:solidFill>
                <a:latin typeface="Spline Sans Mono"/>
              </a:rPr>
              <a:t>39 / 40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522976" y="1444752"/>
            <a:ext cx="1133856" cy="1133856"/>
          </a:xfrm>
          <a:prstGeom prst="ellipse">
            <a:avLst/>
          </a:prstGeom>
          <a:noFill/>
          <a:ln w="12700">
            <a:solidFill>
              <a:srgbClr val="3A4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738408" y="1660184"/>
            <a:ext cx="702990" cy="702990"/>
          </a:xfrm>
          <a:prstGeom prst="ellipse">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38408" y="1641896"/>
            <a:ext cx="702990" cy="702990"/>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Hanken Grotesk"/>
              </a:rPr>
              <a:t>O</a:t>
            </a:r>
          </a:p>
        </p:txBody>
      </p:sp>
      <p:sp>
        <p:nvSpPr>
          <p:cNvPr id="6" name="Oval 5"/>
          <p:cNvSpPr/>
          <p:nvPr/>
        </p:nvSpPr>
        <p:spPr>
          <a:xfrm>
            <a:off x="6441399" y="1478767"/>
            <a:ext cx="181416" cy="181416"/>
          </a:xfrm>
          <a:prstGeom prst="ellipse">
            <a:avLst/>
          </a:prstGeom>
          <a:solidFill>
            <a:srgbClr val="F07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18250" y="2442545"/>
            <a:ext cx="113385" cy="113385"/>
          </a:xfrm>
          <a:prstGeom prst="ellipse">
            <a:avLst/>
          </a:prstGeom>
          <a:solidFill>
            <a:srgbClr val="6E8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063240"/>
            <a:ext cx="11091672" cy="822960"/>
          </a:xfrm>
          <a:prstGeom prst="rect">
            <a:avLst/>
          </a:prstGeom>
          <a:noFill/>
        </p:spPr>
        <p:txBody>
          <a:bodyPr wrap="square" anchor="t" lIns="0" rIns="0" tIns="0" bIns="0">
            <a:spAutoFit/>
          </a:bodyPr>
          <a:lstStyle/>
          <a:p>
            <a:pPr algn="ctr">
              <a:lnSpc>
                <a:spcPct val="100000"/>
              </a:lnSpc>
              <a:spcBef>
                <a:spcPts val="0"/>
              </a:spcBef>
              <a:spcAft>
                <a:spcPts val="400"/>
              </a:spcAft>
            </a:pPr>
            <a:r>
              <a:rPr sz="3400" b="1" i="0">
                <a:solidFill>
                  <a:srgbClr val="FFFFFF"/>
                </a:solidFill>
                <a:latin typeface="Hanken Grotesk"/>
              </a:rPr>
              <a:t>Now every chart tells you something.</a:t>
            </a:r>
          </a:p>
        </p:txBody>
      </p:sp>
      <p:sp>
        <p:nvSpPr>
          <p:cNvPr id="9" name="TextBox 8"/>
          <p:cNvSpPr txBox="1"/>
          <p:nvPr/>
        </p:nvSpPr>
        <p:spPr>
          <a:xfrm>
            <a:off x="1188720" y="4069080"/>
            <a:ext cx="9811512" cy="822960"/>
          </a:xfrm>
          <a:prstGeom prst="rect">
            <a:avLst/>
          </a:prstGeom>
          <a:noFill/>
        </p:spPr>
        <p:txBody>
          <a:bodyPr wrap="square" anchor="t" lIns="0" rIns="0" tIns="0" bIns="0">
            <a:spAutoFit/>
          </a:bodyPr>
          <a:lstStyle/>
          <a:p>
            <a:pPr algn="ctr">
              <a:lnSpc>
                <a:spcPct val="125000"/>
              </a:lnSpc>
              <a:spcBef>
                <a:spcPts val="0"/>
              </a:spcBef>
              <a:spcAft>
                <a:spcPts val="400"/>
              </a:spcAft>
            </a:pPr>
            <a:r>
              <a:rPr sz="1450" b="0" i="0">
                <a:solidFill>
                  <a:srgbClr val="9FB0CE"/>
                </a:solidFill>
                <a:latin typeface="Hanken Grotesk"/>
              </a:rPr>
              <a:t>Open the Executive Dashboard, read the trend, split and ranking on each screen, and export a report whenever leadership asks. The data is always live and always yours to review.</a:t>
            </a:r>
          </a:p>
        </p:txBody>
      </p:sp>
      <p:sp>
        <p:nvSpPr>
          <p:cNvPr id="10" name="Rectangle 9"/>
          <p:cNvSpPr/>
          <p:nvPr/>
        </p:nvSpPr>
        <p:spPr>
          <a:xfrm>
            <a:off x="5394960" y="5257800"/>
            <a:ext cx="1399032" cy="27432"/>
          </a:xfrm>
          <a:prstGeom prst="rect">
            <a:avLst/>
          </a:prstGeom>
          <a:solidFill>
            <a:srgbClr val="D95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440680"/>
            <a:ext cx="11091672" cy="457200"/>
          </a:xfrm>
          <a:prstGeom prst="rect">
            <a:avLst/>
          </a:prstGeom>
          <a:noFill/>
        </p:spPr>
        <p:txBody>
          <a:bodyPr wrap="square" anchor="t" lIns="0" rIns="0" tIns="0" bIns="0">
            <a:spAutoFit/>
          </a:bodyPr>
          <a:lstStyle/>
          <a:p>
            <a:pPr algn="ctr">
              <a:lnSpc>
                <a:spcPct val="100000"/>
              </a:lnSpc>
              <a:spcBef>
                <a:spcPts val="0"/>
              </a:spcBef>
              <a:spcAft>
                <a:spcPts val="400"/>
              </a:spcAft>
            </a:pPr>
            <a:r>
              <a:rPr sz="1200" b="0" i="0">
                <a:solidFill>
                  <a:srgbClr val="9AA6BC"/>
                </a:solidFill>
                <a:latin typeface="Hanken Grotesk"/>
              </a:rPr>
              <a:t>Questions on any screen reach the media team through your admin.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