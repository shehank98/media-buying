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" y="1124712"/>
            <a:ext cx="950976" cy="950976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517" y="1305397"/>
            <a:ext cx="589605" cy="589605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2517" y="1287109"/>
            <a:ext cx="589605" cy="5896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7" name="Oval 6"/>
          <p:cNvSpPr/>
          <p:nvPr/>
        </p:nvSpPr>
        <p:spPr>
          <a:xfrm>
            <a:off x="1712122" y="1153241"/>
            <a:ext cx="152156" cy="15215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1094" y="1961570"/>
            <a:ext cx="95097" cy="95097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1704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9AA6BC"/>
                </a:solidFill>
                <a:latin typeface="Hanken Grotesk"/>
              </a:rPr>
              <a:t>OGILVY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48132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Ogilvy </a:t>
            </a:r>
            <a:r>
              <a:rPr sz="4000" b="1" i="1">
                <a:solidFill>
                  <a:srgbClr val="F0703F"/>
                </a:solidFill>
                <a:latin typeface="Newsreader"/>
              </a:rPr>
              <a:t>Orbit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4612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Hanken Grotesk"/>
              </a:rPr>
              <a:t>The Media Buying Records System,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B9C6DE"/>
                </a:solidFill>
                <a:latin typeface="Hanken Grotesk"/>
              </a:rPr>
              <a:t>explained for Planners.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5029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A focused guide to your part of Orbit: keeping your clients' schedule records current, recording the deals you strike, and reading the spend you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5943600"/>
            <a:ext cx="457200" cy="2743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6080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BC"/>
                </a:solidFill>
                <a:latin typeface="Hanken Grotesk"/>
              </a:rPr>
              <a:t>Prepared for the Planners team</a:t>
            </a:r>
            <a:r>
              <a:rPr sz="1150" b="0" i="0">
                <a:solidFill>
                  <a:srgbClr val="9AA6BC"/>
                </a:solidFill>
                <a:latin typeface="Spline Sans Mono"/>
              </a:rPr>
              <a:t>  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YOUR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A tight scope,
done thoroughly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You keep your clients' records accurate and record the deals behind them. Small remit, high impact.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43C"/>
                </a:solidFill>
                <a:latin typeface="Hanken Grotesk"/>
              </a:rPr>
              <a:t>Three things you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4A63"/>
                </a:solidFill>
                <a:latin typeface="Hanken Grotesk"/>
              </a:rPr>
              <a:t>As a Planner you are the source of truth for your accounts. Everything downstream depends on what you enter.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97480"/>
            <a:ext cx="34442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697480"/>
            <a:ext cx="3444239" cy="82296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308152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081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Hanken Grotes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280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243C"/>
                </a:solidFill>
                <a:latin typeface="Hanken Grotesk"/>
              </a:rPr>
              <a:t>Keep records 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480560"/>
            <a:ext cx="280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Add and edit each of your clients' schedule records, so spend is always up to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6928" y="2697480"/>
            <a:ext cx="34442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6928" y="2697480"/>
            <a:ext cx="3444239" cy="82296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96967" y="308152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6967" y="3081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Hanken Grotes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6967" y="3931920"/>
            <a:ext cx="280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243C"/>
                </a:solidFill>
                <a:latin typeface="Hanken Grotesk"/>
              </a:rPr>
              <a:t>Record the deals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6967" y="4480560"/>
            <a:ext cx="280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Capture properties and negotiated deal terms on the channels you buy.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6928" y="2697480"/>
            <a:ext cx="34442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6928" y="2697480"/>
            <a:ext cx="3444239" cy="82296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6968" y="308152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6968" y="3081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Hanken Grotesk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6968" y="3931920"/>
            <a:ext cx="280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243C"/>
                </a:solidFill>
                <a:latin typeface="Hanken Grotesk"/>
              </a:rPr>
              <a:t>Read your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6968" y="4480560"/>
            <a:ext cx="280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Use live analytics to understand your clients' spend before any review.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YOUR 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YOUR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43C"/>
                </a:solidFill>
                <a:latin typeface="Hanken Grotesk"/>
              </a:rPr>
              <a:t>What a Planner can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B4A63"/>
                </a:solidFill>
                <a:latin typeface="Hanken Grotesk"/>
              </a:rPr>
              <a:t>Your scope is deliberately tight: the clients assigned to you. On those clients you can add and edit records, and read their analytics. Everything is scoped to your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4320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889504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87121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8211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Add and edit your clients' schedule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74320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2889504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87121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Client &amp; Channel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18211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Manage channels on your clients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7328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913632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89534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Properties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2062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Record a deal's value, bonus and 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767328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8" y="3913632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389534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Deal terms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42062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Log discount and bonus per year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91456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4937760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91947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Spend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2303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Charts of your clients' committed spend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791456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36208" y="4937760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1947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Client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2303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A per client analytics 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815584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5961888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94360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Channel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625449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Spend and trends for any channel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5815584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36208" y="5961888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594360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Profile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625449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Your details and password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GETTING ORIENTED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SIGNING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Your secure sign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You sign in with your agency email and a private password. Orbit only opens the accounts assigned to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Sign in with your Ogilvy email and password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3240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6839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Reset a forgotten password from the same screen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6732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1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Set a fresh password on your very first sign in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302251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824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Every session is protected and times out safely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On your first login you will be asked to choose a new password.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YOUR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RECORDING THE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Keeping the
records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Your home is the schedule database. This is where the numbers begin.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The schedule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Your home screen. Every uploaded schedule sheet lands here. Recent uploads and a search sit up 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every recently uploaded sheet at a glance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Pick your agency and a client to open its records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9730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090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Search within a client by RO number or brand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30225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824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Jump into a client to add or edit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2-database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RECORDING THE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DATA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Entering schedule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With a client open, you get a spreadsheet of its records plus a live overview of value, months and channels.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Add a row and type straight into the grid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3240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6839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Paste columns copied from Excel in one go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6158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9757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Upload an Excel sheet and map the columns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89077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2676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Watch records, value and the mini chart update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Everything you enter flows straight into every chart across Orbit.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3-database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RECORDING THE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CLIENT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Your client's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Open a client to see its channels, grouped by medium, each showing how many properties it 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channels split across TV, Radio, Print and more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Add a new channel to a client when you win one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9730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090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Open any channel to record its deals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30225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824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the property count on every channel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7-cl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RECORDING THE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CHANNEL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Properties and deal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29968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On a channel you record the deals you strike: properties, and the discount and bonus terms per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94076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32872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2326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each property with its value, bonus and dates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822191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5818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Record discount and bonus terms year by year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4151376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87368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Keep a full history of what was agreed and when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686300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22292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Edit a property or term as the deal moves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Recording terms here means nothing about a deal lives only in your inbox.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-channel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RECORDING THE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ADD A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Recording a property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The Add property form captures a deal in full, and computes the bonus value for you as you 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Pick a category and name the property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3240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6839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Enter the value and a bonus percentage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6158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9757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Set the flight dates, or mark it ongoing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89077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2676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Save, and it appears on the channel at once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9-add-prope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RECORDING THE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READING YOUR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Knowing your
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The same records you enter come back to you as charts, scoped to your clients.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SPEND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Spend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 live picture of your clients' committed media value across months, media, channels and clients.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total committed value and monthly average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Compare spend year over year on one trend chart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9730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090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Break spend down by medium, channel and client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50799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Export the full view to Excel or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You only see your own clients, so the totals are yours to act 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4-spend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READING YOUR ACCOUNTS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CLIENT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The client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 focused analytics view for one client, so you can walk into any client review prepared.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the client story in charts, not spreadsheets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Track spend trends and channel mix over time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Spot where a client is growing or slowing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1-cli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READING YOUR 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CHANNEL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Channel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 deep read on a single channel, so you know the market before you negotiate a 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spend on a channel across recent years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0175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year over year growth and the peak month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Trace any month back to the schedules behind it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0873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Know how many clients use the channel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0-channel-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READING YOUR 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YOUR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Finding your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Your agency and client lists are the quick way in. Both are scoped to the accounts assigned to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Open your agency to see its client roster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3240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6839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Browse or search the clients assigned to you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6158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9757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Open a client to reach its records and channels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096511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Jump to a client dashboard in one 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-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READING YOUR 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Your profile and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29968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Keep your own details current and your account secure from a single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79192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3072384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08376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Review your name, role and contact email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015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Change your password whenever you need to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3075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6674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Sign out safely from any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2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READING YOUR 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A SIMPLE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43C"/>
                </a:solidFill>
                <a:latin typeface="Hanken Grotesk"/>
              </a:rPr>
              <a:t>Your week in Orbit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4A63"/>
                </a:solidFill>
                <a:latin typeface="Hanken Grotesk"/>
              </a:rPr>
              <a:t>Three light habits keep your accounts accurate and review 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788920"/>
            <a:ext cx="338328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5" y="3154679"/>
            <a:ext cx="822960" cy="822960"/>
          </a:xfrm>
          <a:prstGeom prst="ellipse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5" y="315467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1">
                <a:solidFill>
                  <a:srgbClr val="F0703F"/>
                </a:solidFill>
                <a:latin typeface="Newsread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41605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243C"/>
                </a:solidFill>
                <a:latin typeface="Hanken Grotesk"/>
              </a:rPr>
              <a:t>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4636008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Add or paste each client's schedule as it is confirmed, so records never fall behind.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9431" y="2788920"/>
            <a:ext cx="338328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28616" y="3154679"/>
            <a:ext cx="822960" cy="822960"/>
          </a:xfrm>
          <a:prstGeom prst="ellipse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28616" y="315467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1">
                <a:solidFill>
                  <a:srgbClr val="F0703F"/>
                </a:solidFill>
                <a:latin typeface="Newsread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41605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243C"/>
                </a:solidFill>
                <a:latin typeface="Hanken Grotesk"/>
              </a:rPr>
              <a:t>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4636008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Capture properties and deal terms on the channel while the negotiation is fresh.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788920"/>
            <a:ext cx="338328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31936" y="3154679"/>
            <a:ext cx="822960" cy="822960"/>
          </a:xfrm>
          <a:prstGeom prst="ellipse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31936" y="315467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1">
                <a:solidFill>
                  <a:srgbClr val="F0703F"/>
                </a:solidFill>
                <a:latin typeface="Newsread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41605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243C"/>
                </a:solidFill>
                <a:latin typeface="Hanken Grotesk"/>
              </a:rPr>
              <a:t>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4636008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Open Spend Analytics and your client dashboards before any review, so you know the numbers.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Planner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READING YOUR ACCOUNTS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22976" y="1444752"/>
            <a:ext cx="1133856" cy="1133856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38408" y="1660184"/>
            <a:ext cx="702990" cy="702990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38408" y="1641896"/>
            <a:ext cx="702990" cy="702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6" name="Oval 5"/>
          <p:cNvSpPr/>
          <p:nvPr/>
        </p:nvSpPr>
        <p:spPr>
          <a:xfrm>
            <a:off x="6441399" y="1478767"/>
            <a:ext cx="181416" cy="18141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18250" y="2442545"/>
            <a:ext cx="113385" cy="113385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Hanken Grotesk"/>
              </a:rPr>
              <a:t>Your records run the show.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069080"/>
            <a:ext cx="9628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Keep your clients' schedules current and their deals recorded, and every chart, report and review upstream is built on numbers you can stand behind.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5257800"/>
            <a:ext cx="1399032" cy="2743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Hanken Grotesk"/>
              </a:rPr>
              <a:t>Questions on any screen reach the media team through your admin.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