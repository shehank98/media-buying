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" y="1124712"/>
            <a:ext cx="950976" cy="950976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517" y="1305397"/>
            <a:ext cx="589605" cy="589605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2517" y="1287109"/>
            <a:ext cx="589605" cy="5896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7" name="Oval 6"/>
          <p:cNvSpPr/>
          <p:nvPr/>
        </p:nvSpPr>
        <p:spPr>
          <a:xfrm>
            <a:off x="1712122" y="1153241"/>
            <a:ext cx="152156" cy="15215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1094" y="1961570"/>
            <a:ext cx="95097" cy="95097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1704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9AA6BC"/>
                </a:solidFill>
                <a:latin typeface="Hanken Grotesk"/>
              </a:rPr>
              <a:t>OGILVY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8132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Ogilvy </a:t>
            </a:r>
            <a:r>
              <a:rPr sz="4000" b="1" i="1">
                <a:solidFill>
                  <a:srgbClr val="F0703F"/>
                </a:solidFill>
                <a:latin typeface="Newsreader"/>
              </a:rPr>
              <a:t>Orbit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461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Hanken Grotesk"/>
              </a:rPr>
              <a:t>The Media Buying Records System,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B9C6DE"/>
                </a:solidFill>
                <a:latin typeface="Hanken Grotesk"/>
              </a:rPr>
              <a:t>explained for Group Heads.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5029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Everything you can see, plan and do inside Orbit, from your schedule records to forecasts and media proposals.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5806440"/>
            <a:ext cx="457200" cy="2743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BC"/>
                </a:solidFill>
                <a:latin typeface="Hanken Grotesk"/>
              </a:rPr>
              <a:t>Prepared for the Group Heads team</a:t>
            </a:r>
            <a:r>
              <a:rPr sz="1150" b="0" i="0">
                <a:solidFill>
                  <a:srgbClr val="9AA6BC"/>
                </a:solidFill>
                <a:latin typeface="Spline Sans Mono"/>
              </a:rPr>
              <a:t> 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GETTING ORIENTED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What Orbit is, and
what it is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A shared home for every media buying record, from first schedule to final report.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43C"/>
                </a:solidFill>
                <a:latin typeface="Hanken Grotesk"/>
              </a:rPr>
              <a:t>One system, three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4A63"/>
                </a:solidFill>
                <a:latin typeface="Hanken Grotesk"/>
              </a:rPr>
              <a:t>Orbit replaces scattered spreadsheets with a single, always current record of your media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A single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Every schedule, channel, property and deal for your clients lives in one place, entered once and kept current.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96967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6967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6967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Live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6967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The moment a schedule is logged, spend charts, trends and channel views update on their 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6968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6968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6968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Plan and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6968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Enter forecasts for the month ahead and respond to media proposals sent to you, all in app.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GETTING ORIENTED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YOUR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43C"/>
                </a:solidFill>
                <a:latin typeface="Hanken Grotesk"/>
              </a:rPr>
              <a:t>What a Group Head can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B4A63"/>
                </a:solidFill>
                <a:latin typeface="Hanken Grotesk"/>
              </a:rPr>
              <a:t>Orbit shows you the accounts that belong to your team. Every screen below is scoped to your own clients, so the numbers you see are the numbers you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889504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87121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8211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Your schedule records, month by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74320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2889504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87121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Spend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18211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Charts and breakdowns of committed spend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7328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913632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89534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Agencies &amp;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062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Your client roster and their channels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767328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8" y="3913632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389534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Channel Detail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42062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Properties and negotiated deal terms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91456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4937760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91947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2303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Per channel spend trends for your clients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791456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36208" y="4937760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1947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2303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The upcoming month, entered per channel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15584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5961888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94360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Overall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625449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Best case and last month billing per client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5815584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6208" y="5961888"/>
            <a:ext cx="64008" cy="548640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594360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243C"/>
                </a:solidFill>
                <a:latin typeface="Hanken Grotesk"/>
              </a:rPr>
              <a:t>Media Packages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625449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790"/>
                </a:solidFill>
                <a:latin typeface="Hanken Grotesk"/>
              </a:rPr>
              <a:t>Proposals shared with you to respond 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GETTING ORIENTED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SIGNING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Your secure sign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Orbit is your mission control. You sign in with your agency email and a private password.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Sign in with your Ogilvy email and password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Reset a forgotten password from the same screen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Set a fresh password on your very first sign in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873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Every session is protected and times out safely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On your first login you will be asked to choose a new password.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GETTING ORIENTED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YOUR DAILY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The screens you
will use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Where your records live, and how the numbers turn into insight.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The schedule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Your home screen. Every uploaded schedule sheet lands here, organised by month and client.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every recently uploaded sheet at a glance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Pick an agency and client to view their records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5818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9417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Paste columns or upload an Excel sheet directly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29310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909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Track how many rows each month contributed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Rows you add flow straight into every chart across Orbit.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5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DAILY WORKSPACE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SPEND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Spend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live picture of your committed media value across months, media, channels and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total committed value and monthly average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Compare spend year over year on one trend chart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5818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9417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Break spend down by medium, channel and client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29310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909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Export the full view to Excel or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You only see your own clients, so the totals are yours to act 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6-spend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DAILY WORKSPACE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AGENCIES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Agencies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quick way into your book of business, starting from the agency your clients sit under.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Open an agency to see its client roster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committed spend and channel counts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3467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826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Move from agency to client in one click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7-ag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DAILY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Your client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Every client your team manages, in one searchable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Browse all of the clients assigned to you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Search by name to jump to an account fast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3467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826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Open a client to see its channels and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8-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DAILY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CLIENT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Inside a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Each client opens to its channels, grouped by medium, with a tab for schedule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channels split across TV, Radio, Print and more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Add a new channel to a client when you win one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5818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9417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Open any channel to view its properties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873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the property count on every channel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9-cl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DAILY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CLIENT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The client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focused analytics view for one client, so you can walk into any review prepared.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the client story in charts, not spreadsheets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Track spend trends and channel mix over time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Spot where a client is growing or slowing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0-cli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DAILY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CHANNEL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Properties and deal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The channel view records the deals you strike, both as properties and as yearly negotiated terms.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94076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32872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232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Log a property with its value, bonus and dates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822191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5818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Record discount and bonus terms year by year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151376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8736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Keep a full history of what was agreed and when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686300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22292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Edit or remove terms as negotiations move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Recording terms here means nothing about a deal lives only in your inbox.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1-channel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DAILY WORKSPACE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deep read on a single channel across your clients, so you negotiate from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spend on a channel across recent years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year over year growth and the peak month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Trace any month back to the schedules behind it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873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Know how many of your clients use the channel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2-channel-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DAILY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PLANNING &amp;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Telling Orbit
what comes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Your forecasts set the pace the whole company measures against.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Forecasting your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Each cycle, Orbit asks you for the coming month. Your clients appear as cards with a clear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every client you need to forecast for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324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683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Submitted or Pending at a glance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6158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9757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Open a client to enter its numbers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9077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2676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Request a new client or channel when needed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The month rolls forward on the 15th, so you always plan the right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3-fore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PLANNING &amp; 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FORECAST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Entering a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Inside a client, you set an amount per channel. Orbit adds it up and splits it by medium as you 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Enter an amount for each channel you will use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Add a short note against any line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673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Copy last month to start from a known base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9651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Submit once the total looks 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3b-forecast-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PLANNING &amp; FORECASTING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OVERALL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The overall budget worksheet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per client worksheet that mirrors your reference sheet: actual, best case, commission and last month billing.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94076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32872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232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actual auto filled from your forecasts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616451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524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Enter a best case figure for each client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945636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162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Record last month billing beside it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274820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10812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commission and running totals per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Best case and billing save on their own as you type, so nothing is lost.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-overall-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PLANNING &amp; 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COLLABORATION &amp;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Working with the
media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How proposals reach you, and how you keep your own account in order.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MEDIA 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Media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When the media team negotiates a bundle, it arrives here for you to review and respond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the channels and rates in each package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Reply Interested, Open to negotiate or Not interested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Flag exactly which of your clients are keen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816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76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Add a budget note or comment for the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Your response and follow up status are visible to the media team instantly.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3-my-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COLLABORATION &amp;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Your profile and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Keep your own details current and your account secure from a single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79192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3072384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08376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Review your name, role and contact email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015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Change your password whenever you need to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307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Sign out safely from any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3" y="1192149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118997"/>
            <a:ext cx="7040880" cy="4400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4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8997"/>
            <a:ext cx="7040880" cy="4400550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COLLABORATION &amp;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A SIMPLE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43C"/>
                </a:solidFill>
                <a:latin typeface="Hanken Grotesk"/>
              </a:rPr>
              <a:t>Your month in Orbit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4A63"/>
                </a:solidFill>
                <a:latin typeface="Hanken Grotesk"/>
              </a:rPr>
              <a:t>Four light habits keep your accounts accurate and your planning effortless.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8920"/>
            <a:ext cx="26517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3118103"/>
            <a:ext cx="786384" cy="786384"/>
          </a:xfrm>
          <a:prstGeom prst="ellipse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118103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1">
                <a:solidFill>
                  <a:srgbClr val="F0703F"/>
                </a:solidFill>
                <a:latin typeface="Newsread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08736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6243C"/>
                </a:solidFill>
                <a:latin typeface="Hanken Grotesk"/>
              </a:rPr>
              <a:t>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544568"/>
            <a:ext cx="2148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B4A63"/>
                </a:solidFill>
                <a:latin typeface="Hanken Grotesk"/>
              </a:rPr>
              <a:t>Upload or paste each client's schedule as it is confirmed, so records stay current.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788920"/>
            <a:ext cx="26517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85615" y="3118103"/>
            <a:ext cx="786384" cy="786384"/>
          </a:xfrm>
          <a:prstGeom prst="ellipse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5" y="3118103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1">
                <a:solidFill>
                  <a:srgbClr val="F0703F"/>
                </a:solidFill>
                <a:latin typeface="Newsread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408736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6243C"/>
                </a:solidFill>
                <a:latin typeface="Hanken Grotesk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4544568"/>
            <a:ext cx="2148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B4A63"/>
                </a:solidFill>
                <a:latin typeface="Hanken Grotesk"/>
              </a:rPr>
              <a:t>Open Spend Analytics and your client dashboards before reviews to know your numbers.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2788920"/>
            <a:ext cx="26517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11696" y="3118103"/>
            <a:ext cx="786384" cy="786384"/>
          </a:xfrm>
          <a:prstGeom prst="ellipse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3118103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1">
                <a:solidFill>
                  <a:srgbClr val="F0703F"/>
                </a:solidFill>
                <a:latin typeface="Newsread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408736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6243C"/>
                </a:solidFill>
                <a:latin typeface="Hanken Grotesk"/>
              </a:rP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4544568"/>
            <a:ext cx="2148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B4A63"/>
                </a:solidFill>
                <a:latin typeface="Hanken Grotesk"/>
              </a:rPr>
              <a:t>Capture negotiated deal terms and properties on the channel while they are fresh.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45167" y="2788920"/>
            <a:ext cx="26517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37776" y="3118103"/>
            <a:ext cx="786384" cy="786384"/>
          </a:xfrm>
          <a:prstGeom prst="ellipse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3118103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1">
                <a:solidFill>
                  <a:srgbClr val="F0703F"/>
                </a:solidFill>
                <a:latin typeface="Newsread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408736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6243C"/>
                </a:solidFill>
                <a:latin typeface="Hanken Grotesk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7776" y="4544568"/>
            <a:ext cx="2148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B4A63"/>
                </a:solidFill>
                <a:latin typeface="Hanken Grotesk"/>
              </a:rPr>
              <a:t>Enter next month's forecast and overall budget before the cycle closes.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Group Head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COLLABORATION &amp;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22976" y="1444752"/>
            <a:ext cx="1133856" cy="1133856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38408" y="1660184"/>
            <a:ext cx="702990" cy="702990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38408" y="1641896"/>
            <a:ext cx="702990" cy="702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6" name="Oval 5"/>
          <p:cNvSpPr/>
          <p:nvPr/>
        </p:nvSpPr>
        <p:spPr>
          <a:xfrm>
            <a:off x="6441399" y="1478767"/>
            <a:ext cx="181416" cy="18141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18250" y="2442545"/>
            <a:ext cx="113385" cy="113385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Hanken Grotesk"/>
              </a:rPr>
              <a:t>You are ready to fly.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69080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Sign in at your Orbit workspace, open your clients, and keep each month current. Your forecasts and records feed every report the leadership team sees.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5257800"/>
            <a:ext cx="1399032" cy="2743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Hanken Grotesk"/>
              </a:rPr>
              <a:t>Questions on any screen reach the media team through your admin.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