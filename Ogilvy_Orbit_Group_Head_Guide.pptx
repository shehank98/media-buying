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79" r:id="rId30"/>
    <p:sldId id="264" r:id="rId15"/>
    <p:sldId id="265" r:id="rId16"/>
    <p:sldId id="266" r:id="rId17"/>
    <p:sldId id="267" r:id="rId18"/>
    <p:sldId id="280" r:id="rId31"/>
    <p:sldId id="268" r:id="rId19"/>
    <p:sldId id="281" r:id="rId32"/>
    <p:sldId id="269" r:id="rId20"/>
    <p:sldId id="282" r:id="rId33"/>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595360" y="-2011680"/>
            <a:ext cx="5486400" cy="5486400"/>
          </a:xfrm>
          <a:prstGeom prst="ellipse">
            <a:avLst/>
          </a:prstGeom>
          <a:solidFill>
            <a:srgbClr val="1E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41832" y="1124712"/>
            <a:ext cx="950976" cy="950976"/>
          </a:xfrm>
          <a:prstGeom prst="ellipse">
            <a:avLst/>
          </a:prstGeom>
          <a:noFill/>
          <a:ln w="12700">
            <a:solidFill>
              <a:srgbClr val="3A4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22517" y="1305397"/>
            <a:ext cx="589605" cy="589605"/>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22517" y="1287109"/>
            <a:ext cx="589605" cy="589605"/>
          </a:xfrm>
          <a:prstGeom prst="rect">
            <a:avLst/>
          </a:prstGeom>
          <a:noFill/>
        </p:spPr>
        <p:txBody>
          <a:bodyPr wrap="square" anchor="ctr" lIns="0" rIns="0" tIns="0" bIns="0">
            <a:spAutoFit/>
          </a:bodyPr>
          <a:lstStyle/>
          <a:p>
            <a:pPr algn="ctr">
              <a:lnSpc>
                <a:spcPct val="100000"/>
              </a:lnSpc>
              <a:spcBef>
                <a:spcPts val="0"/>
              </a:spcBef>
              <a:spcAft>
                <a:spcPts val="400"/>
              </a:spcAft>
            </a:pPr>
            <a:r>
              <a:rPr sz="1200" b="1" i="0">
                <a:solidFill>
                  <a:srgbClr val="FFFFFF"/>
                </a:solidFill>
                <a:latin typeface="Hanken Grotesk"/>
              </a:rPr>
              <a:t>O</a:t>
            </a:r>
          </a:p>
        </p:txBody>
      </p:sp>
      <p:sp>
        <p:nvSpPr>
          <p:cNvPr id="7" name="Oval 6"/>
          <p:cNvSpPr/>
          <p:nvPr/>
        </p:nvSpPr>
        <p:spPr>
          <a:xfrm>
            <a:off x="1712122" y="1153241"/>
            <a:ext cx="152156" cy="152156"/>
          </a:xfrm>
          <a:prstGeom prst="ellipse">
            <a:avLst/>
          </a:prstGeom>
          <a:solidFill>
            <a:srgbClr val="F07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441094" y="1961570"/>
            <a:ext cx="95097" cy="95097"/>
          </a:xfrm>
          <a:prstGeom prst="ellipse">
            <a:avLst/>
          </a:prstGeom>
          <a:solidFill>
            <a:srgbClr val="6E8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48840" y="1170432"/>
            <a:ext cx="7315200" cy="365760"/>
          </a:xfrm>
          <a:prstGeom prst="rect">
            <a:avLst/>
          </a:prstGeom>
          <a:noFill/>
        </p:spPr>
        <p:txBody>
          <a:bodyPr wrap="square" anchor="t" lIns="0" rIns="0" tIns="0" bIns="0">
            <a:spAutoFit/>
          </a:bodyPr>
          <a:lstStyle/>
          <a:p>
            <a:pPr algn="l">
              <a:lnSpc>
                <a:spcPct val="100000"/>
              </a:lnSpc>
              <a:spcBef>
                <a:spcPts val="0"/>
              </a:spcBef>
              <a:spcAft>
                <a:spcPts val="400"/>
              </a:spcAft>
            </a:pPr>
            <a:r>
              <a:rPr sz="1200" b="1" i="0" spc="260">
                <a:solidFill>
                  <a:srgbClr val="9AA6BC"/>
                </a:solidFill>
                <a:latin typeface="Hanken Grotesk"/>
              </a:rPr>
              <a:t>OGILVY MEDIA</a:t>
            </a:r>
          </a:p>
        </p:txBody>
      </p:sp>
      <p:sp>
        <p:nvSpPr>
          <p:cNvPr id="10" name="TextBox 9"/>
          <p:cNvSpPr txBox="1"/>
          <p:nvPr/>
        </p:nvSpPr>
        <p:spPr>
          <a:xfrm>
            <a:off x="2121408" y="1481328"/>
            <a:ext cx="8229600" cy="914400"/>
          </a:xfrm>
          <a:prstGeom prst="rect">
            <a:avLst/>
          </a:prstGeom>
          <a:noFill/>
        </p:spPr>
        <p:txBody>
          <a:bodyPr wrap="square" anchor="t" lIns="0" rIns="0" tIns="0" bIns="0">
            <a:spAutoFit/>
          </a:bodyPr>
          <a:lstStyle/>
          <a:p>
            <a:pPr algn="l">
              <a:lnSpc>
                <a:spcPct val="100000"/>
              </a:lnSpc>
              <a:spcBef>
                <a:spcPts val="0"/>
              </a:spcBef>
              <a:spcAft>
                <a:spcPts val="400"/>
              </a:spcAft>
            </a:pPr>
            <a:r>
              <a:rPr sz="4000" b="1" i="0">
                <a:solidFill>
                  <a:srgbClr val="FFFFFF"/>
                </a:solidFill>
                <a:latin typeface="Hanken Grotesk"/>
              </a:rPr>
              <a:t>Ogilvy </a:t>
            </a:r>
            <a:r>
              <a:rPr sz="4000" b="1" i="1">
                <a:solidFill>
                  <a:srgbClr val="F0703F"/>
                </a:solidFill>
                <a:latin typeface="Newsreader"/>
              </a:rPr>
              <a:t>Orbit</a:t>
            </a:r>
          </a:p>
        </p:txBody>
      </p:sp>
      <p:sp>
        <p:nvSpPr>
          <p:cNvPr id="11" name="TextBox 10"/>
          <p:cNvSpPr txBox="1"/>
          <p:nvPr/>
        </p:nvSpPr>
        <p:spPr>
          <a:xfrm>
            <a:off x="566928" y="3246120"/>
            <a:ext cx="10607040" cy="1828800"/>
          </a:xfrm>
          <a:prstGeom prst="rect">
            <a:avLst/>
          </a:prstGeom>
          <a:noFill/>
        </p:spPr>
        <p:txBody>
          <a:bodyPr wrap="square" anchor="t" lIns="0" rIns="0" tIns="0" bIns="0">
            <a:spAutoFit/>
          </a:bodyPr>
          <a:lstStyle/>
          <a:p>
            <a:pPr algn="l">
              <a:lnSpc>
                <a:spcPct val="106000"/>
              </a:lnSpc>
              <a:spcBef>
                <a:spcPts val="0"/>
              </a:spcBef>
              <a:spcAft>
                <a:spcPts val="400"/>
              </a:spcAft>
            </a:pPr>
            <a:r>
              <a:rPr sz="3300" b="1" i="0">
                <a:solidFill>
                  <a:srgbClr val="FFFFFF"/>
                </a:solidFill>
                <a:latin typeface="Hanken Grotesk"/>
              </a:rPr>
              <a:t>The Media Buying Records System,</a:t>
            </a:r>
          </a:p>
          <a:p>
            <a:pPr algn="l">
              <a:lnSpc>
                <a:spcPct val="106000"/>
              </a:lnSpc>
              <a:spcBef>
                <a:spcPts val="0"/>
              </a:spcBef>
              <a:spcAft>
                <a:spcPts val="400"/>
              </a:spcAft>
            </a:pPr>
            <a:r>
              <a:rPr sz="3300" b="1" i="0">
                <a:solidFill>
                  <a:srgbClr val="B9C6DE"/>
                </a:solidFill>
                <a:latin typeface="Hanken Grotesk"/>
              </a:rPr>
              <a:t>explained for Group Heads.</a:t>
            </a:r>
          </a:p>
        </p:txBody>
      </p:sp>
      <p:sp>
        <p:nvSpPr>
          <p:cNvPr id="12" name="TextBox 11"/>
          <p:cNvSpPr txBox="1"/>
          <p:nvPr/>
        </p:nvSpPr>
        <p:spPr>
          <a:xfrm>
            <a:off x="603504" y="5029200"/>
            <a:ext cx="10058400" cy="548640"/>
          </a:xfrm>
          <a:prstGeom prst="rect">
            <a:avLst/>
          </a:prstGeom>
          <a:noFill/>
        </p:spPr>
        <p:txBody>
          <a:bodyPr wrap="square" anchor="t" lIns="0" rIns="0" tIns="0" bIns="0">
            <a:spAutoFit/>
          </a:bodyPr>
          <a:lstStyle/>
          <a:p>
            <a:pPr algn="l">
              <a:lnSpc>
                <a:spcPct val="115000"/>
              </a:lnSpc>
              <a:spcBef>
                <a:spcPts val="0"/>
              </a:spcBef>
              <a:spcAft>
                <a:spcPts val="400"/>
              </a:spcAft>
            </a:pPr>
            <a:r>
              <a:rPr sz="1450" b="0" i="0">
                <a:solidFill>
                  <a:srgbClr val="9FB0CE"/>
                </a:solidFill>
                <a:latin typeface="Hanken Grotesk"/>
              </a:rPr>
              <a:t>Everything you can see, plan and do inside Orbit, from your schedule records to forecasts and media proposals.</a:t>
            </a:r>
          </a:p>
        </p:txBody>
      </p:sp>
      <p:sp>
        <p:nvSpPr>
          <p:cNvPr id="13" name="Rectangle 12"/>
          <p:cNvSpPr/>
          <p:nvPr/>
        </p:nvSpPr>
        <p:spPr>
          <a:xfrm>
            <a:off x="603504" y="5806440"/>
            <a:ext cx="457200" cy="2743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3504" y="5943600"/>
            <a:ext cx="10058400" cy="365760"/>
          </a:xfrm>
          <a:prstGeom prst="rect">
            <a:avLst/>
          </a:prstGeom>
          <a:noFill/>
        </p:spPr>
        <p:txBody>
          <a:bodyPr wrap="square" anchor="t" lIns="0" rIns="0" tIns="0" bIns="0">
            <a:spAutoFit/>
          </a:bodyPr>
          <a:lstStyle/>
          <a:p>
            <a:pPr algn="l">
              <a:lnSpc>
                <a:spcPct val="100000"/>
              </a:lnSpc>
              <a:spcBef>
                <a:spcPts val="0"/>
              </a:spcBef>
              <a:spcAft>
                <a:spcPts val="400"/>
              </a:spcAft>
            </a:pPr>
            <a:r>
              <a:rPr sz="1150" b="0" i="0">
                <a:solidFill>
                  <a:srgbClr val="9AA6BC"/>
                </a:solidFill>
                <a:latin typeface="Hanken Grotesk"/>
              </a:rPr>
              <a:t>Prepared for the Group Heads team</a:t>
            </a:r>
            <a:r>
              <a:rPr sz="1150" b="0" i="0">
                <a:solidFill>
                  <a:srgbClr val="9AA6BC"/>
                </a:solidFill>
                <a:latin typeface="Spline Sans Mono"/>
              </a:rPr>
              <a: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48840"/>
            <a:ext cx="2743200" cy="1280160"/>
          </a:xfrm>
          <a:prstGeom prst="rect">
            <a:avLst/>
          </a:prstGeom>
          <a:noFill/>
        </p:spPr>
        <p:txBody>
          <a:bodyPr wrap="square" anchor="t" lIns="0" rIns="0" tIns="0" bIns="0">
            <a:spAutoFit/>
          </a:bodyPr>
          <a:lstStyle/>
          <a:p>
            <a:pPr algn="l">
              <a:lnSpc>
                <a:spcPct val="100000"/>
              </a:lnSpc>
              <a:spcBef>
                <a:spcPts val="0"/>
              </a:spcBef>
              <a:spcAft>
                <a:spcPts val="400"/>
              </a:spcAft>
            </a:pPr>
            <a:r>
              <a:rPr sz="9200" b="1" i="1">
                <a:solidFill>
                  <a:srgbClr val="243452"/>
                </a:solidFill>
                <a:latin typeface="Newsreader"/>
              </a:rPr>
              <a:t>01</a:t>
            </a:r>
          </a:p>
        </p:txBody>
      </p:sp>
      <p:sp>
        <p:nvSpPr>
          <p:cNvPr id="5" name="TextBox 4"/>
          <p:cNvSpPr txBox="1"/>
          <p:nvPr/>
        </p:nvSpPr>
        <p:spPr>
          <a:xfrm>
            <a:off x="2514600" y="2240280"/>
            <a:ext cx="8686800" cy="457200"/>
          </a:xfrm>
          <a:prstGeom prst="rect">
            <a:avLst/>
          </a:prstGeom>
          <a:noFill/>
        </p:spPr>
        <p:txBody>
          <a:bodyPr wrap="square" anchor="t" lIns="0" rIns="0" tIns="0" bIns="0">
            <a:spAutoFit/>
          </a:bodyPr>
          <a:lstStyle/>
          <a:p>
            <a:pPr algn="l">
              <a:lnSpc>
                <a:spcPct val="100000"/>
              </a:lnSpc>
              <a:spcBef>
                <a:spcPts val="0"/>
              </a:spcBef>
              <a:spcAft>
                <a:spcPts val="400"/>
              </a:spcAft>
            </a:pPr>
            <a:r>
              <a:rPr sz="1300" b="1" i="0" spc="240">
                <a:solidFill>
                  <a:srgbClr val="F0703F"/>
                </a:solidFill>
                <a:latin typeface="Hanken Grotesk"/>
              </a:rPr>
              <a:t>GETTING ORIENTED</a:t>
            </a:r>
          </a:p>
        </p:txBody>
      </p:sp>
      <p:sp>
        <p:nvSpPr>
          <p:cNvPr id="6" name="TextBox 5"/>
          <p:cNvSpPr txBox="1"/>
          <p:nvPr/>
        </p:nvSpPr>
        <p:spPr>
          <a:xfrm>
            <a:off x="2487168" y="2651760"/>
            <a:ext cx="8869680" cy="1280160"/>
          </a:xfrm>
          <a:prstGeom prst="rect">
            <a:avLst/>
          </a:prstGeom>
          <a:noFill/>
        </p:spPr>
        <p:txBody>
          <a:bodyPr wrap="square" anchor="t" lIns="0" rIns="0" tIns="0" bIns="0">
            <a:spAutoFit/>
          </a:bodyPr>
          <a:lstStyle/>
          <a:p>
            <a:pPr algn="l">
              <a:lnSpc>
                <a:spcPct val="102000"/>
              </a:lnSpc>
              <a:spcBef>
                <a:spcPts val="0"/>
              </a:spcBef>
              <a:spcAft>
                <a:spcPts val="400"/>
              </a:spcAft>
            </a:pPr>
            <a:r>
              <a:rPr sz="4000" b="1" i="0">
                <a:solidFill>
                  <a:srgbClr val="FFFFFF"/>
                </a:solidFill>
                <a:latin typeface="Hanken Grotesk"/>
              </a:rPr>
              <a:t>What Orbit is, and
what it is for</a:t>
            </a:r>
          </a:p>
        </p:txBody>
      </p:sp>
      <p:sp>
        <p:nvSpPr>
          <p:cNvPr id="7" name="TextBox 6"/>
          <p:cNvSpPr txBox="1"/>
          <p:nvPr/>
        </p:nvSpPr>
        <p:spPr>
          <a:xfrm>
            <a:off x="2514600" y="3977639"/>
            <a:ext cx="7955279" cy="914400"/>
          </a:xfrm>
          <a:prstGeom prst="rect">
            <a:avLst/>
          </a:prstGeom>
          <a:noFill/>
        </p:spPr>
        <p:txBody>
          <a:bodyPr wrap="square" anchor="t" lIns="0" rIns="0" tIns="0" bIns="0">
            <a:spAutoFit/>
          </a:bodyPr>
          <a:lstStyle/>
          <a:p>
            <a:pPr algn="l">
              <a:lnSpc>
                <a:spcPct val="120000"/>
              </a:lnSpc>
              <a:spcBef>
                <a:spcPts val="0"/>
              </a:spcBef>
              <a:spcAft>
                <a:spcPts val="400"/>
              </a:spcAft>
            </a:pPr>
            <a:r>
              <a:rPr sz="1450" b="0" i="0">
                <a:solidFill>
                  <a:srgbClr val="9FB0CE"/>
                </a:solidFill>
                <a:latin typeface="Hanken Grotesk"/>
              </a:rPr>
              <a:t>A shared home for every media buying record, from first schedule to final report.</a:t>
            </a:r>
          </a:p>
        </p:txBody>
      </p:sp>
      <p:sp>
        <p:nvSpPr>
          <p:cNvPr id="8" name="Oval 7"/>
          <p:cNvSpPr/>
          <p:nvPr/>
        </p:nvSpPr>
        <p:spPr>
          <a:xfrm>
            <a:off x="10981944" y="466344"/>
            <a:ext cx="621792" cy="621792"/>
          </a:xfrm>
          <a:prstGeom prst="ellipse">
            <a:avLst/>
          </a:prstGeom>
          <a:noFill/>
          <a:ln w="12700">
            <a:solidFill>
              <a:srgbClr val="3A4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100084" y="584484"/>
            <a:ext cx="385511" cy="385511"/>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00084" y="566196"/>
            <a:ext cx="385511" cy="385511"/>
          </a:xfrm>
          <a:prstGeom prst="rect">
            <a:avLst/>
          </a:prstGeom>
          <a:noFill/>
        </p:spPr>
        <p:txBody>
          <a:bodyPr wrap="square" anchor="ctr" lIns="0" rIns="0" tIns="0" bIns="0">
            <a:spAutoFit/>
          </a:bodyPr>
          <a:lstStyle/>
          <a:p>
            <a:pPr algn="ctr">
              <a:lnSpc>
                <a:spcPct val="100000"/>
              </a:lnSpc>
              <a:spcBef>
                <a:spcPts val="0"/>
              </a:spcBef>
              <a:spcAft>
                <a:spcPts val="400"/>
              </a:spcAft>
            </a:pPr>
            <a:r>
              <a:rPr sz="800" b="1" i="0">
                <a:solidFill>
                  <a:srgbClr val="FFFFFF"/>
                </a:solidFill>
                <a:latin typeface="Hanken Grotesk"/>
              </a:rPr>
              <a:t>O</a:t>
            </a:r>
          </a:p>
        </p:txBody>
      </p:sp>
      <p:sp>
        <p:nvSpPr>
          <p:cNvPr id="11" name="Oval 10"/>
          <p:cNvSpPr/>
          <p:nvPr/>
        </p:nvSpPr>
        <p:spPr>
          <a:xfrm>
            <a:off x="11485595" y="484997"/>
            <a:ext cx="99486" cy="99486"/>
          </a:xfrm>
          <a:prstGeom prst="ellipse">
            <a:avLst/>
          </a:prstGeom>
          <a:solidFill>
            <a:srgbClr val="F07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308384" y="1013520"/>
            <a:ext cx="62179" cy="62179"/>
          </a:xfrm>
          <a:prstGeom prst="ellipse">
            <a:avLst/>
          </a:prstGeom>
          <a:solidFill>
            <a:srgbClr val="6E8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640080"/>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786384"/>
            <a:ext cx="1005840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THE BIG PICTURE</a:t>
            </a:r>
          </a:p>
        </p:txBody>
      </p:sp>
      <p:sp>
        <p:nvSpPr>
          <p:cNvPr id="5" name="TextBox 4"/>
          <p:cNvSpPr txBox="1"/>
          <p:nvPr/>
        </p:nvSpPr>
        <p:spPr>
          <a:xfrm>
            <a:off x="548640" y="1097280"/>
            <a:ext cx="10789920" cy="64008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16243C"/>
                </a:solidFill>
                <a:latin typeface="Hanken Grotesk"/>
              </a:rPr>
              <a:t>One system, three jobs</a:t>
            </a:r>
          </a:p>
        </p:txBody>
      </p:sp>
      <p:sp>
        <p:nvSpPr>
          <p:cNvPr id="6" name="TextBox 5"/>
          <p:cNvSpPr txBox="1"/>
          <p:nvPr/>
        </p:nvSpPr>
        <p:spPr>
          <a:xfrm>
            <a:off x="566928" y="1783080"/>
            <a:ext cx="10607040" cy="548640"/>
          </a:xfrm>
          <a:prstGeom prst="rect">
            <a:avLst/>
          </a:prstGeom>
          <a:noFill/>
        </p:spPr>
        <p:txBody>
          <a:bodyPr wrap="square" anchor="t" lIns="0" rIns="0" tIns="0" bIns="0">
            <a:spAutoFit/>
          </a:bodyPr>
          <a:lstStyle/>
          <a:p>
            <a:pPr algn="l">
              <a:lnSpc>
                <a:spcPct val="120000"/>
              </a:lnSpc>
              <a:spcBef>
                <a:spcPts val="0"/>
              </a:spcBef>
              <a:spcAft>
                <a:spcPts val="400"/>
              </a:spcAft>
            </a:pPr>
            <a:r>
              <a:rPr sz="1400" b="0" i="0">
                <a:solidFill>
                  <a:srgbClr val="3B4A63"/>
                </a:solidFill>
                <a:latin typeface="Hanken Grotesk"/>
              </a:rPr>
              <a:t>Orbit replaces scattered spreadsheets with a single, always current record of your media activity.</a:t>
            </a:r>
          </a:p>
        </p:txBody>
      </p:sp>
      <p:sp>
        <p:nvSpPr>
          <p:cNvPr id="7" name="Rounded Rectangle 6"/>
          <p:cNvSpPr/>
          <p:nvPr/>
        </p:nvSpPr>
        <p:spPr>
          <a:xfrm>
            <a:off x="566928" y="2697480"/>
            <a:ext cx="3444239" cy="3108960"/>
          </a:xfrm>
          <a:prstGeom prst="roundRect">
            <a:avLst>
              <a:gd name="adj" fmla="val 4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697480"/>
            <a:ext cx="3444239" cy="82296"/>
          </a:xfrm>
          <a:prstGeom prst="round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86968" y="3081528"/>
            <a:ext cx="640080" cy="640080"/>
          </a:xfrm>
          <a:prstGeom prst="roundRect">
            <a:avLst>
              <a:gd name="adj" fmla="val 25000"/>
            </a:avLst>
          </a:prstGeom>
          <a:solidFill>
            <a:srgbClr val="0A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3081528"/>
            <a:ext cx="640080" cy="640080"/>
          </a:xfrm>
          <a:prstGeom prst="rect">
            <a:avLst/>
          </a:prstGeom>
          <a:noFill/>
        </p:spPr>
        <p:txBody>
          <a:bodyPr wrap="square" anchor="ctr" lIns="0" rIns="0" tIns="0" bIns="0">
            <a:spAutoFit/>
          </a:bodyPr>
          <a:lstStyle/>
          <a:p>
            <a:pPr algn="ctr">
              <a:lnSpc>
                <a:spcPct val="100000"/>
              </a:lnSpc>
              <a:spcBef>
                <a:spcPts val="0"/>
              </a:spcBef>
              <a:spcAft>
                <a:spcPts val="400"/>
              </a:spcAft>
            </a:pPr>
            <a:r>
              <a:rPr sz="2200" b="1" i="0">
                <a:solidFill>
                  <a:srgbClr val="FFFFFF"/>
                </a:solidFill>
                <a:latin typeface="Hanken Grotesk"/>
              </a:rPr>
              <a:t>1</a:t>
            </a:r>
          </a:p>
        </p:txBody>
      </p:sp>
      <p:sp>
        <p:nvSpPr>
          <p:cNvPr id="11" name="TextBox 10"/>
          <p:cNvSpPr txBox="1"/>
          <p:nvPr/>
        </p:nvSpPr>
        <p:spPr>
          <a:xfrm>
            <a:off x="886968" y="3931920"/>
            <a:ext cx="2804160" cy="640080"/>
          </a:xfrm>
          <a:prstGeom prst="rect">
            <a:avLst/>
          </a:prstGeom>
          <a:noFill/>
        </p:spPr>
        <p:txBody>
          <a:bodyPr wrap="square" anchor="t" lIns="0" rIns="0" tIns="0" bIns="0">
            <a:spAutoFit/>
          </a:bodyPr>
          <a:lstStyle/>
          <a:p>
            <a:pPr algn="l">
              <a:lnSpc>
                <a:spcPct val="100000"/>
              </a:lnSpc>
              <a:spcBef>
                <a:spcPts val="0"/>
              </a:spcBef>
              <a:spcAft>
                <a:spcPts val="400"/>
              </a:spcAft>
            </a:pPr>
            <a:r>
              <a:rPr sz="1650" b="1" i="0">
                <a:solidFill>
                  <a:srgbClr val="16243C"/>
                </a:solidFill>
                <a:latin typeface="Hanken Grotesk"/>
              </a:rPr>
              <a:t>A single record</a:t>
            </a:r>
          </a:p>
        </p:txBody>
      </p:sp>
      <p:sp>
        <p:nvSpPr>
          <p:cNvPr id="12" name="TextBox 11"/>
          <p:cNvSpPr txBox="1"/>
          <p:nvPr/>
        </p:nvSpPr>
        <p:spPr>
          <a:xfrm>
            <a:off x="886968" y="4480560"/>
            <a:ext cx="2804160" cy="1280160"/>
          </a:xfrm>
          <a:prstGeom prst="rect">
            <a:avLst/>
          </a:prstGeom>
          <a:noFill/>
        </p:spPr>
        <p:txBody>
          <a:bodyPr wrap="square" anchor="t" lIns="0" rIns="0" tIns="0" bIns="0">
            <a:spAutoFit/>
          </a:bodyPr>
          <a:lstStyle/>
          <a:p>
            <a:pPr algn="l">
              <a:lnSpc>
                <a:spcPct val="118000"/>
              </a:lnSpc>
              <a:spcBef>
                <a:spcPts val="0"/>
              </a:spcBef>
              <a:spcAft>
                <a:spcPts val="400"/>
              </a:spcAft>
            </a:pPr>
            <a:r>
              <a:rPr sz="1200" b="0" i="0">
                <a:solidFill>
                  <a:srgbClr val="3B4A63"/>
                </a:solidFill>
                <a:latin typeface="Hanken Grotesk"/>
              </a:rPr>
              <a:t>Every schedule, channel, property and deal for your clients lives in one place, entered once and kept current.</a:t>
            </a:r>
          </a:p>
        </p:txBody>
      </p:sp>
      <p:sp>
        <p:nvSpPr>
          <p:cNvPr id="13" name="Rounded Rectangle 12"/>
          <p:cNvSpPr/>
          <p:nvPr/>
        </p:nvSpPr>
        <p:spPr>
          <a:xfrm>
            <a:off x="4376928" y="2697480"/>
            <a:ext cx="3444239" cy="3108960"/>
          </a:xfrm>
          <a:prstGeom prst="roundRect">
            <a:avLst>
              <a:gd name="adj" fmla="val 4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76928" y="2697480"/>
            <a:ext cx="3444239" cy="82296"/>
          </a:xfrm>
          <a:prstGeom prst="round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696967" y="3081528"/>
            <a:ext cx="640080" cy="640080"/>
          </a:xfrm>
          <a:prstGeom prst="roundRect">
            <a:avLst>
              <a:gd name="adj" fmla="val 25000"/>
            </a:avLst>
          </a:prstGeom>
          <a:solidFill>
            <a:srgbClr val="0A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6967" y="3081528"/>
            <a:ext cx="640080" cy="640080"/>
          </a:xfrm>
          <a:prstGeom prst="rect">
            <a:avLst/>
          </a:prstGeom>
          <a:noFill/>
        </p:spPr>
        <p:txBody>
          <a:bodyPr wrap="square" anchor="ctr" lIns="0" rIns="0" tIns="0" bIns="0">
            <a:spAutoFit/>
          </a:bodyPr>
          <a:lstStyle/>
          <a:p>
            <a:pPr algn="ctr">
              <a:lnSpc>
                <a:spcPct val="100000"/>
              </a:lnSpc>
              <a:spcBef>
                <a:spcPts val="0"/>
              </a:spcBef>
              <a:spcAft>
                <a:spcPts val="400"/>
              </a:spcAft>
            </a:pPr>
            <a:r>
              <a:rPr sz="2200" b="1" i="0">
                <a:solidFill>
                  <a:srgbClr val="FFFFFF"/>
                </a:solidFill>
                <a:latin typeface="Hanken Grotesk"/>
              </a:rPr>
              <a:t>2</a:t>
            </a:r>
          </a:p>
        </p:txBody>
      </p:sp>
      <p:sp>
        <p:nvSpPr>
          <p:cNvPr id="17" name="TextBox 16"/>
          <p:cNvSpPr txBox="1"/>
          <p:nvPr/>
        </p:nvSpPr>
        <p:spPr>
          <a:xfrm>
            <a:off x="4696967" y="3931920"/>
            <a:ext cx="2804160" cy="640080"/>
          </a:xfrm>
          <a:prstGeom prst="rect">
            <a:avLst/>
          </a:prstGeom>
          <a:noFill/>
        </p:spPr>
        <p:txBody>
          <a:bodyPr wrap="square" anchor="t" lIns="0" rIns="0" tIns="0" bIns="0">
            <a:spAutoFit/>
          </a:bodyPr>
          <a:lstStyle/>
          <a:p>
            <a:pPr algn="l">
              <a:lnSpc>
                <a:spcPct val="100000"/>
              </a:lnSpc>
              <a:spcBef>
                <a:spcPts val="0"/>
              </a:spcBef>
              <a:spcAft>
                <a:spcPts val="400"/>
              </a:spcAft>
            </a:pPr>
            <a:r>
              <a:rPr sz="1650" b="1" i="0">
                <a:solidFill>
                  <a:srgbClr val="16243C"/>
                </a:solidFill>
                <a:latin typeface="Hanken Grotesk"/>
              </a:rPr>
              <a:t>Live analytics</a:t>
            </a:r>
          </a:p>
        </p:txBody>
      </p:sp>
      <p:sp>
        <p:nvSpPr>
          <p:cNvPr id="18" name="TextBox 17"/>
          <p:cNvSpPr txBox="1"/>
          <p:nvPr/>
        </p:nvSpPr>
        <p:spPr>
          <a:xfrm>
            <a:off x="4696967" y="4480560"/>
            <a:ext cx="2804160" cy="1280160"/>
          </a:xfrm>
          <a:prstGeom prst="rect">
            <a:avLst/>
          </a:prstGeom>
          <a:noFill/>
        </p:spPr>
        <p:txBody>
          <a:bodyPr wrap="square" anchor="t" lIns="0" rIns="0" tIns="0" bIns="0">
            <a:spAutoFit/>
          </a:bodyPr>
          <a:lstStyle/>
          <a:p>
            <a:pPr algn="l">
              <a:lnSpc>
                <a:spcPct val="118000"/>
              </a:lnSpc>
              <a:spcBef>
                <a:spcPts val="0"/>
              </a:spcBef>
              <a:spcAft>
                <a:spcPts val="400"/>
              </a:spcAft>
            </a:pPr>
            <a:r>
              <a:rPr sz="1200" b="0" i="0">
                <a:solidFill>
                  <a:srgbClr val="3B4A63"/>
                </a:solidFill>
                <a:latin typeface="Hanken Grotesk"/>
              </a:rPr>
              <a:t>The moment a schedule is logged, spend charts, trends and channel views update on their own.</a:t>
            </a:r>
          </a:p>
        </p:txBody>
      </p:sp>
      <p:sp>
        <p:nvSpPr>
          <p:cNvPr id="19" name="Rounded Rectangle 18"/>
          <p:cNvSpPr/>
          <p:nvPr/>
        </p:nvSpPr>
        <p:spPr>
          <a:xfrm>
            <a:off x="8186928" y="2697480"/>
            <a:ext cx="3444239" cy="3108960"/>
          </a:xfrm>
          <a:prstGeom prst="roundRect">
            <a:avLst>
              <a:gd name="adj" fmla="val 4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186928" y="2697480"/>
            <a:ext cx="3444239" cy="82296"/>
          </a:xfrm>
          <a:prstGeom prst="round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506968" y="3081528"/>
            <a:ext cx="640080" cy="640080"/>
          </a:xfrm>
          <a:prstGeom prst="roundRect">
            <a:avLst>
              <a:gd name="adj" fmla="val 25000"/>
            </a:avLst>
          </a:prstGeom>
          <a:solidFill>
            <a:srgbClr val="0A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968" y="3081528"/>
            <a:ext cx="640080" cy="640080"/>
          </a:xfrm>
          <a:prstGeom prst="rect">
            <a:avLst/>
          </a:prstGeom>
          <a:noFill/>
        </p:spPr>
        <p:txBody>
          <a:bodyPr wrap="square" anchor="ctr" lIns="0" rIns="0" tIns="0" bIns="0">
            <a:spAutoFit/>
          </a:bodyPr>
          <a:lstStyle/>
          <a:p>
            <a:pPr algn="ctr">
              <a:lnSpc>
                <a:spcPct val="100000"/>
              </a:lnSpc>
              <a:spcBef>
                <a:spcPts val="0"/>
              </a:spcBef>
              <a:spcAft>
                <a:spcPts val="400"/>
              </a:spcAft>
            </a:pPr>
            <a:r>
              <a:rPr sz="2200" b="1" i="0">
                <a:solidFill>
                  <a:srgbClr val="FFFFFF"/>
                </a:solidFill>
                <a:latin typeface="Hanken Grotesk"/>
              </a:rPr>
              <a:t>3</a:t>
            </a:r>
          </a:p>
        </p:txBody>
      </p:sp>
      <p:sp>
        <p:nvSpPr>
          <p:cNvPr id="23" name="TextBox 22"/>
          <p:cNvSpPr txBox="1"/>
          <p:nvPr/>
        </p:nvSpPr>
        <p:spPr>
          <a:xfrm>
            <a:off x="8506968" y="3931920"/>
            <a:ext cx="2804160" cy="640080"/>
          </a:xfrm>
          <a:prstGeom prst="rect">
            <a:avLst/>
          </a:prstGeom>
          <a:noFill/>
        </p:spPr>
        <p:txBody>
          <a:bodyPr wrap="square" anchor="t" lIns="0" rIns="0" tIns="0" bIns="0">
            <a:spAutoFit/>
          </a:bodyPr>
          <a:lstStyle/>
          <a:p>
            <a:pPr algn="l">
              <a:lnSpc>
                <a:spcPct val="100000"/>
              </a:lnSpc>
              <a:spcBef>
                <a:spcPts val="0"/>
              </a:spcBef>
              <a:spcAft>
                <a:spcPts val="400"/>
              </a:spcAft>
            </a:pPr>
            <a:r>
              <a:rPr sz="1650" b="1" i="0">
                <a:solidFill>
                  <a:srgbClr val="16243C"/>
                </a:solidFill>
                <a:latin typeface="Hanken Grotesk"/>
              </a:rPr>
              <a:t>Plan and share</a:t>
            </a:r>
          </a:p>
        </p:txBody>
      </p:sp>
      <p:sp>
        <p:nvSpPr>
          <p:cNvPr id="24" name="TextBox 23"/>
          <p:cNvSpPr txBox="1"/>
          <p:nvPr/>
        </p:nvSpPr>
        <p:spPr>
          <a:xfrm>
            <a:off x="8506968" y="4480560"/>
            <a:ext cx="2804160" cy="1280160"/>
          </a:xfrm>
          <a:prstGeom prst="rect">
            <a:avLst/>
          </a:prstGeom>
          <a:noFill/>
        </p:spPr>
        <p:txBody>
          <a:bodyPr wrap="square" anchor="t" lIns="0" rIns="0" tIns="0" bIns="0">
            <a:spAutoFit/>
          </a:bodyPr>
          <a:lstStyle/>
          <a:p>
            <a:pPr algn="l">
              <a:lnSpc>
                <a:spcPct val="118000"/>
              </a:lnSpc>
              <a:spcBef>
                <a:spcPts val="0"/>
              </a:spcBef>
              <a:spcAft>
                <a:spcPts val="400"/>
              </a:spcAft>
            </a:pPr>
            <a:r>
              <a:rPr sz="1200" b="0" i="0">
                <a:solidFill>
                  <a:srgbClr val="3B4A63"/>
                </a:solidFill>
                <a:latin typeface="Hanken Grotesk"/>
              </a:rPr>
              <a:t>Enter forecasts for the month ahead and respond to media proposals sent to you, all in app.</a:t>
            </a:r>
          </a:p>
        </p:txBody>
      </p:sp>
      <p:sp>
        <p:nvSpPr>
          <p:cNvPr id="25" name="Rectangle 24"/>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Group Head Guide</a:t>
            </a:r>
          </a:p>
        </p:txBody>
      </p:sp>
      <p:sp>
        <p:nvSpPr>
          <p:cNvPr id="27" name="TextBox 26"/>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GETTING ORIENTED</a:t>
            </a:r>
          </a:p>
        </p:txBody>
      </p:sp>
      <p:sp>
        <p:nvSpPr>
          <p:cNvPr id="28" name="TextBox 27"/>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03 /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640080"/>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786384"/>
            <a:ext cx="1005840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YOUR ACCESS</a:t>
            </a:r>
          </a:p>
        </p:txBody>
      </p:sp>
      <p:sp>
        <p:nvSpPr>
          <p:cNvPr id="5" name="TextBox 4"/>
          <p:cNvSpPr txBox="1"/>
          <p:nvPr/>
        </p:nvSpPr>
        <p:spPr>
          <a:xfrm>
            <a:off x="548640" y="1097280"/>
            <a:ext cx="10972800" cy="64008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16243C"/>
                </a:solidFill>
                <a:latin typeface="Hanken Grotesk"/>
              </a:rPr>
              <a:t>What a Group Head can reach</a:t>
            </a:r>
          </a:p>
        </p:txBody>
      </p:sp>
      <p:sp>
        <p:nvSpPr>
          <p:cNvPr id="6" name="TextBox 5"/>
          <p:cNvSpPr txBox="1"/>
          <p:nvPr/>
        </p:nvSpPr>
        <p:spPr>
          <a:xfrm>
            <a:off x="566928" y="1810512"/>
            <a:ext cx="10698480" cy="640080"/>
          </a:xfrm>
          <a:prstGeom prst="rect">
            <a:avLst/>
          </a:prstGeom>
          <a:noFill/>
        </p:spPr>
        <p:txBody>
          <a:bodyPr wrap="square" anchor="t" lIns="0" rIns="0" tIns="0" bIns="0">
            <a:spAutoFit/>
          </a:bodyPr>
          <a:lstStyle/>
          <a:p>
            <a:pPr algn="l">
              <a:lnSpc>
                <a:spcPct val="120000"/>
              </a:lnSpc>
              <a:spcBef>
                <a:spcPts val="0"/>
              </a:spcBef>
              <a:spcAft>
                <a:spcPts val="400"/>
              </a:spcAft>
            </a:pPr>
            <a:r>
              <a:rPr sz="1350" b="0" i="0">
                <a:solidFill>
                  <a:srgbClr val="3B4A63"/>
                </a:solidFill>
                <a:latin typeface="Hanken Grotesk"/>
              </a:rPr>
              <a:t>Orbit shows you the accounts that belong to your team, and every screen is scoped to your own clients. Leadership tools such as the Executive Dashboard, Reports and Admin are not part of your view.</a:t>
            </a:r>
          </a:p>
        </p:txBody>
      </p:sp>
      <p:sp>
        <p:nvSpPr>
          <p:cNvPr id="7" name="Rounded Rectangle 6"/>
          <p:cNvSpPr/>
          <p:nvPr/>
        </p:nvSpPr>
        <p:spPr>
          <a:xfrm>
            <a:off x="566928" y="2743200"/>
            <a:ext cx="5440680" cy="841248"/>
          </a:xfrm>
          <a:prstGeom prst="roundRect">
            <a:avLst>
              <a:gd name="adj" fmla="val 12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66928" y="2889504"/>
            <a:ext cx="64008" cy="548640"/>
          </a:xfrm>
          <a:prstGeom prst="round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871216"/>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450" b="1" i="0">
                <a:solidFill>
                  <a:srgbClr val="16243C"/>
                </a:solidFill>
                <a:latin typeface="Hanken Grotesk"/>
              </a:rPr>
              <a:t>Database</a:t>
            </a:r>
          </a:p>
        </p:txBody>
      </p:sp>
      <p:sp>
        <p:nvSpPr>
          <p:cNvPr id="10" name="TextBox 9"/>
          <p:cNvSpPr txBox="1"/>
          <p:nvPr/>
        </p:nvSpPr>
        <p:spPr>
          <a:xfrm>
            <a:off x="859536" y="3182112"/>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0" i="0">
                <a:solidFill>
                  <a:srgbClr val="6B7790"/>
                </a:solidFill>
                <a:latin typeface="Hanken Grotesk"/>
              </a:rPr>
              <a:t>Your schedule records, month by month</a:t>
            </a:r>
          </a:p>
        </p:txBody>
      </p:sp>
      <p:sp>
        <p:nvSpPr>
          <p:cNvPr id="11" name="Rounded Rectangle 10"/>
          <p:cNvSpPr/>
          <p:nvPr/>
        </p:nvSpPr>
        <p:spPr>
          <a:xfrm>
            <a:off x="6236208" y="2743200"/>
            <a:ext cx="5440680" cy="841248"/>
          </a:xfrm>
          <a:prstGeom prst="roundRect">
            <a:avLst>
              <a:gd name="adj" fmla="val 12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36208" y="2889504"/>
            <a:ext cx="64008" cy="548640"/>
          </a:xfrm>
          <a:prstGeom prst="round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871216"/>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450" b="1" i="0">
                <a:solidFill>
                  <a:srgbClr val="16243C"/>
                </a:solidFill>
                <a:latin typeface="Hanken Grotesk"/>
              </a:rPr>
              <a:t>Spend Analytics</a:t>
            </a:r>
          </a:p>
        </p:txBody>
      </p:sp>
      <p:sp>
        <p:nvSpPr>
          <p:cNvPr id="14" name="TextBox 13"/>
          <p:cNvSpPr txBox="1"/>
          <p:nvPr/>
        </p:nvSpPr>
        <p:spPr>
          <a:xfrm>
            <a:off x="6528816" y="3182112"/>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0" i="0">
                <a:solidFill>
                  <a:srgbClr val="6B7790"/>
                </a:solidFill>
                <a:latin typeface="Hanken Grotesk"/>
              </a:rPr>
              <a:t>Charts and breakdowns of committed spend</a:t>
            </a:r>
          </a:p>
        </p:txBody>
      </p:sp>
      <p:sp>
        <p:nvSpPr>
          <p:cNvPr id="15" name="Rounded Rectangle 14"/>
          <p:cNvSpPr/>
          <p:nvPr/>
        </p:nvSpPr>
        <p:spPr>
          <a:xfrm>
            <a:off x="566928" y="3767328"/>
            <a:ext cx="5440680" cy="841248"/>
          </a:xfrm>
          <a:prstGeom prst="roundRect">
            <a:avLst>
              <a:gd name="adj" fmla="val 12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66928" y="3913632"/>
            <a:ext cx="64008" cy="548640"/>
          </a:xfrm>
          <a:prstGeom prst="round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3895344"/>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450" b="1" i="0">
                <a:solidFill>
                  <a:srgbClr val="16243C"/>
                </a:solidFill>
                <a:latin typeface="Hanken Grotesk"/>
              </a:rPr>
              <a:t>Agencies &amp; Clients</a:t>
            </a:r>
          </a:p>
        </p:txBody>
      </p:sp>
      <p:sp>
        <p:nvSpPr>
          <p:cNvPr id="18" name="TextBox 17"/>
          <p:cNvSpPr txBox="1"/>
          <p:nvPr/>
        </p:nvSpPr>
        <p:spPr>
          <a:xfrm>
            <a:off x="859536" y="4206240"/>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0" i="0">
                <a:solidFill>
                  <a:srgbClr val="6B7790"/>
                </a:solidFill>
                <a:latin typeface="Hanken Grotesk"/>
              </a:rPr>
              <a:t>Your client roster and their channels</a:t>
            </a:r>
          </a:p>
        </p:txBody>
      </p:sp>
      <p:sp>
        <p:nvSpPr>
          <p:cNvPr id="19" name="Rounded Rectangle 18"/>
          <p:cNvSpPr/>
          <p:nvPr/>
        </p:nvSpPr>
        <p:spPr>
          <a:xfrm>
            <a:off x="6236208" y="3767328"/>
            <a:ext cx="5440680" cy="841248"/>
          </a:xfrm>
          <a:prstGeom prst="roundRect">
            <a:avLst>
              <a:gd name="adj" fmla="val 12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236208" y="3913632"/>
            <a:ext cx="64008" cy="548640"/>
          </a:xfrm>
          <a:prstGeom prst="round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28816" y="3895344"/>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450" b="1" i="0">
                <a:solidFill>
                  <a:srgbClr val="16243C"/>
                </a:solidFill>
                <a:latin typeface="Hanken Grotesk"/>
              </a:rPr>
              <a:t>Channel Detail</a:t>
            </a:r>
          </a:p>
        </p:txBody>
      </p:sp>
      <p:sp>
        <p:nvSpPr>
          <p:cNvPr id="22" name="TextBox 21"/>
          <p:cNvSpPr txBox="1"/>
          <p:nvPr/>
        </p:nvSpPr>
        <p:spPr>
          <a:xfrm>
            <a:off x="6528816" y="4206240"/>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0" i="0">
                <a:solidFill>
                  <a:srgbClr val="6B7790"/>
                </a:solidFill>
                <a:latin typeface="Hanken Grotesk"/>
              </a:rPr>
              <a:t>Properties, deal terms and rate cards</a:t>
            </a:r>
          </a:p>
        </p:txBody>
      </p:sp>
      <p:sp>
        <p:nvSpPr>
          <p:cNvPr id="23" name="Rounded Rectangle 22"/>
          <p:cNvSpPr/>
          <p:nvPr/>
        </p:nvSpPr>
        <p:spPr>
          <a:xfrm>
            <a:off x="566928" y="4791456"/>
            <a:ext cx="5440680" cy="841248"/>
          </a:xfrm>
          <a:prstGeom prst="roundRect">
            <a:avLst>
              <a:gd name="adj" fmla="val 12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66928" y="4937760"/>
            <a:ext cx="64008" cy="548640"/>
          </a:xfrm>
          <a:prstGeom prst="round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 y="4919472"/>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450" b="1" i="0">
                <a:solidFill>
                  <a:srgbClr val="16243C"/>
                </a:solidFill>
                <a:latin typeface="Hanken Grotesk"/>
              </a:rPr>
              <a:t>Channel Intelligence</a:t>
            </a:r>
          </a:p>
        </p:txBody>
      </p:sp>
      <p:sp>
        <p:nvSpPr>
          <p:cNvPr id="26" name="TextBox 25"/>
          <p:cNvSpPr txBox="1"/>
          <p:nvPr/>
        </p:nvSpPr>
        <p:spPr>
          <a:xfrm>
            <a:off x="859536" y="5230368"/>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0" i="0">
                <a:solidFill>
                  <a:srgbClr val="6B7790"/>
                </a:solidFill>
                <a:latin typeface="Hanken Grotesk"/>
              </a:rPr>
              <a:t>Per channel spend trends for your clients</a:t>
            </a:r>
          </a:p>
        </p:txBody>
      </p:sp>
      <p:sp>
        <p:nvSpPr>
          <p:cNvPr id="27" name="Rounded Rectangle 26"/>
          <p:cNvSpPr/>
          <p:nvPr/>
        </p:nvSpPr>
        <p:spPr>
          <a:xfrm>
            <a:off x="6236208" y="4791456"/>
            <a:ext cx="5440680" cy="841248"/>
          </a:xfrm>
          <a:prstGeom prst="roundRect">
            <a:avLst>
              <a:gd name="adj" fmla="val 12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236208" y="4937760"/>
            <a:ext cx="64008" cy="548640"/>
          </a:xfrm>
          <a:prstGeom prst="round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28816" y="4919472"/>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450" b="1" i="0">
                <a:solidFill>
                  <a:srgbClr val="16243C"/>
                </a:solidFill>
                <a:latin typeface="Hanken Grotesk"/>
              </a:rPr>
              <a:t>Forecasting</a:t>
            </a:r>
          </a:p>
        </p:txBody>
      </p:sp>
      <p:sp>
        <p:nvSpPr>
          <p:cNvPr id="30" name="TextBox 29"/>
          <p:cNvSpPr txBox="1"/>
          <p:nvPr/>
        </p:nvSpPr>
        <p:spPr>
          <a:xfrm>
            <a:off x="6528816" y="5230368"/>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0" i="0">
                <a:solidFill>
                  <a:srgbClr val="6B7790"/>
                </a:solidFill>
                <a:latin typeface="Hanken Grotesk"/>
              </a:rPr>
              <a:t>The upcoming month, entered per channel</a:t>
            </a:r>
          </a:p>
        </p:txBody>
      </p:sp>
      <p:sp>
        <p:nvSpPr>
          <p:cNvPr id="31" name="Rounded Rectangle 30"/>
          <p:cNvSpPr/>
          <p:nvPr/>
        </p:nvSpPr>
        <p:spPr>
          <a:xfrm>
            <a:off x="566928" y="5815584"/>
            <a:ext cx="5440680" cy="841248"/>
          </a:xfrm>
          <a:prstGeom prst="roundRect">
            <a:avLst>
              <a:gd name="adj" fmla="val 12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66928" y="5961888"/>
            <a:ext cx="64008" cy="548640"/>
          </a:xfrm>
          <a:prstGeom prst="round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943600"/>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450" b="1" i="0">
                <a:solidFill>
                  <a:srgbClr val="16243C"/>
                </a:solidFill>
                <a:latin typeface="Hanken Grotesk"/>
              </a:rPr>
              <a:t>Overall Budget</a:t>
            </a:r>
          </a:p>
        </p:txBody>
      </p:sp>
      <p:sp>
        <p:nvSpPr>
          <p:cNvPr id="34" name="TextBox 33"/>
          <p:cNvSpPr txBox="1"/>
          <p:nvPr/>
        </p:nvSpPr>
        <p:spPr>
          <a:xfrm>
            <a:off x="859536" y="6254496"/>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0" i="0">
                <a:solidFill>
                  <a:srgbClr val="6B7790"/>
                </a:solidFill>
                <a:latin typeface="Hanken Grotesk"/>
              </a:rPr>
              <a:t>Best case and last month billing per client</a:t>
            </a:r>
          </a:p>
        </p:txBody>
      </p:sp>
      <p:sp>
        <p:nvSpPr>
          <p:cNvPr id="35" name="Rounded Rectangle 34"/>
          <p:cNvSpPr/>
          <p:nvPr/>
        </p:nvSpPr>
        <p:spPr>
          <a:xfrm>
            <a:off x="6236208" y="5815584"/>
            <a:ext cx="5440680" cy="841248"/>
          </a:xfrm>
          <a:prstGeom prst="roundRect">
            <a:avLst>
              <a:gd name="adj" fmla="val 12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236208" y="5961888"/>
            <a:ext cx="64008" cy="548640"/>
          </a:xfrm>
          <a:prstGeom prst="round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28816" y="5943600"/>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450" b="1" i="0">
                <a:solidFill>
                  <a:srgbClr val="16243C"/>
                </a:solidFill>
                <a:latin typeface="Hanken Grotesk"/>
              </a:rPr>
              <a:t>Media Packages</a:t>
            </a:r>
          </a:p>
        </p:txBody>
      </p:sp>
      <p:sp>
        <p:nvSpPr>
          <p:cNvPr id="38" name="TextBox 37"/>
          <p:cNvSpPr txBox="1"/>
          <p:nvPr/>
        </p:nvSpPr>
        <p:spPr>
          <a:xfrm>
            <a:off x="6528816" y="6254496"/>
            <a:ext cx="498348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0" i="0">
                <a:solidFill>
                  <a:srgbClr val="6B7790"/>
                </a:solidFill>
                <a:latin typeface="Hanken Grotesk"/>
              </a:rPr>
              <a:t>Proposals shared with you to respond to</a:t>
            </a:r>
          </a:p>
        </p:txBody>
      </p:sp>
      <p:sp>
        <p:nvSpPr>
          <p:cNvPr id="39" name="Rectangle 3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Group Head Guide</a:t>
            </a:r>
          </a:p>
        </p:txBody>
      </p:sp>
      <p:sp>
        <p:nvSpPr>
          <p:cNvPr id="41" name="TextBox 40"/>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GETTING ORIENTED</a:t>
            </a:r>
          </a:p>
        </p:txBody>
      </p:sp>
      <p:sp>
        <p:nvSpPr>
          <p:cNvPr id="42" name="TextBox 41"/>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04 /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603504"/>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49808"/>
            <a:ext cx="370332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SIGNING IN</a:t>
            </a:r>
          </a:p>
        </p:txBody>
      </p:sp>
      <p:sp>
        <p:nvSpPr>
          <p:cNvPr id="6" name="TextBox 5"/>
          <p:cNvSpPr txBox="1"/>
          <p:nvPr/>
        </p:nvSpPr>
        <p:spPr>
          <a:xfrm>
            <a:off x="548640" y="1060704"/>
            <a:ext cx="3721607" cy="11887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16243C"/>
                </a:solidFill>
                <a:latin typeface="Hanken Grotesk"/>
              </a:rPr>
              <a:t>Your secure sign in</a:t>
            </a:r>
          </a:p>
        </p:txBody>
      </p:sp>
      <p:sp>
        <p:nvSpPr>
          <p:cNvPr id="7" name="TextBox 6"/>
          <p:cNvSpPr txBox="1"/>
          <p:nvPr/>
        </p:nvSpPr>
        <p:spPr>
          <a:xfrm>
            <a:off x="566928" y="1645919"/>
            <a:ext cx="3685032" cy="1188720"/>
          </a:xfrm>
          <a:prstGeom prst="rect">
            <a:avLst/>
          </a:prstGeom>
          <a:noFill/>
        </p:spPr>
        <p:txBody>
          <a:bodyPr wrap="square" anchor="t" lIns="0" rIns="0" tIns="0" bIns="0">
            <a:spAutoFit/>
          </a:bodyPr>
          <a:lstStyle/>
          <a:p>
            <a:pPr algn="l">
              <a:lnSpc>
                <a:spcPct val="118000"/>
              </a:lnSpc>
              <a:spcBef>
                <a:spcPts val="0"/>
              </a:spcBef>
              <a:spcAft>
                <a:spcPts val="400"/>
              </a:spcAft>
            </a:pPr>
            <a:r>
              <a:rPr sz="1250" b="0" i="0">
                <a:solidFill>
                  <a:srgbClr val="3B4A63"/>
                </a:solidFill>
                <a:latin typeface="Hanken Grotesk"/>
              </a:rPr>
              <a:t>Orbit is your mission control. You sign in with your agency email and a private password.</a:t>
            </a:r>
          </a:p>
        </p:txBody>
      </p:sp>
      <p:sp>
        <p:nvSpPr>
          <p:cNvPr id="8" name="TextBox 7"/>
          <p:cNvSpPr txBox="1"/>
          <p:nvPr/>
        </p:nvSpPr>
        <p:spPr>
          <a:xfrm>
            <a:off x="566928" y="2295144"/>
            <a:ext cx="370332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1" i="0" spc="120">
                <a:solidFill>
                  <a:srgbClr val="6B7790"/>
                </a:solidFill>
                <a:latin typeface="Hanken Grotesk"/>
              </a:rPr>
              <a:t>WHAT YOU CAN DO HERE</a:t>
            </a:r>
          </a:p>
        </p:txBody>
      </p:sp>
      <p:sp>
        <p:nvSpPr>
          <p:cNvPr id="9" name="Oval 8"/>
          <p:cNvSpPr/>
          <p:nvPr/>
        </p:nvSpPr>
        <p:spPr>
          <a:xfrm>
            <a:off x="603504" y="2688335"/>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624327"/>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Sign in with your Ogilvy email and password</a:t>
            </a:r>
          </a:p>
        </p:txBody>
      </p:sp>
      <p:sp>
        <p:nvSpPr>
          <p:cNvPr id="11" name="Oval 10"/>
          <p:cNvSpPr/>
          <p:nvPr/>
        </p:nvSpPr>
        <p:spPr>
          <a:xfrm>
            <a:off x="603504" y="3017519"/>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953511"/>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Reset a forgotten password from the same screen</a:t>
            </a:r>
          </a:p>
        </p:txBody>
      </p:sp>
      <p:sp>
        <p:nvSpPr>
          <p:cNvPr id="13" name="Oval 12"/>
          <p:cNvSpPr/>
          <p:nvPr/>
        </p:nvSpPr>
        <p:spPr>
          <a:xfrm>
            <a:off x="603504" y="3552443"/>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488435"/>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Set a fresh password on your very first sign in</a:t>
            </a:r>
          </a:p>
        </p:txBody>
      </p:sp>
      <p:sp>
        <p:nvSpPr>
          <p:cNvPr id="15" name="Oval 14"/>
          <p:cNvSpPr/>
          <p:nvPr/>
        </p:nvSpPr>
        <p:spPr>
          <a:xfrm>
            <a:off x="603504" y="4087368"/>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59"/>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Every session is protected and times out safely</a:t>
            </a:r>
          </a:p>
        </p:txBody>
      </p:sp>
      <p:sp>
        <p:nvSpPr>
          <p:cNvPr id="17" name="Rounded Rectangle 16"/>
          <p:cNvSpPr/>
          <p:nvPr/>
        </p:nvSpPr>
        <p:spPr>
          <a:xfrm>
            <a:off x="566928" y="5760720"/>
            <a:ext cx="3931920" cy="566928"/>
          </a:xfrm>
          <a:prstGeom prst="roundRect">
            <a:avLst/>
          </a:prstGeom>
          <a:solidFill>
            <a:srgbClr val="FBEEE7"/>
          </a:solidFill>
          <a:ln w="9525">
            <a:solidFill>
              <a:srgbClr val="F2C9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5843016"/>
            <a:ext cx="3721607" cy="457200"/>
          </a:xfrm>
          <a:prstGeom prst="rect">
            <a:avLst/>
          </a:prstGeom>
          <a:noFill/>
        </p:spPr>
        <p:txBody>
          <a:bodyPr wrap="square" anchor="ctr" lIns="0" rIns="0" tIns="0" bIns="0">
            <a:spAutoFit/>
          </a:bodyPr>
          <a:lstStyle/>
          <a:p>
            <a:pPr algn="l">
              <a:lnSpc>
                <a:spcPct val="108000"/>
              </a:lnSpc>
              <a:spcBef>
                <a:spcPts val="0"/>
              </a:spcBef>
              <a:spcAft>
                <a:spcPts val="400"/>
              </a:spcAft>
            </a:pPr>
            <a:r>
              <a:rPr sz="1050" b="1" i="0">
                <a:solidFill>
                  <a:srgbClr val="D9521C"/>
                </a:solidFill>
                <a:latin typeface="Hanken Grotesk"/>
              </a:rPr>
              <a:t>Tip   </a:t>
            </a:r>
            <a:r>
              <a:rPr sz="1050" b="0" i="0">
                <a:solidFill>
                  <a:srgbClr val="3B4A63"/>
                </a:solidFill>
                <a:latin typeface="Hanken Grotesk"/>
              </a:rPr>
              <a:t>On your first login you will be asked to choose a new password.</a:t>
            </a:r>
          </a:p>
        </p:txBody>
      </p:sp>
      <p:sp>
        <p:nvSpPr>
          <p:cNvPr id="19" name="Rounded Rectangle 18"/>
          <p:cNvSpPr/>
          <p:nvPr/>
        </p:nvSpPr>
        <p:spPr>
          <a:xfrm>
            <a:off x="4672583" y="1192149"/>
            <a:ext cx="7040880" cy="440055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17720" y="1118997"/>
            <a:ext cx="7040880" cy="440055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01-login.png"/>
          <p:cNvPicPr>
            <a:picLocks noChangeAspect="1"/>
          </p:cNvPicPr>
          <p:nvPr/>
        </p:nvPicPr>
        <p:blipFill>
          <a:blip r:embed="rId2"/>
          <a:stretch>
            <a:fillRect/>
          </a:stretch>
        </p:blipFill>
        <p:spPr>
          <a:xfrm>
            <a:off x="4617720" y="1118997"/>
            <a:ext cx="7040880" cy="4400550"/>
          </a:xfrm>
          <a:prstGeom prst="rect">
            <a:avLst/>
          </a:prstGeom>
          <a:ln w="12700">
            <a:solidFill>
              <a:srgbClr val="D6DBE3"/>
            </a:solidFill>
          </a:ln>
        </p:spPr>
      </p:pic>
      <p:sp>
        <p:nvSpPr>
          <p:cNvPr id="22" name="Rectangle 21"/>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Group Head Guide</a:t>
            </a:r>
          </a:p>
        </p:txBody>
      </p:sp>
      <p:sp>
        <p:nvSpPr>
          <p:cNvPr id="24" name="TextBox 23"/>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GETTING ORIENTED</a:t>
            </a:r>
          </a:p>
        </p:txBody>
      </p:sp>
      <p:sp>
        <p:nvSpPr>
          <p:cNvPr id="25" name="TextBox 24"/>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05 /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48840"/>
            <a:ext cx="2743200" cy="1280160"/>
          </a:xfrm>
          <a:prstGeom prst="rect">
            <a:avLst/>
          </a:prstGeom>
          <a:noFill/>
        </p:spPr>
        <p:txBody>
          <a:bodyPr wrap="square" anchor="t" lIns="0" rIns="0" tIns="0" bIns="0">
            <a:spAutoFit/>
          </a:bodyPr>
          <a:lstStyle/>
          <a:p>
            <a:pPr algn="l">
              <a:lnSpc>
                <a:spcPct val="100000"/>
              </a:lnSpc>
              <a:spcBef>
                <a:spcPts val="0"/>
              </a:spcBef>
              <a:spcAft>
                <a:spcPts val="400"/>
              </a:spcAft>
            </a:pPr>
            <a:r>
              <a:rPr sz="9200" b="1" i="1">
                <a:solidFill>
                  <a:srgbClr val="243452"/>
                </a:solidFill>
                <a:latin typeface="Newsreader"/>
              </a:rPr>
              <a:t>02</a:t>
            </a:r>
          </a:p>
        </p:txBody>
      </p:sp>
      <p:sp>
        <p:nvSpPr>
          <p:cNvPr id="5" name="TextBox 4"/>
          <p:cNvSpPr txBox="1"/>
          <p:nvPr/>
        </p:nvSpPr>
        <p:spPr>
          <a:xfrm>
            <a:off x="2514600" y="2240280"/>
            <a:ext cx="8686800" cy="457200"/>
          </a:xfrm>
          <a:prstGeom prst="rect">
            <a:avLst/>
          </a:prstGeom>
          <a:noFill/>
        </p:spPr>
        <p:txBody>
          <a:bodyPr wrap="square" anchor="t" lIns="0" rIns="0" tIns="0" bIns="0">
            <a:spAutoFit/>
          </a:bodyPr>
          <a:lstStyle/>
          <a:p>
            <a:pPr algn="l">
              <a:lnSpc>
                <a:spcPct val="100000"/>
              </a:lnSpc>
              <a:spcBef>
                <a:spcPts val="0"/>
              </a:spcBef>
              <a:spcAft>
                <a:spcPts val="400"/>
              </a:spcAft>
            </a:pPr>
            <a:r>
              <a:rPr sz="1300" b="1" i="0" spc="240">
                <a:solidFill>
                  <a:srgbClr val="F0703F"/>
                </a:solidFill>
                <a:latin typeface="Hanken Grotesk"/>
              </a:rPr>
              <a:t>YOUR DAILY WORKSPACE</a:t>
            </a:r>
          </a:p>
        </p:txBody>
      </p:sp>
      <p:sp>
        <p:nvSpPr>
          <p:cNvPr id="6" name="TextBox 5"/>
          <p:cNvSpPr txBox="1"/>
          <p:nvPr/>
        </p:nvSpPr>
        <p:spPr>
          <a:xfrm>
            <a:off x="2487168" y="2651760"/>
            <a:ext cx="8869680" cy="1280160"/>
          </a:xfrm>
          <a:prstGeom prst="rect">
            <a:avLst/>
          </a:prstGeom>
          <a:noFill/>
        </p:spPr>
        <p:txBody>
          <a:bodyPr wrap="square" anchor="t" lIns="0" rIns="0" tIns="0" bIns="0">
            <a:spAutoFit/>
          </a:bodyPr>
          <a:lstStyle/>
          <a:p>
            <a:pPr algn="l">
              <a:lnSpc>
                <a:spcPct val="102000"/>
              </a:lnSpc>
              <a:spcBef>
                <a:spcPts val="0"/>
              </a:spcBef>
              <a:spcAft>
                <a:spcPts val="400"/>
              </a:spcAft>
            </a:pPr>
            <a:r>
              <a:rPr sz="4000" b="1" i="0">
                <a:solidFill>
                  <a:srgbClr val="FFFFFF"/>
                </a:solidFill>
                <a:latin typeface="Hanken Grotesk"/>
              </a:rPr>
              <a:t>The screens you
will use most</a:t>
            </a:r>
          </a:p>
        </p:txBody>
      </p:sp>
      <p:sp>
        <p:nvSpPr>
          <p:cNvPr id="7" name="TextBox 6"/>
          <p:cNvSpPr txBox="1"/>
          <p:nvPr/>
        </p:nvSpPr>
        <p:spPr>
          <a:xfrm>
            <a:off x="2514600" y="3977639"/>
            <a:ext cx="7955279" cy="914400"/>
          </a:xfrm>
          <a:prstGeom prst="rect">
            <a:avLst/>
          </a:prstGeom>
          <a:noFill/>
        </p:spPr>
        <p:txBody>
          <a:bodyPr wrap="square" anchor="t" lIns="0" rIns="0" tIns="0" bIns="0">
            <a:spAutoFit/>
          </a:bodyPr>
          <a:lstStyle/>
          <a:p>
            <a:pPr algn="l">
              <a:lnSpc>
                <a:spcPct val="120000"/>
              </a:lnSpc>
              <a:spcBef>
                <a:spcPts val="0"/>
              </a:spcBef>
              <a:spcAft>
                <a:spcPts val="400"/>
              </a:spcAft>
            </a:pPr>
            <a:r>
              <a:rPr sz="1450" b="0" i="0">
                <a:solidFill>
                  <a:srgbClr val="9FB0CE"/>
                </a:solidFill>
                <a:latin typeface="Hanken Grotesk"/>
              </a:rPr>
              <a:t>Where your records live, and how the numbers turn into insight.</a:t>
            </a:r>
          </a:p>
        </p:txBody>
      </p:sp>
      <p:sp>
        <p:nvSpPr>
          <p:cNvPr id="8" name="Oval 7"/>
          <p:cNvSpPr/>
          <p:nvPr/>
        </p:nvSpPr>
        <p:spPr>
          <a:xfrm>
            <a:off x="10981944" y="466344"/>
            <a:ext cx="621792" cy="621792"/>
          </a:xfrm>
          <a:prstGeom prst="ellipse">
            <a:avLst/>
          </a:prstGeom>
          <a:noFill/>
          <a:ln w="12700">
            <a:solidFill>
              <a:srgbClr val="3A4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100084" y="584484"/>
            <a:ext cx="385511" cy="385511"/>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00084" y="566196"/>
            <a:ext cx="385511" cy="385511"/>
          </a:xfrm>
          <a:prstGeom prst="rect">
            <a:avLst/>
          </a:prstGeom>
          <a:noFill/>
        </p:spPr>
        <p:txBody>
          <a:bodyPr wrap="square" anchor="ctr" lIns="0" rIns="0" tIns="0" bIns="0">
            <a:spAutoFit/>
          </a:bodyPr>
          <a:lstStyle/>
          <a:p>
            <a:pPr algn="ctr">
              <a:lnSpc>
                <a:spcPct val="100000"/>
              </a:lnSpc>
              <a:spcBef>
                <a:spcPts val="0"/>
              </a:spcBef>
              <a:spcAft>
                <a:spcPts val="400"/>
              </a:spcAft>
            </a:pPr>
            <a:r>
              <a:rPr sz="800" b="1" i="0">
                <a:solidFill>
                  <a:srgbClr val="FFFFFF"/>
                </a:solidFill>
                <a:latin typeface="Hanken Grotesk"/>
              </a:rPr>
              <a:t>O</a:t>
            </a:r>
          </a:p>
        </p:txBody>
      </p:sp>
      <p:sp>
        <p:nvSpPr>
          <p:cNvPr id="11" name="Oval 10"/>
          <p:cNvSpPr/>
          <p:nvPr/>
        </p:nvSpPr>
        <p:spPr>
          <a:xfrm>
            <a:off x="11485595" y="484997"/>
            <a:ext cx="99486" cy="99486"/>
          </a:xfrm>
          <a:prstGeom prst="ellipse">
            <a:avLst/>
          </a:prstGeom>
          <a:solidFill>
            <a:srgbClr val="F07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308384" y="1013520"/>
            <a:ext cx="62179" cy="62179"/>
          </a:xfrm>
          <a:prstGeom prst="ellipse">
            <a:avLst/>
          </a:prstGeom>
          <a:solidFill>
            <a:srgbClr val="6E8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603504"/>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49808"/>
            <a:ext cx="370332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DATABASE</a:t>
            </a:r>
          </a:p>
        </p:txBody>
      </p:sp>
      <p:sp>
        <p:nvSpPr>
          <p:cNvPr id="6" name="TextBox 5"/>
          <p:cNvSpPr txBox="1"/>
          <p:nvPr/>
        </p:nvSpPr>
        <p:spPr>
          <a:xfrm>
            <a:off x="548640" y="1060704"/>
            <a:ext cx="3721607" cy="11887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16243C"/>
                </a:solidFill>
                <a:latin typeface="Hanken Grotesk"/>
              </a:rPr>
              <a:t>The schedule database</a:t>
            </a:r>
          </a:p>
        </p:txBody>
      </p:sp>
      <p:sp>
        <p:nvSpPr>
          <p:cNvPr id="7" name="TextBox 6"/>
          <p:cNvSpPr txBox="1"/>
          <p:nvPr/>
        </p:nvSpPr>
        <p:spPr>
          <a:xfrm>
            <a:off x="566928" y="1645919"/>
            <a:ext cx="3685032" cy="1188720"/>
          </a:xfrm>
          <a:prstGeom prst="rect">
            <a:avLst/>
          </a:prstGeom>
          <a:noFill/>
        </p:spPr>
        <p:txBody>
          <a:bodyPr wrap="square" anchor="t" lIns="0" rIns="0" tIns="0" bIns="0">
            <a:spAutoFit/>
          </a:bodyPr>
          <a:lstStyle/>
          <a:p>
            <a:pPr algn="l">
              <a:lnSpc>
                <a:spcPct val="118000"/>
              </a:lnSpc>
              <a:spcBef>
                <a:spcPts val="0"/>
              </a:spcBef>
              <a:spcAft>
                <a:spcPts val="400"/>
              </a:spcAft>
            </a:pPr>
            <a:r>
              <a:rPr sz="1250" b="0" i="0">
                <a:solidFill>
                  <a:srgbClr val="3B4A63"/>
                </a:solidFill>
                <a:latin typeface="Hanken Grotesk"/>
              </a:rPr>
              <a:t>Your home screen. Every uploaded schedule sheet lands here, organised by month and client.</a:t>
            </a:r>
          </a:p>
        </p:txBody>
      </p:sp>
      <p:sp>
        <p:nvSpPr>
          <p:cNvPr id="8" name="TextBox 7"/>
          <p:cNvSpPr txBox="1"/>
          <p:nvPr/>
        </p:nvSpPr>
        <p:spPr>
          <a:xfrm>
            <a:off x="566928" y="2295144"/>
            <a:ext cx="370332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1" i="0" spc="120">
                <a:solidFill>
                  <a:srgbClr val="6B7790"/>
                </a:solidFill>
                <a:latin typeface="Hanken Grotesk"/>
              </a:rPr>
              <a:t>WHAT YOU CAN DO HERE</a:t>
            </a:r>
          </a:p>
        </p:txBody>
      </p:sp>
      <p:sp>
        <p:nvSpPr>
          <p:cNvPr id="9" name="Oval 8"/>
          <p:cNvSpPr/>
          <p:nvPr/>
        </p:nvSpPr>
        <p:spPr>
          <a:xfrm>
            <a:off x="603504" y="2688335"/>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624327"/>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See every recently uploaded sheet at a glance</a:t>
            </a:r>
          </a:p>
        </p:txBody>
      </p:sp>
      <p:sp>
        <p:nvSpPr>
          <p:cNvPr id="11" name="Oval 10"/>
          <p:cNvSpPr/>
          <p:nvPr/>
        </p:nvSpPr>
        <p:spPr>
          <a:xfrm>
            <a:off x="603504" y="3223259"/>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159251"/>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Pick an agency and client to view their records</a:t>
            </a:r>
          </a:p>
        </p:txBody>
      </p:sp>
      <p:sp>
        <p:nvSpPr>
          <p:cNvPr id="13" name="Oval 12"/>
          <p:cNvSpPr/>
          <p:nvPr/>
        </p:nvSpPr>
        <p:spPr>
          <a:xfrm>
            <a:off x="603504" y="3758183"/>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94175"/>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Paste columns or upload an Excel sheet directly</a:t>
            </a:r>
          </a:p>
        </p:txBody>
      </p:sp>
      <p:sp>
        <p:nvSpPr>
          <p:cNvPr id="15" name="Oval 14"/>
          <p:cNvSpPr/>
          <p:nvPr/>
        </p:nvSpPr>
        <p:spPr>
          <a:xfrm>
            <a:off x="603504" y="4293107"/>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229099"/>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Track how many rows each month contributed</a:t>
            </a:r>
          </a:p>
        </p:txBody>
      </p:sp>
      <p:sp>
        <p:nvSpPr>
          <p:cNvPr id="17" name="Rounded Rectangle 16"/>
          <p:cNvSpPr/>
          <p:nvPr/>
        </p:nvSpPr>
        <p:spPr>
          <a:xfrm>
            <a:off x="566928" y="5760720"/>
            <a:ext cx="3931920" cy="566928"/>
          </a:xfrm>
          <a:prstGeom prst="roundRect">
            <a:avLst/>
          </a:prstGeom>
          <a:solidFill>
            <a:srgbClr val="FBEEE7"/>
          </a:solidFill>
          <a:ln w="9525">
            <a:solidFill>
              <a:srgbClr val="F2C9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5843016"/>
            <a:ext cx="3721607" cy="457200"/>
          </a:xfrm>
          <a:prstGeom prst="rect">
            <a:avLst/>
          </a:prstGeom>
          <a:noFill/>
        </p:spPr>
        <p:txBody>
          <a:bodyPr wrap="square" anchor="ctr" lIns="0" rIns="0" tIns="0" bIns="0">
            <a:spAutoFit/>
          </a:bodyPr>
          <a:lstStyle/>
          <a:p>
            <a:pPr algn="l">
              <a:lnSpc>
                <a:spcPct val="108000"/>
              </a:lnSpc>
              <a:spcBef>
                <a:spcPts val="0"/>
              </a:spcBef>
              <a:spcAft>
                <a:spcPts val="400"/>
              </a:spcAft>
            </a:pPr>
            <a:r>
              <a:rPr sz="1050" b="1" i="0">
                <a:solidFill>
                  <a:srgbClr val="D9521C"/>
                </a:solidFill>
                <a:latin typeface="Hanken Grotesk"/>
              </a:rPr>
              <a:t>Tip   </a:t>
            </a:r>
            <a:r>
              <a:rPr sz="1050" b="0" i="0">
                <a:solidFill>
                  <a:srgbClr val="3B4A63"/>
                </a:solidFill>
                <a:latin typeface="Hanken Grotesk"/>
              </a:rPr>
              <a:t>Rows you add flow straight into every chart across Orbit.</a:t>
            </a:r>
          </a:p>
        </p:txBody>
      </p:sp>
      <p:sp>
        <p:nvSpPr>
          <p:cNvPr id="19" name="Rounded Rectangle 18"/>
          <p:cNvSpPr/>
          <p:nvPr/>
        </p:nvSpPr>
        <p:spPr>
          <a:xfrm>
            <a:off x="4672583" y="1192149"/>
            <a:ext cx="7040880" cy="440055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17720" y="1118997"/>
            <a:ext cx="7040880" cy="440055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05-database.png"/>
          <p:cNvPicPr>
            <a:picLocks noChangeAspect="1"/>
          </p:cNvPicPr>
          <p:nvPr/>
        </p:nvPicPr>
        <p:blipFill>
          <a:blip r:embed="rId2"/>
          <a:stretch>
            <a:fillRect/>
          </a:stretch>
        </p:blipFill>
        <p:spPr>
          <a:xfrm>
            <a:off x="4617720" y="1118997"/>
            <a:ext cx="7040880" cy="4400550"/>
          </a:xfrm>
          <a:prstGeom prst="rect">
            <a:avLst/>
          </a:prstGeom>
          <a:ln w="12700">
            <a:solidFill>
              <a:srgbClr val="D6DBE3"/>
            </a:solidFill>
          </a:ln>
        </p:spPr>
      </p:pic>
      <p:sp>
        <p:nvSpPr>
          <p:cNvPr id="22" name="Rectangle 21"/>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Group Head Guide</a:t>
            </a:r>
          </a:p>
        </p:txBody>
      </p:sp>
      <p:sp>
        <p:nvSpPr>
          <p:cNvPr id="24" name="TextBox 23"/>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DAILY WORKSPACE</a:t>
            </a:r>
          </a:p>
        </p:txBody>
      </p:sp>
      <p:sp>
        <p:nvSpPr>
          <p:cNvPr id="25" name="TextBox 24"/>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07 /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603504"/>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49808"/>
            <a:ext cx="370332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SPEND ANALYTICS</a:t>
            </a:r>
          </a:p>
        </p:txBody>
      </p:sp>
      <p:sp>
        <p:nvSpPr>
          <p:cNvPr id="6" name="TextBox 5"/>
          <p:cNvSpPr txBox="1"/>
          <p:nvPr/>
        </p:nvSpPr>
        <p:spPr>
          <a:xfrm>
            <a:off x="548640" y="1060704"/>
            <a:ext cx="3721607" cy="11887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16243C"/>
                </a:solidFill>
                <a:latin typeface="Hanken Grotesk"/>
              </a:rPr>
              <a:t>Spend analytics</a:t>
            </a:r>
          </a:p>
        </p:txBody>
      </p:sp>
      <p:sp>
        <p:nvSpPr>
          <p:cNvPr id="7" name="TextBox 6"/>
          <p:cNvSpPr txBox="1"/>
          <p:nvPr/>
        </p:nvSpPr>
        <p:spPr>
          <a:xfrm>
            <a:off x="566928" y="1645919"/>
            <a:ext cx="3685032" cy="1188720"/>
          </a:xfrm>
          <a:prstGeom prst="rect">
            <a:avLst/>
          </a:prstGeom>
          <a:noFill/>
        </p:spPr>
        <p:txBody>
          <a:bodyPr wrap="square" anchor="t" lIns="0" rIns="0" tIns="0" bIns="0">
            <a:spAutoFit/>
          </a:bodyPr>
          <a:lstStyle/>
          <a:p>
            <a:pPr algn="l">
              <a:lnSpc>
                <a:spcPct val="118000"/>
              </a:lnSpc>
              <a:spcBef>
                <a:spcPts val="0"/>
              </a:spcBef>
              <a:spcAft>
                <a:spcPts val="400"/>
              </a:spcAft>
            </a:pPr>
            <a:r>
              <a:rPr sz="1250" b="0" i="0">
                <a:solidFill>
                  <a:srgbClr val="3B4A63"/>
                </a:solidFill>
                <a:latin typeface="Hanken Grotesk"/>
              </a:rPr>
              <a:t>A live picture of your committed media value across months, media, channels and clients.</a:t>
            </a:r>
          </a:p>
        </p:txBody>
      </p:sp>
      <p:sp>
        <p:nvSpPr>
          <p:cNvPr id="8" name="TextBox 7"/>
          <p:cNvSpPr txBox="1"/>
          <p:nvPr/>
        </p:nvSpPr>
        <p:spPr>
          <a:xfrm>
            <a:off x="566928" y="2295144"/>
            <a:ext cx="370332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1" i="0" spc="120">
                <a:solidFill>
                  <a:srgbClr val="6B7790"/>
                </a:solidFill>
                <a:latin typeface="Hanken Grotesk"/>
              </a:rPr>
              <a:t>WHAT YOU CAN DO HERE</a:t>
            </a:r>
          </a:p>
        </p:txBody>
      </p:sp>
      <p:sp>
        <p:nvSpPr>
          <p:cNvPr id="9" name="Oval 8"/>
          <p:cNvSpPr/>
          <p:nvPr/>
        </p:nvSpPr>
        <p:spPr>
          <a:xfrm>
            <a:off x="603504" y="2688335"/>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624327"/>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Read total committed value and monthly average</a:t>
            </a:r>
          </a:p>
        </p:txBody>
      </p:sp>
      <p:sp>
        <p:nvSpPr>
          <p:cNvPr id="11" name="Oval 10"/>
          <p:cNvSpPr/>
          <p:nvPr/>
        </p:nvSpPr>
        <p:spPr>
          <a:xfrm>
            <a:off x="603504" y="3223259"/>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159251"/>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Compare spend year over year on one trend chart</a:t>
            </a:r>
          </a:p>
        </p:txBody>
      </p:sp>
      <p:sp>
        <p:nvSpPr>
          <p:cNvPr id="13" name="Oval 12"/>
          <p:cNvSpPr/>
          <p:nvPr/>
        </p:nvSpPr>
        <p:spPr>
          <a:xfrm>
            <a:off x="603504" y="3758183"/>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94175"/>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Break spend down by medium, channel and client</a:t>
            </a:r>
          </a:p>
        </p:txBody>
      </p:sp>
      <p:sp>
        <p:nvSpPr>
          <p:cNvPr id="15" name="Oval 14"/>
          <p:cNvSpPr/>
          <p:nvPr/>
        </p:nvSpPr>
        <p:spPr>
          <a:xfrm>
            <a:off x="603504" y="4293107"/>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229099"/>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Export the full view to Excel or PDF</a:t>
            </a:r>
          </a:p>
        </p:txBody>
      </p:sp>
      <p:sp>
        <p:nvSpPr>
          <p:cNvPr id="17" name="Rounded Rectangle 16"/>
          <p:cNvSpPr/>
          <p:nvPr/>
        </p:nvSpPr>
        <p:spPr>
          <a:xfrm>
            <a:off x="566928" y="5760720"/>
            <a:ext cx="3931920" cy="566928"/>
          </a:xfrm>
          <a:prstGeom prst="roundRect">
            <a:avLst/>
          </a:prstGeom>
          <a:solidFill>
            <a:srgbClr val="FBEEE7"/>
          </a:solidFill>
          <a:ln w="9525">
            <a:solidFill>
              <a:srgbClr val="F2C9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5843016"/>
            <a:ext cx="3721607" cy="457200"/>
          </a:xfrm>
          <a:prstGeom prst="rect">
            <a:avLst/>
          </a:prstGeom>
          <a:noFill/>
        </p:spPr>
        <p:txBody>
          <a:bodyPr wrap="square" anchor="ctr" lIns="0" rIns="0" tIns="0" bIns="0">
            <a:spAutoFit/>
          </a:bodyPr>
          <a:lstStyle/>
          <a:p>
            <a:pPr algn="l">
              <a:lnSpc>
                <a:spcPct val="108000"/>
              </a:lnSpc>
              <a:spcBef>
                <a:spcPts val="0"/>
              </a:spcBef>
              <a:spcAft>
                <a:spcPts val="400"/>
              </a:spcAft>
            </a:pPr>
            <a:r>
              <a:rPr sz="1050" b="1" i="0">
                <a:solidFill>
                  <a:srgbClr val="D9521C"/>
                </a:solidFill>
                <a:latin typeface="Hanken Grotesk"/>
              </a:rPr>
              <a:t>Tip   </a:t>
            </a:r>
            <a:r>
              <a:rPr sz="1050" b="0" i="0">
                <a:solidFill>
                  <a:srgbClr val="3B4A63"/>
                </a:solidFill>
                <a:latin typeface="Hanken Grotesk"/>
              </a:rPr>
              <a:t>You only see your own clients, so the totals are yours to act on.</a:t>
            </a:r>
          </a:p>
        </p:txBody>
      </p:sp>
      <p:sp>
        <p:nvSpPr>
          <p:cNvPr id="19" name="Rounded Rectangle 18"/>
          <p:cNvSpPr/>
          <p:nvPr/>
        </p:nvSpPr>
        <p:spPr>
          <a:xfrm>
            <a:off x="4672583" y="1192149"/>
            <a:ext cx="7040880" cy="440055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17720" y="1118997"/>
            <a:ext cx="7040880" cy="440055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06-spend-analytics.png"/>
          <p:cNvPicPr>
            <a:picLocks noChangeAspect="1"/>
          </p:cNvPicPr>
          <p:nvPr/>
        </p:nvPicPr>
        <p:blipFill>
          <a:blip r:embed="rId2"/>
          <a:stretch>
            <a:fillRect/>
          </a:stretch>
        </p:blipFill>
        <p:spPr>
          <a:xfrm>
            <a:off x="4617720" y="1118997"/>
            <a:ext cx="7040880" cy="4400550"/>
          </a:xfrm>
          <a:prstGeom prst="rect">
            <a:avLst/>
          </a:prstGeom>
          <a:ln w="12700">
            <a:solidFill>
              <a:srgbClr val="D6DBE3"/>
            </a:solidFill>
          </a:ln>
        </p:spPr>
      </p:pic>
      <p:sp>
        <p:nvSpPr>
          <p:cNvPr id="22" name="Rectangle 21"/>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Group Head Guide</a:t>
            </a:r>
          </a:p>
        </p:txBody>
      </p:sp>
      <p:sp>
        <p:nvSpPr>
          <p:cNvPr id="24" name="TextBox 23"/>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DAILY WORKSPACE</a:t>
            </a:r>
          </a:p>
        </p:txBody>
      </p:sp>
      <p:sp>
        <p:nvSpPr>
          <p:cNvPr id="25" name="TextBox 24"/>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08 /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603504"/>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49808"/>
            <a:ext cx="370332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AGENCIES</a:t>
            </a:r>
          </a:p>
        </p:txBody>
      </p:sp>
      <p:sp>
        <p:nvSpPr>
          <p:cNvPr id="6" name="TextBox 5"/>
          <p:cNvSpPr txBox="1"/>
          <p:nvPr/>
        </p:nvSpPr>
        <p:spPr>
          <a:xfrm>
            <a:off x="548640" y="1060704"/>
            <a:ext cx="3721607" cy="11887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16243C"/>
                </a:solidFill>
                <a:latin typeface="Hanken Grotesk"/>
              </a:rPr>
              <a:t>Agencies overview</a:t>
            </a:r>
          </a:p>
        </p:txBody>
      </p:sp>
      <p:sp>
        <p:nvSpPr>
          <p:cNvPr id="7" name="TextBox 6"/>
          <p:cNvSpPr txBox="1"/>
          <p:nvPr/>
        </p:nvSpPr>
        <p:spPr>
          <a:xfrm>
            <a:off x="566928" y="1645919"/>
            <a:ext cx="3685032" cy="1188720"/>
          </a:xfrm>
          <a:prstGeom prst="rect">
            <a:avLst/>
          </a:prstGeom>
          <a:noFill/>
        </p:spPr>
        <p:txBody>
          <a:bodyPr wrap="square" anchor="t" lIns="0" rIns="0" tIns="0" bIns="0">
            <a:spAutoFit/>
          </a:bodyPr>
          <a:lstStyle/>
          <a:p>
            <a:pPr algn="l">
              <a:lnSpc>
                <a:spcPct val="118000"/>
              </a:lnSpc>
              <a:spcBef>
                <a:spcPts val="0"/>
              </a:spcBef>
              <a:spcAft>
                <a:spcPts val="400"/>
              </a:spcAft>
            </a:pPr>
            <a:r>
              <a:rPr sz="1250" b="0" i="0">
                <a:solidFill>
                  <a:srgbClr val="3B4A63"/>
                </a:solidFill>
                <a:latin typeface="Hanken Grotesk"/>
              </a:rPr>
              <a:t>A quick way into your book of business, starting from the agency your clients sit under.</a:t>
            </a:r>
          </a:p>
        </p:txBody>
      </p:sp>
      <p:sp>
        <p:nvSpPr>
          <p:cNvPr id="8" name="TextBox 7"/>
          <p:cNvSpPr txBox="1"/>
          <p:nvPr/>
        </p:nvSpPr>
        <p:spPr>
          <a:xfrm>
            <a:off x="566928" y="2295144"/>
            <a:ext cx="370332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1" i="0" spc="120">
                <a:solidFill>
                  <a:srgbClr val="6B7790"/>
                </a:solidFill>
                <a:latin typeface="Hanken Grotesk"/>
              </a:rPr>
              <a:t>WHAT YOU CAN DO HERE</a:t>
            </a:r>
          </a:p>
        </p:txBody>
      </p:sp>
      <p:sp>
        <p:nvSpPr>
          <p:cNvPr id="9" name="Oval 8"/>
          <p:cNvSpPr/>
          <p:nvPr/>
        </p:nvSpPr>
        <p:spPr>
          <a:xfrm>
            <a:off x="603504" y="2688335"/>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624327"/>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Open an agency to see its client roster</a:t>
            </a:r>
          </a:p>
        </p:txBody>
      </p:sp>
      <p:sp>
        <p:nvSpPr>
          <p:cNvPr id="11" name="Oval 10"/>
          <p:cNvSpPr/>
          <p:nvPr/>
        </p:nvSpPr>
        <p:spPr>
          <a:xfrm>
            <a:off x="603504" y="3017519"/>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953511"/>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Read committed spend and channel counts</a:t>
            </a:r>
          </a:p>
        </p:txBody>
      </p:sp>
      <p:sp>
        <p:nvSpPr>
          <p:cNvPr id="13" name="Oval 12"/>
          <p:cNvSpPr/>
          <p:nvPr/>
        </p:nvSpPr>
        <p:spPr>
          <a:xfrm>
            <a:off x="603504" y="3346703"/>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282695"/>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Move from agency to client in one click</a:t>
            </a:r>
          </a:p>
        </p:txBody>
      </p:sp>
      <p:sp>
        <p:nvSpPr>
          <p:cNvPr id="15" name="Rounded Rectangle 14"/>
          <p:cNvSpPr/>
          <p:nvPr/>
        </p:nvSpPr>
        <p:spPr>
          <a:xfrm>
            <a:off x="4672583" y="1192149"/>
            <a:ext cx="7040880" cy="440055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17720" y="1118997"/>
            <a:ext cx="7040880" cy="440055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07-agencies.png"/>
          <p:cNvPicPr>
            <a:picLocks noChangeAspect="1"/>
          </p:cNvPicPr>
          <p:nvPr/>
        </p:nvPicPr>
        <p:blipFill>
          <a:blip r:embed="rId2"/>
          <a:stretch>
            <a:fillRect/>
          </a:stretch>
        </p:blipFill>
        <p:spPr>
          <a:xfrm>
            <a:off x="4617720" y="1118997"/>
            <a:ext cx="7040880" cy="4400550"/>
          </a:xfrm>
          <a:prstGeom prst="rect">
            <a:avLst/>
          </a:prstGeom>
          <a:ln w="12700">
            <a:solidFill>
              <a:srgbClr val="D6DBE3"/>
            </a:solidFill>
          </a:ln>
        </p:spPr>
      </p:pic>
      <p:sp>
        <p:nvSpPr>
          <p:cNvPr id="18" name="Rectangle 17"/>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Group Head Guide</a:t>
            </a:r>
          </a:p>
        </p:txBody>
      </p:sp>
      <p:sp>
        <p:nvSpPr>
          <p:cNvPr id="20" name="TextBox 19"/>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DAILY WORKSPACE</a:t>
            </a:r>
          </a:p>
        </p:txBody>
      </p:sp>
      <p:sp>
        <p:nvSpPr>
          <p:cNvPr id="21" name="TextBox 20"/>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10 /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603504"/>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49808"/>
            <a:ext cx="370332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CLIENTS</a:t>
            </a:r>
          </a:p>
        </p:txBody>
      </p:sp>
      <p:sp>
        <p:nvSpPr>
          <p:cNvPr id="6" name="TextBox 5"/>
          <p:cNvSpPr txBox="1"/>
          <p:nvPr/>
        </p:nvSpPr>
        <p:spPr>
          <a:xfrm>
            <a:off x="548640" y="1060704"/>
            <a:ext cx="3721607" cy="11887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16243C"/>
                </a:solidFill>
                <a:latin typeface="Hanken Grotesk"/>
              </a:rPr>
              <a:t>Your client list</a:t>
            </a:r>
          </a:p>
        </p:txBody>
      </p:sp>
      <p:sp>
        <p:nvSpPr>
          <p:cNvPr id="7" name="TextBox 6"/>
          <p:cNvSpPr txBox="1"/>
          <p:nvPr/>
        </p:nvSpPr>
        <p:spPr>
          <a:xfrm>
            <a:off x="566928" y="1645919"/>
            <a:ext cx="3685032" cy="1188720"/>
          </a:xfrm>
          <a:prstGeom prst="rect">
            <a:avLst/>
          </a:prstGeom>
          <a:noFill/>
        </p:spPr>
        <p:txBody>
          <a:bodyPr wrap="square" anchor="t" lIns="0" rIns="0" tIns="0" bIns="0">
            <a:spAutoFit/>
          </a:bodyPr>
          <a:lstStyle/>
          <a:p>
            <a:pPr algn="l">
              <a:lnSpc>
                <a:spcPct val="118000"/>
              </a:lnSpc>
              <a:spcBef>
                <a:spcPts val="0"/>
              </a:spcBef>
              <a:spcAft>
                <a:spcPts val="400"/>
              </a:spcAft>
            </a:pPr>
            <a:r>
              <a:rPr sz="1250" b="0" i="0">
                <a:solidFill>
                  <a:srgbClr val="3B4A63"/>
                </a:solidFill>
                <a:latin typeface="Hanken Grotesk"/>
              </a:rPr>
              <a:t>Every client your team manages, in one searchable place.</a:t>
            </a:r>
          </a:p>
        </p:txBody>
      </p:sp>
      <p:sp>
        <p:nvSpPr>
          <p:cNvPr id="8" name="TextBox 7"/>
          <p:cNvSpPr txBox="1"/>
          <p:nvPr/>
        </p:nvSpPr>
        <p:spPr>
          <a:xfrm>
            <a:off x="566928" y="2295144"/>
            <a:ext cx="370332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1" i="0" spc="120">
                <a:solidFill>
                  <a:srgbClr val="6B7790"/>
                </a:solidFill>
                <a:latin typeface="Hanken Grotesk"/>
              </a:rPr>
              <a:t>WHAT YOU CAN DO HERE</a:t>
            </a:r>
          </a:p>
        </p:txBody>
      </p:sp>
      <p:sp>
        <p:nvSpPr>
          <p:cNvPr id="9" name="Oval 8"/>
          <p:cNvSpPr/>
          <p:nvPr/>
        </p:nvSpPr>
        <p:spPr>
          <a:xfrm>
            <a:off x="603504" y="2688335"/>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624327"/>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Browse all of the clients assigned to you</a:t>
            </a:r>
          </a:p>
        </p:txBody>
      </p:sp>
      <p:sp>
        <p:nvSpPr>
          <p:cNvPr id="11" name="Oval 10"/>
          <p:cNvSpPr/>
          <p:nvPr/>
        </p:nvSpPr>
        <p:spPr>
          <a:xfrm>
            <a:off x="603504" y="3017519"/>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953511"/>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Search by name to jump to an account fast</a:t>
            </a:r>
          </a:p>
        </p:txBody>
      </p:sp>
      <p:sp>
        <p:nvSpPr>
          <p:cNvPr id="13" name="Oval 12"/>
          <p:cNvSpPr/>
          <p:nvPr/>
        </p:nvSpPr>
        <p:spPr>
          <a:xfrm>
            <a:off x="603504" y="3346703"/>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282695"/>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Open a client to see its channels and records</a:t>
            </a:r>
          </a:p>
        </p:txBody>
      </p:sp>
      <p:sp>
        <p:nvSpPr>
          <p:cNvPr id="15" name="Rounded Rectangle 14"/>
          <p:cNvSpPr/>
          <p:nvPr/>
        </p:nvSpPr>
        <p:spPr>
          <a:xfrm>
            <a:off x="4672583" y="1192149"/>
            <a:ext cx="7040880" cy="440055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17720" y="1118997"/>
            <a:ext cx="7040880" cy="440055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08-clients.png"/>
          <p:cNvPicPr>
            <a:picLocks noChangeAspect="1"/>
          </p:cNvPicPr>
          <p:nvPr/>
        </p:nvPicPr>
        <p:blipFill>
          <a:blip r:embed="rId2"/>
          <a:stretch>
            <a:fillRect/>
          </a:stretch>
        </p:blipFill>
        <p:spPr>
          <a:xfrm>
            <a:off x="4617720" y="1118997"/>
            <a:ext cx="7040880" cy="4400550"/>
          </a:xfrm>
          <a:prstGeom prst="rect">
            <a:avLst/>
          </a:prstGeom>
          <a:ln w="12700">
            <a:solidFill>
              <a:srgbClr val="D6DBE3"/>
            </a:solidFill>
          </a:ln>
        </p:spPr>
      </p:pic>
      <p:sp>
        <p:nvSpPr>
          <p:cNvPr id="18" name="Rectangle 17"/>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Group Head Guide</a:t>
            </a:r>
          </a:p>
        </p:txBody>
      </p:sp>
      <p:sp>
        <p:nvSpPr>
          <p:cNvPr id="20" name="TextBox 19"/>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DAILY WORKSPACE</a:t>
            </a:r>
          </a:p>
        </p:txBody>
      </p:sp>
      <p:sp>
        <p:nvSpPr>
          <p:cNvPr id="21" name="TextBox 20"/>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11 /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603504"/>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49808"/>
            <a:ext cx="370332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CLIENT DETAIL</a:t>
            </a:r>
          </a:p>
        </p:txBody>
      </p:sp>
      <p:sp>
        <p:nvSpPr>
          <p:cNvPr id="6" name="TextBox 5"/>
          <p:cNvSpPr txBox="1"/>
          <p:nvPr/>
        </p:nvSpPr>
        <p:spPr>
          <a:xfrm>
            <a:off x="548640" y="1060704"/>
            <a:ext cx="3721607" cy="11887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16243C"/>
                </a:solidFill>
                <a:latin typeface="Hanken Grotesk"/>
              </a:rPr>
              <a:t>Inside a client</a:t>
            </a:r>
          </a:p>
        </p:txBody>
      </p:sp>
      <p:sp>
        <p:nvSpPr>
          <p:cNvPr id="7" name="TextBox 6"/>
          <p:cNvSpPr txBox="1"/>
          <p:nvPr/>
        </p:nvSpPr>
        <p:spPr>
          <a:xfrm>
            <a:off x="566928" y="1645919"/>
            <a:ext cx="3685032" cy="1188720"/>
          </a:xfrm>
          <a:prstGeom prst="rect">
            <a:avLst/>
          </a:prstGeom>
          <a:noFill/>
        </p:spPr>
        <p:txBody>
          <a:bodyPr wrap="square" anchor="t" lIns="0" rIns="0" tIns="0" bIns="0">
            <a:spAutoFit/>
          </a:bodyPr>
          <a:lstStyle/>
          <a:p>
            <a:pPr algn="l">
              <a:lnSpc>
                <a:spcPct val="118000"/>
              </a:lnSpc>
              <a:spcBef>
                <a:spcPts val="0"/>
              </a:spcBef>
              <a:spcAft>
                <a:spcPts val="400"/>
              </a:spcAft>
            </a:pPr>
            <a:r>
              <a:rPr sz="1250" b="0" i="0">
                <a:solidFill>
                  <a:srgbClr val="3B4A63"/>
                </a:solidFill>
                <a:latin typeface="Hanken Grotesk"/>
              </a:rPr>
              <a:t>Each client opens to its channels, grouped by medium, with a tab for schedule records.</a:t>
            </a:r>
          </a:p>
        </p:txBody>
      </p:sp>
      <p:sp>
        <p:nvSpPr>
          <p:cNvPr id="8" name="TextBox 7"/>
          <p:cNvSpPr txBox="1"/>
          <p:nvPr/>
        </p:nvSpPr>
        <p:spPr>
          <a:xfrm>
            <a:off x="566928" y="2295144"/>
            <a:ext cx="370332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1" i="0" spc="120">
                <a:solidFill>
                  <a:srgbClr val="6B7790"/>
                </a:solidFill>
                <a:latin typeface="Hanken Grotesk"/>
              </a:rPr>
              <a:t>WHAT YOU CAN DO HERE</a:t>
            </a:r>
          </a:p>
        </p:txBody>
      </p:sp>
      <p:sp>
        <p:nvSpPr>
          <p:cNvPr id="9" name="Oval 8"/>
          <p:cNvSpPr/>
          <p:nvPr/>
        </p:nvSpPr>
        <p:spPr>
          <a:xfrm>
            <a:off x="603504" y="2688335"/>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624327"/>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See channels split across TV, Radio, Print and more</a:t>
            </a:r>
          </a:p>
        </p:txBody>
      </p:sp>
      <p:sp>
        <p:nvSpPr>
          <p:cNvPr id="11" name="Oval 10"/>
          <p:cNvSpPr/>
          <p:nvPr/>
        </p:nvSpPr>
        <p:spPr>
          <a:xfrm>
            <a:off x="603504" y="3223259"/>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159251"/>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Add a new channel to a client when you win one</a:t>
            </a:r>
          </a:p>
        </p:txBody>
      </p:sp>
      <p:sp>
        <p:nvSpPr>
          <p:cNvPr id="13" name="Oval 12"/>
          <p:cNvSpPr/>
          <p:nvPr/>
        </p:nvSpPr>
        <p:spPr>
          <a:xfrm>
            <a:off x="603504" y="3758183"/>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94175"/>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Open any channel to view its properties</a:t>
            </a:r>
          </a:p>
        </p:txBody>
      </p:sp>
      <p:sp>
        <p:nvSpPr>
          <p:cNvPr id="15" name="Oval 14"/>
          <p:cNvSpPr/>
          <p:nvPr/>
        </p:nvSpPr>
        <p:spPr>
          <a:xfrm>
            <a:off x="603504" y="4087368"/>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59"/>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Read the property count on every channel card</a:t>
            </a:r>
          </a:p>
        </p:txBody>
      </p:sp>
      <p:sp>
        <p:nvSpPr>
          <p:cNvPr id="17" name="Rounded Rectangle 16"/>
          <p:cNvSpPr/>
          <p:nvPr/>
        </p:nvSpPr>
        <p:spPr>
          <a:xfrm>
            <a:off x="4672583" y="1192149"/>
            <a:ext cx="7040880" cy="440055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617720" y="1118997"/>
            <a:ext cx="7040880" cy="440055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09-client-detail.png"/>
          <p:cNvPicPr>
            <a:picLocks noChangeAspect="1"/>
          </p:cNvPicPr>
          <p:nvPr/>
        </p:nvPicPr>
        <p:blipFill>
          <a:blip r:embed="rId2"/>
          <a:stretch>
            <a:fillRect/>
          </a:stretch>
        </p:blipFill>
        <p:spPr>
          <a:xfrm>
            <a:off x="4617720" y="1118997"/>
            <a:ext cx="7040880" cy="4400550"/>
          </a:xfrm>
          <a:prstGeom prst="rect">
            <a:avLst/>
          </a:prstGeom>
          <a:ln w="12700">
            <a:solidFill>
              <a:srgbClr val="D6DBE3"/>
            </a:solidFill>
          </a:ln>
        </p:spPr>
      </p:pic>
      <p:sp>
        <p:nvSpPr>
          <p:cNvPr id="20" name="Rectangle 19"/>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Group Head Guide</a:t>
            </a:r>
          </a:p>
        </p:txBody>
      </p:sp>
      <p:sp>
        <p:nvSpPr>
          <p:cNvPr id="22" name="TextBox 21"/>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DAILY WORKSPACE</a:t>
            </a:r>
          </a:p>
        </p:txBody>
      </p:sp>
      <p:sp>
        <p:nvSpPr>
          <p:cNvPr id="23" name="TextBox 22"/>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12 /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603504"/>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49808"/>
            <a:ext cx="370332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CLIENT DASHBOARD</a:t>
            </a:r>
          </a:p>
        </p:txBody>
      </p:sp>
      <p:sp>
        <p:nvSpPr>
          <p:cNvPr id="6" name="TextBox 5"/>
          <p:cNvSpPr txBox="1"/>
          <p:nvPr/>
        </p:nvSpPr>
        <p:spPr>
          <a:xfrm>
            <a:off x="548640" y="1060704"/>
            <a:ext cx="3721607" cy="11887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16243C"/>
                </a:solidFill>
                <a:latin typeface="Hanken Grotesk"/>
              </a:rPr>
              <a:t>The client dashboard</a:t>
            </a:r>
          </a:p>
        </p:txBody>
      </p:sp>
      <p:sp>
        <p:nvSpPr>
          <p:cNvPr id="7" name="TextBox 6"/>
          <p:cNvSpPr txBox="1"/>
          <p:nvPr/>
        </p:nvSpPr>
        <p:spPr>
          <a:xfrm>
            <a:off x="566928" y="1645919"/>
            <a:ext cx="3685032" cy="1188720"/>
          </a:xfrm>
          <a:prstGeom prst="rect">
            <a:avLst/>
          </a:prstGeom>
          <a:noFill/>
        </p:spPr>
        <p:txBody>
          <a:bodyPr wrap="square" anchor="t" lIns="0" rIns="0" tIns="0" bIns="0">
            <a:spAutoFit/>
          </a:bodyPr>
          <a:lstStyle/>
          <a:p>
            <a:pPr algn="l">
              <a:lnSpc>
                <a:spcPct val="118000"/>
              </a:lnSpc>
              <a:spcBef>
                <a:spcPts val="0"/>
              </a:spcBef>
              <a:spcAft>
                <a:spcPts val="400"/>
              </a:spcAft>
            </a:pPr>
            <a:r>
              <a:rPr sz="1250" b="0" i="0">
                <a:solidFill>
                  <a:srgbClr val="3B4A63"/>
                </a:solidFill>
                <a:latin typeface="Hanken Grotesk"/>
              </a:rPr>
              <a:t>A focused analytics view for one client, so you can walk into any review prepared.</a:t>
            </a:r>
          </a:p>
        </p:txBody>
      </p:sp>
      <p:sp>
        <p:nvSpPr>
          <p:cNvPr id="8" name="TextBox 7"/>
          <p:cNvSpPr txBox="1"/>
          <p:nvPr/>
        </p:nvSpPr>
        <p:spPr>
          <a:xfrm>
            <a:off x="566928" y="2295144"/>
            <a:ext cx="370332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1" i="0" spc="120">
                <a:solidFill>
                  <a:srgbClr val="6B7790"/>
                </a:solidFill>
                <a:latin typeface="Hanken Grotesk"/>
              </a:rPr>
              <a:t>WHAT YOU CAN DO HERE</a:t>
            </a:r>
          </a:p>
        </p:txBody>
      </p:sp>
      <p:sp>
        <p:nvSpPr>
          <p:cNvPr id="9" name="Oval 8"/>
          <p:cNvSpPr/>
          <p:nvPr/>
        </p:nvSpPr>
        <p:spPr>
          <a:xfrm>
            <a:off x="603504" y="2688335"/>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624327"/>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See the client story in charts, not spreadsheets</a:t>
            </a:r>
          </a:p>
        </p:txBody>
      </p:sp>
      <p:sp>
        <p:nvSpPr>
          <p:cNvPr id="11" name="Oval 10"/>
          <p:cNvSpPr/>
          <p:nvPr/>
        </p:nvSpPr>
        <p:spPr>
          <a:xfrm>
            <a:off x="603504" y="3223259"/>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159251"/>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Track spend trends and channel mix over time</a:t>
            </a:r>
          </a:p>
        </p:txBody>
      </p:sp>
      <p:sp>
        <p:nvSpPr>
          <p:cNvPr id="13" name="Oval 12"/>
          <p:cNvSpPr/>
          <p:nvPr/>
        </p:nvSpPr>
        <p:spPr>
          <a:xfrm>
            <a:off x="603504" y="3552443"/>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488435"/>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Spot where a client is growing or slowing</a:t>
            </a:r>
          </a:p>
        </p:txBody>
      </p:sp>
      <p:sp>
        <p:nvSpPr>
          <p:cNvPr id="15" name="Rounded Rectangle 14"/>
          <p:cNvSpPr/>
          <p:nvPr/>
        </p:nvSpPr>
        <p:spPr>
          <a:xfrm>
            <a:off x="4672583" y="1192149"/>
            <a:ext cx="7040880" cy="440055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17720" y="1118997"/>
            <a:ext cx="7040880" cy="440055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10-client-dashboard.png"/>
          <p:cNvPicPr>
            <a:picLocks noChangeAspect="1"/>
          </p:cNvPicPr>
          <p:nvPr/>
        </p:nvPicPr>
        <p:blipFill>
          <a:blip r:embed="rId2"/>
          <a:stretch>
            <a:fillRect/>
          </a:stretch>
        </p:blipFill>
        <p:spPr>
          <a:xfrm>
            <a:off x="4617720" y="1118997"/>
            <a:ext cx="7040880" cy="4400550"/>
          </a:xfrm>
          <a:prstGeom prst="rect">
            <a:avLst/>
          </a:prstGeom>
          <a:ln w="12700">
            <a:solidFill>
              <a:srgbClr val="D6DBE3"/>
            </a:solidFill>
          </a:ln>
        </p:spPr>
      </p:pic>
      <p:sp>
        <p:nvSpPr>
          <p:cNvPr id="18" name="Rectangle 17"/>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Group Head Guide</a:t>
            </a:r>
          </a:p>
        </p:txBody>
      </p:sp>
      <p:sp>
        <p:nvSpPr>
          <p:cNvPr id="20" name="TextBox 19"/>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DAILY WORKSPACE</a:t>
            </a:r>
          </a:p>
        </p:txBody>
      </p:sp>
      <p:sp>
        <p:nvSpPr>
          <p:cNvPr id="21" name="TextBox 20"/>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13 /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603504"/>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49808"/>
            <a:ext cx="370332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CHANNEL DETAIL</a:t>
            </a:r>
          </a:p>
        </p:txBody>
      </p:sp>
      <p:sp>
        <p:nvSpPr>
          <p:cNvPr id="6" name="TextBox 5"/>
          <p:cNvSpPr txBox="1"/>
          <p:nvPr/>
        </p:nvSpPr>
        <p:spPr>
          <a:xfrm>
            <a:off x="548640" y="1060704"/>
            <a:ext cx="3721607" cy="11887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16243C"/>
                </a:solidFill>
                <a:latin typeface="Hanken Grotesk"/>
              </a:rPr>
              <a:t>Properties and deal terms</a:t>
            </a:r>
          </a:p>
        </p:txBody>
      </p:sp>
      <p:sp>
        <p:nvSpPr>
          <p:cNvPr id="7" name="TextBox 6"/>
          <p:cNvSpPr txBox="1"/>
          <p:nvPr/>
        </p:nvSpPr>
        <p:spPr>
          <a:xfrm>
            <a:off x="566928" y="2029968"/>
            <a:ext cx="3685032" cy="1188720"/>
          </a:xfrm>
          <a:prstGeom prst="rect">
            <a:avLst/>
          </a:prstGeom>
          <a:noFill/>
        </p:spPr>
        <p:txBody>
          <a:bodyPr wrap="square" anchor="t" lIns="0" rIns="0" tIns="0" bIns="0">
            <a:spAutoFit/>
          </a:bodyPr>
          <a:lstStyle/>
          <a:p>
            <a:pPr algn="l">
              <a:lnSpc>
                <a:spcPct val="118000"/>
              </a:lnSpc>
              <a:spcBef>
                <a:spcPts val="0"/>
              </a:spcBef>
              <a:spcAft>
                <a:spcPts val="400"/>
              </a:spcAft>
            </a:pPr>
            <a:r>
              <a:rPr sz="1250" b="0" i="0">
                <a:solidFill>
                  <a:srgbClr val="3B4A63"/>
                </a:solidFill>
                <a:latin typeface="Hanken Grotesk"/>
              </a:rPr>
              <a:t>The channel view records the deals you strike, both as properties and as yearly negotiated terms.</a:t>
            </a:r>
          </a:p>
        </p:txBody>
      </p:sp>
      <p:sp>
        <p:nvSpPr>
          <p:cNvPr id="8" name="TextBox 7"/>
          <p:cNvSpPr txBox="1"/>
          <p:nvPr/>
        </p:nvSpPr>
        <p:spPr>
          <a:xfrm>
            <a:off x="566928" y="2894076"/>
            <a:ext cx="370332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1" i="0" spc="120">
                <a:solidFill>
                  <a:srgbClr val="6B7790"/>
                </a:solidFill>
                <a:latin typeface="Hanken Grotesk"/>
              </a:rPr>
              <a:t>WHAT YOU CAN DO HERE</a:t>
            </a:r>
          </a:p>
        </p:txBody>
      </p:sp>
      <p:sp>
        <p:nvSpPr>
          <p:cNvPr id="9" name="Oval 8"/>
          <p:cNvSpPr/>
          <p:nvPr/>
        </p:nvSpPr>
        <p:spPr>
          <a:xfrm>
            <a:off x="603504" y="3287268"/>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223260"/>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Log a property with its value, bonus and dates</a:t>
            </a:r>
          </a:p>
        </p:txBody>
      </p:sp>
      <p:sp>
        <p:nvSpPr>
          <p:cNvPr id="11" name="Oval 10"/>
          <p:cNvSpPr/>
          <p:nvPr/>
        </p:nvSpPr>
        <p:spPr>
          <a:xfrm>
            <a:off x="603504" y="3822191"/>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758183"/>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Record discount and bonus terms year by year</a:t>
            </a:r>
          </a:p>
        </p:txBody>
      </p:sp>
      <p:sp>
        <p:nvSpPr>
          <p:cNvPr id="13" name="Oval 12"/>
          <p:cNvSpPr/>
          <p:nvPr/>
        </p:nvSpPr>
        <p:spPr>
          <a:xfrm>
            <a:off x="603504" y="4151376"/>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087368"/>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Keep a full history of what was agreed and when</a:t>
            </a:r>
          </a:p>
        </p:txBody>
      </p:sp>
      <p:sp>
        <p:nvSpPr>
          <p:cNvPr id="15" name="Oval 14"/>
          <p:cNvSpPr/>
          <p:nvPr/>
        </p:nvSpPr>
        <p:spPr>
          <a:xfrm>
            <a:off x="603504" y="4686300"/>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622292"/>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Edit or remove terms as negotiations move</a:t>
            </a:r>
          </a:p>
        </p:txBody>
      </p:sp>
      <p:sp>
        <p:nvSpPr>
          <p:cNvPr id="17" name="Rounded Rectangle 16"/>
          <p:cNvSpPr/>
          <p:nvPr/>
        </p:nvSpPr>
        <p:spPr>
          <a:xfrm>
            <a:off x="566928" y="5760720"/>
            <a:ext cx="3931920" cy="566928"/>
          </a:xfrm>
          <a:prstGeom prst="roundRect">
            <a:avLst/>
          </a:prstGeom>
          <a:solidFill>
            <a:srgbClr val="FBEEE7"/>
          </a:solidFill>
          <a:ln w="9525">
            <a:solidFill>
              <a:srgbClr val="F2C9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5843016"/>
            <a:ext cx="3721607" cy="457200"/>
          </a:xfrm>
          <a:prstGeom prst="rect">
            <a:avLst/>
          </a:prstGeom>
          <a:noFill/>
        </p:spPr>
        <p:txBody>
          <a:bodyPr wrap="square" anchor="ctr" lIns="0" rIns="0" tIns="0" bIns="0">
            <a:spAutoFit/>
          </a:bodyPr>
          <a:lstStyle/>
          <a:p>
            <a:pPr algn="l">
              <a:lnSpc>
                <a:spcPct val="108000"/>
              </a:lnSpc>
              <a:spcBef>
                <a:spcPts val="0"/>
              </a:spcBef>
              <a:spcAft>
                <a:spcPts val="400"/>
              </a:spcAft>
            </a:pPr>
            <a:r>
              <a:rPr sz="1050" b="1" i="0">
                <a:solidFill>
                  <a:srgbClr val="D9521C"/>
                </a:solidFill>
                <a:latin typeface="Hanken Grotesk"/>
              </a:rPr>
              <a:t>Tip   </a:t>
            </a:r>
            <a:r>
              <a:rPr sz="1050" b="0" i="0">
                <a:solidFill>
                  <a:srgbClr val="3B4A63"/>
                </a:solidFill>
                <a:latin typeface="Hanken Grotesk"/>
              </a:rPr>
              <a:t>Recording terms here means nothing about a deal lives only in your inbox.</a:t>
            </a:r>
          </a:p>
        </p:txBody>
      </p:sp>
      <p:sp>
        <p:nvSpPr>
          <p:cNvPr id="19" name="Rounded Rectangle 18"/>
          <p:cNvSpPr/>
          <p:nvPr/>
        </p:nvSpPr>
        <p:spPr>
          <a:xfrm>
            <a:off x="4672583" y="1192149"/>
            <a:ext cx="7040880" cy="440055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17720" y="1118997"/>
            <a:ext cx="7040880" cy="440055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11-channel-detail.png"/>
          <p:cNvPicPr>
            <a:picLocks noChangeAspect="1"/>
          </p:cNvPicPr>
          <p:nvPr/>
        </p:nvPicPr>
        <p:blipFill>
          <a:blip r:embed="rId2"/>
          <a:stretch>
            <a:fillRect/>
          </a:stretch>
        </p:blipFill>
        <p:spPr>
          <a:xfrm>
            <a:off x="4617720" y="1118997"/>
            <a:ext cx="7040880" cy="4400550"/>
          </a:xfrm>
          <a:prstGeom prst="rect">
            <a:avLst/>
          </a:prstGeom>
          <a:ln w="12700">
            <a:solidFill>
              <a:srgbClr val="D6DBE3"/>
            </a:solidFill>
          </a:ln>
        </p:spPr>
      </p:pic>
      <p:sp>
        <p:nvSpPr>
          <p:cNvPr id="22" name="Rectangle 21"/>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Group Head Guide</a:t>
            </a:r>
          </a:p>
        </p:txBody>
      </p:sp>
      <p:sp>
        <p:nvSpPr>
          <p:cNvPr id="24" name="TextBox 23"/>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DAILY WORKSPACE</a:t>
            </a:r>
          </a:p>
        </p:txBody>
      </p:sp>
      <p:sp>
        <p:nvSpPr>
          <p:cNvPr id="25" name="TextBox 24"/>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15 /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603504"/>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49808"/>
            <a:ext cx="370332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CHANNEL INTELLIGENCE</a:t>
            </a:r>
          </a:p>
        </p:txBody>
      </p:sp>
      <p:sp>
        <p:nvSpPr>
          <p:cNvPr id="6" name="TextBox 5"/>
          <p:cNvSpPr txBox="1"/>
          <p:nvPr/>
        </p:nvSpPr>
        <p:spPr>
          <a:xfrm>
            <a:off x="548640" y="1060704"/>
            <a:ext cx="3721607" cy="11887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16243C"/>
                </a:solidFill>
                <a:latin typeface="Hanken Grotesk"/>
              </a:rPr>
              <a:t>Channel intelligence</a:t>
            </a:r>
          </a:p>
        </p:txBody>
      </p:sp>
      <p:sp>
        <p:nvSpPr>
          <p:cNvPr id="7" name="TextBox 6"/>
          <p:cNvSpPr txBox="1"/>
          <p:nvPr/>
        </p:nvSpPr>
        <p:spPr>
          <a:xfrm>
            <a:off x="566928" y="1645919"/>
            <a:ext cx="3685032" cy="1188720"/>
          </a:xfrm>
          <a:prstGeom prst="rect">
            <a:avLst/>
          </a:prstGeom>
          <a:noFill/>
        </p:spPr>
        <p:txBody>
          <a:bodyPr wrap="square" anchor="t" lIns="0" rIns="0" tIns="0" bIns="0">
            <a:spAutoFit/>
          </a:bodyPr>
          <a:lstStyle/>
          <a:p>
            <a:pPr algn="l">
              <a:lnSpc>
                <a:spcPct val="118000"/>
              </a:lnSpc>
              <a:spcBef>
                <a:spcPts val="0"/>
              </a:spcBef>
              <a:spcAft>
                <a:spcPts val="400"/>
              </a:spcAft>
            </a:pPr>
            <a:r>
              <a:rPr sz="1250" b="0" i="0">
                <a:solidFill>
                  <a:srgbClr val="3B4A63"/>
                </a:solidFill>
                <a:latin typeface="Hanken Grotesk"/>
              </a:rPr>
              <a:t>A deep read on a single channel across your clients, so you negotiate from evidence.</a:t>
            </a:r>
          </a:p>
        </p:txBody>
      </p:sp>
      <p:sp>
        <p:nvSpPr>
          <p:cNvPr id="8" name="TextBox 7"/>
          <p:cNvSpPr txBox="1"/>
          <p:nvPr/>
        </p:nvSpPr>
        <p:spPr>
          <a:xfrm>
            <a:off x="566928" y="2295144"/>
            <a:ext cx="370332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1" i="0" spc="120">
                <a:solidFill>
                  <a:srgbClr val="6B7790"/>
                </a:solidFill>
                <a:latin typeface="Hanken Grotesk"/>
              </a:rPr>
              <a:t>WHAT YOU CAN DO HERE</a:t>
            </a:r>
          </a:p>
        </p:txBody>
      </p:sp>
      <p:sp>
        <p:nvSpPr>
          <p:cNvPr id="9" name="Oval 8"/>
          <p:cNvSpPr/>
          <p:nvPr/>
        </p:nvSpPr>
        <p:spPr>
          <a:xfrm>
            <a:off x="603504" y="2688335"/>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624327"/>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See spend on a channel across recent years</a:t>
            </a:r>
          </a:p>
        </p:txBody>
      </p:sp>
      <p:sp>
        <p:nvSpPr>
          <p:cNvPr id="11" name="Oval 10"/>
          <p:cNvSpPr/>
          <p:nvPr/>
        </p:nvSpPr>
        <p:spPr>
          <a:xfrm>
            <a:off x="603504" y="3017519"/>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953511"/>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Read year over year growth and the peak month</a:t>
            </a:r>
          </a:p>
        </p:txBody>
      </p:sp>
      <p:sp>
        <p:nvSpPr>
          <p:cNvPr id="13" name="Oval 12"/>
          <p:cNvSpPr/>
          <p:nvPr/>
        </p:nvSpPr>
        <p:spPr>
          <a:xfrm>
            <a:off x="603504" y="3552443"/>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488435"/>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Trace any month back to the schedules behind it</a:t>
            </a:r>
          </a:p>
        </p:txBody>
      </p:sp>
      <p:sp>
        <p:nvSpPr>
          <p:cNvPr id="15" name="Oval 14"/>
          <p:cNvSpPr/>
          <p:nvPr/>
        </p:nvSpPr>
        <p:spPr>
          <a:xfrm>
            <a:off x="603504" y="4087368"/>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59"/>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Know how many of your clients use the channel</a:t>
            </a:r>
          </a:p>
        </p:txBody>
      </p:sp>
      <p:sp>
        <p:nvSpPr>
          <p:cNvPr id="17" name="Rounded Rectangle 16"/>
          <p:cNvSpPr/>
          <p:nvPr/>
        </p:nvSpPr>
        <p:spPr>
          <a:xfrm>
            <a:off x="4672583" y="1192149"/>
            <a:ext cx="7040880" cy="440055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617720" y="1118997"/>
            <a:ext cx="7040880" cy="440055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12-channel-intelligence.png"/>
          <p:cNvPicPr>
            <a:picLocks noChangeAspect="1"/>
          </p:cNvPicPr>
          <p:nvPr/>
        </p:nvPicPr>
        <p:blipFill>
          <a:blip r:embed="rId2"/>
          <a:stretch>
            <a:fillRect/>
          </a:stretch>
        </p:blipFill>
        <p:spPr>
          <a:xfrm>
            <a:off x="4617720" y="1118997"/>
            <a:ext cx="7040880" cy="4400550"/>
          </a:xfrm>
          <a:prstGeom prst="rect">
            <a:avLst/>
          </a:prstGeom>
          <a:ln w="12700">
            <a:solidFill>
              <a:srgbClr val="D6DBE3"/>
            </a:solidFill>
          </a:ln>
        </p:spPr>
      </p:pic>
      <p:sp>
        <p:nvSpPr>
          <p:cNvPr id="20" name="Rectangle 19"/>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Group Head Guide</a:t>
            </a:r>
          </a:p>
        </p:txBody>
      </p:sp>
      <p:sp>
        <p:nvSpPr>
          <p:cNvPr id="22" name="TextBox 21"/>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DAILY WORKSPACE</a:t>
            </a:r>
          </a:p>
        </p:txBody>
      </p:sp>
      <p:sp>
        <p:nvSpPr>
          <p:cNvPr id="23" name="TextBox 22"/>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17 /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48840"/>
            <a:ext cx="2743200" cy="1280160"/>
          </a:xfrm>
          <a:prstGeom prst="rect">
            <a:avLst/>
          </a:prstGeom>
          <a:noFill/>
        </p:spPr>
        <p:txBody>
          <a:bodyPr wrap="square" anchor="t" lIns="0" rIns="0" tIns="0" bIns="0">
            <a:spAutoFit/>
          </a:bodyPr>
          <a:lstStyle/>
          <a:p>
            <a:pPr algn="l">
              <a:lnSpc>
                <a:spcPct val="100000"/>
              </a:lnSpc>
              <a:spcBef>
                <a:spcPts val="0"/>
              </a:spcBef>
              <a:spcAft>
                <a:spcPts val="400"/>
              </a:spcAft>
            </a:pPr>
            <a:r>
              <a:rPr sz="9200" b="1" i="1">
                <a:solidFill>
                  <a:srgbClr val="243452"/>
                </a:solidFill>
                <a:latin typeface="Newsreader"/>
              </a:rPr>
              <a:t>03</a:t>
            </a:r>
          </a:p>
        </p:txBody>
      </p:sp>
      <p:sp>
        <p:nvSpPr>
          <p:cNvPr id="5" name="TextBox 4"/>
          <p:cNvSpPr txBox="1"/>
          <p:nvPr/>
        </p:nvSpPr>
        <p:spPr>
          <a:xfrm>
            <a:off x="2514600" y="2240280"/>
            <a:ext cx="8686800" cy="457200"/>
          </a:xfrm>
          <a:prstGeom prst="rect">
            <a:avLst/>
          </a:prstGeom>
          <a:noFill/>
        </p:spPr>
        <p:txBody>
          <a:bodyPr wrap="square" anchor="t" lIns="0" rIns="0" tIns="0" bIns="0">
            <a:spAutoFit/>
          </a:bodyPr>
          <a:lstStyle/>
          <a:p>
            <a:pPr algn="l">
              <a:lnSpc>
                <a:spcPct val="100000"/>
              </a:lnSpc>
              <a:spcBef>
                <a:spcPts val="0"/>
              </a:spcBef>
              <a:spcAft>
                <a:spcPts val="400"/>
              </a:spcAft>
            </a:pPr>
            <a:r>
              <a:rPr sz="1300" b="1" i="0" spc="240">
                <a:solidFill>
                  <a:srgbClr val="F0703F"/>
                </a:solidFill>
                <a:latin typeface="Hanken Grotesk"/>
              </a:rPr>
              <a:t>PLANNING &amp; FORECASTING</a:t>
            </a:r>
          </a:p>
        </p:txBody>
      </p:sp>
      <p:sp>
        <p:nvSpPr>
          <p:cNvPr id="6" name="TextBox 5"/>
          <p:cNvSpPr txBox="1"/>
          <p:nvPr/>
        </p:nvSpPr>
        <p:spPr>
          <a:xfrm>
            <a:off x="2487168" y="2651760"/>
            <a:ext cx="8869680" cy="1280160"/>
          </a:xfrm>
          <a:prstGeom prst="rect">
            <a:avLst/>
          </a:prstGeom>
          <a:noFill/>
        </p:spPr>
        <p:txBody>
          <a:bodyPr wrap="square" anchor="t" lIns="0" rIns="0" tIns="0" bIns="0">
            <a:spAutoFit/>
          </a:bodyPr>
          <a:lstStyle/>
          <a:p>
            <a:pPr algn="l">
              <a:lnSpc>
                <a:spcPct val="102000"/>
              </a:lnSpc>
              <a:spcBef>
                <a:spcPts val="0"/>
              </a:spcBef>
              <a:spcAft>
                <a:spcPts val="400"/>
              </a:spcAft>
            </a:pPr>
            <a:r>
              <a:rPr sz="4000" b="1" i="0">
                <a:solidFill>
                  <a:srgbClr val="FFFFFF"/>
                </a:solidFill>
                <a:latin typeface="Hanken Grotesk"/>
              </a:rPr>
              <a:t>Telling Orbit
what comes next</a:t>
            </a:r>
          </a:p>
        </p:txBody>
      </p:sp>
      <p:sp>
        <p:nvSpPr>
          <p:cNvPr id="7" name="TextBox 6"/>
          <p:cNvSpPr txBox="1"/>
          <p:nvPr/>
        </p:nvSpPr>
        <p:spPr>
          <a:xfrm>
            <a:off x="2514600" y="3977639"/>
            <a:ext cx="7955279" cy="914400"/>
          </a:xfrm>
          <a:prstGeom prst="rect">
            <a:avLst/>
          </a:prstGeom>
          <a:noFill/>
        </p:spPr>
        <p:txBody>
          <a:bodyPr wrap="square" anchor="t" lIns="0" rIns="0" tIns="0" bIns="0">
            <a:spAutoFit/>
          </a:bodyPr>
          <a:lstStyle/>
          <a:p>
            <a:pPr algn="l">
              <a:lnSpc>
                <a:spcPct val="120000"/>
              </a:lnSpc>
              <a:spcBef>
                <a:spcPts val="0"/>
              </a:spcBef>
              <a:spcAft>
                <a:spcPts val="400"/>
              </a:spcAft>
            </a:pPr>
            <a:r>
              <a:rPr sz="1450" b="0" i="0">
                <a:solidFill>
                  <a:srgbClr val="9FB0CE"/>
                </a:solidFill>
                <a:latin typeface="Hanken Grotesk"/>
              </a:rPr>
              <a:t>Your forecasts set the pace the whole company measures against.</a:t>
            </a:r>
          </a:p>
        </p:txBody>
      </p:sp>
      <p:sp>
        <p:nvSpPr>
          <p:cNvPr id="8" name="Oval 7"/>
          <p:cNvSpPr/>
          <p:nvPr/>
        </p:nvSpPr>
        <p:spPr>
          <a:xfrm>
            <a:off x="10981944" y="466344"/>
            <a:ext cx="621792" cy="621792"/>
          </a:xfrm>
          <a:prstGeom prst="ellipse">
            <a:avLst/>
          </a:prstGeom>
          <a:noFill/>
          <a:ln w="12700">
            <a:solidFill>
              <a:srgbClr val="3A4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100084" y="584484"/>
            <a:ext cx="385511" cy="385511"/>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00084" y="566196"/>
            <a:ext cx="385511" cy="385511"/>
          </a:xfrm>
          <a:prstGeom prst="rect">
            <a:avLst/>
          </a:prstGeom>
          <a:noFill/>
        </p:spPr>
        <p:txBody>
          <a:bodyPr wrap="square" anchor="ctr" lIns="0" rIns="0" tIns="0" bIns="0">
            <a:spAutoFit/>
          </a:bodyPr>
          <a:lstStyle/>
          <a:p>
            <a:pPr algn="ctr">
              <a:lnSpc>
                <a:spcPct val="100000"/>
              </a:lnSpc>
              <a:spcBef>
                <a:spcPts val="0"/>
              </a:spcBef>
              <a:spcAft>
                <a:spcPts val="400"/>
              </a:spcAft>
            </a:pPr>
            <a:r>
              <a:rPr sz="800" b="1" i="0">
                <a:solidFill>
                  <a:srgbClr val="FFFFFF"/>
                </a:solidFill>
                <a:latin typeface="Hanken Grotesk"/>
              </a:rPr>
              <a:t>O</a:t>
            </a:r>
          </a:p>
        </p:txBody>
      </p:sp>
      <p:sp>
        <p:nvSpPr>
          <p:cNvPr id="11" name="Oval 10"/>
          <p:cNvSpPr/>
          <p:nvPr/>
        </p:nvSpPr>
        <p:spPr>
          <a:xfrm>
            <a:off x="11485595" y="484997"/>
            <a:ext cx="99486" cy="99486"/>
          </a:xfrm>
          <a:prstGeom prst="ellipse">
            <a:avLst/>
          </a:prstGeom>
          <a:solidFill>
            <a:srgbClr val="F07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308384" y="1013520"/>
            <a:ext cx="62179" cy="62179"/>
          </a:xfrm>
          <a:prstGeom prst="ellipse">
            <a:avLst/>
          </a:prstGeom>
          <a:solidFill>
            <a:srgbClr val="6E8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603504"/>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49808"/>
            <a:ext cx="370332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FORECASTING</a:t>
            </a:r>
          </a:p>
        </p:txBody>
      </p:sp>
      <p:sp>
        <p:nvSpPr>
          <p:cNvPr id="6" name="TextBox 5"/>
          <p:cNvSpPr txBox="1"/>
          <p:nvPr/>
        </p:nvSpPr>
        <p:spPr>
          <a:xfrm>
            <a:off x="548640" y="1060704"/>
            <a:ext cx="3721607" cy="11887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16243C"/>
                </a:solidFill>
                <a:latin typeface="Hanken Grotesk"/>
              </a:rPr>
              <a:t>Forecasting your month</a:t>
            </a:r>
          </a:p>
        </p:txBody>
      </p:sp>
      <p:sp>
        <p:nvSpPr>
          <p:cNvPr id="7" name="TextBox 6"/>
          <p:cNvSpPr txBox="1"/>
          <p:nvPr/>
        </p:nvSpPr>
        <p:spPr>
          <a:xfrm>
            <a:off x="566928" y="1645919"/>
            <a:ext cx="3685032" cy="1188720"/>
          </a:xfrm>
          <a:prstGeom prst="rect">
            <a:avLst/>
          </a:prstGeom>
          <a:noFill/>
        </p:spPr>
        <p:txBody>
          <a:bodyPr wrap="square" anchor="t" lIns="0" rIns="0" tIns="0" bIns="0">
            <a:spAutoFit/>
          </a:bodyPr>
          <a:lstStyle/>
          <a:p>
            <a:pPr algn="l">
              <a:lnSpc>
                <a:spcPct val="118000"/>
              </a:lnSpc>
              <a:spcBef>
                <a:spcPts val="0"/>
              </a:spcBef>
              <a:spcAft>
                <a:spcPts val="400"/>
              </a:spcAft>
            </a:pPr>
            <a:r>
              <a:rPr sz="1250" b="0" i="0">
                <a:solidFill>
                  <a:srgbClr val="3B4A63"/>
                </a:solidFill>
                <a:latin typeface="Hanken Grotesk"/>
              </a:rPr>
              <a:t>Each cycle, Orbit asks you for the coming month. Your clients appear as cards with a clear status.</a:t>
            </a:r>
          </a:p>
        </p:txBody>
      </p:sp>
      <p:sp>
        <p:nvSpPr>
          <p:cNvPr id="8" name="TextBox 7"/>
          <p:cNvSpPr txBox="1"/>
          <p:nvPr/>
        </p:nvSpPr>
        <p:spPr>
          <a:xfrm>
            <a:off x="566928" y="2510027"/>
            <a:ext cx="370332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1" i="0" spc="120">
                <a:solidFill>
                  <a:srgbClr val="6B7790"/>
                </a:solidFill>
                <a:latin typeface="Hanken Grotesk"/>
              </a:rPr>
              <a:t>WHAT YOU CAN DO HERE</a:t>
            </a:r>
          </a:p>
        </p:txBody>
      </p:sp>
      <p:sp>
        <p:nvSpPr>
          <p:cNvPr id="9" name="Oval 8"/>
          <p:cNvSpPr/>
          <p:nvPr/>
        </p:nvSpPr>
        <p:spPr>
          <a:xfrm>
            <a:off x="603504" y="2903219"/>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839211"/>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See every client you need to forecast for</a:t>
            </a:r>
          </a:p>
        </p:txBody>
      </p:sp>
      <p:sp>
        <p:nvSpPr>
          <p:cNvPr id="11" name="Oval 10"/>
          <p:cNvSpPr/>
          <p:nvPr/>
        </p:nvSpPr>
        <p:spPr>
          <a:xfrm>
            <a:off x="603504" y="3232403"/>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168395"/>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Read Submitted or Pending at a glance</a:t>
            </a:r>
          </a:p>
        </p:txBody>
      </p:sp>
      <p:sp>
        <p:nvSpPr>
          <p:cNvPr id="13" name="Oval 12"/>
          <p:cNvSpPr/>
          <p:nvPr/>
        </p:nvSpPr>
        <p:spPr>
          <a:xfrm>
            <a:off x="603504" y="3561587"/>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497579"/>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Open a client to enter its numbers</a:t>
            </a:r>
          </a:p>
        </p:txBody>
      </p:sp>
      <p:sp>
        <p:nvSpPr>
          <p:cNvPr id="15" name="Oval 14"/>
          <p:cNvSpPr/>
          <p:nvPr/>
        </p:nvSpPr>
        <p:spPr>
          <a:xfrm>
            <a:off x="603504" y="3890772"/>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826763"/>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Request a new client or channel when needed</a:t>
            </a:r>
          </a:p>
        </p:txBody>
      </p:sp>
      <p:sp>
        <p:nvSpPr>
          <p:cNvPr id="17" name="Rounded Rectangle 16"/>
          <p:cNvSpPr/>
          <p:nvPr/>
        </p:nvSpPr>
        <p:spPr>
          <a:xfrm>
            <a:off x="566928" y="5760720"/>
            <a:ext cx="3931920" cy="566928"/>
          </a:xfrm>
          <a:prstGeom prst="roundRect">
            <a:avLst/>
          </a:prstGeom>
          <a:solidFill>
            <a:srgbClr val="FBEEE7"/>
          </a:solidFill>
          <a:ln w="9525">
            <a:solidFill>
              <a:srgbClr val="F2C9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5843016"/>
            <a:ext cx="3721607" cy="457200"/>
          </a:xfrm>
          <a:prstGeom prst="rect">
            <a:avLst/>
          </a:prstGeom>
          <a:noFill/>
        </p:spPr>
        <p:txBody>
          <a:bodyPr wrap="square" anchor="ctr" lIns="0" rIns="0" tIns="0" bIns="0">
            <a:spAutoFit/>
          </a:bodyPr>
          <a:lstStyle/>
          <a:p>
            <a:pPr algn="l">
              <a:lnSpc>
                <a:spcPct val="108000"/>
              </a:lnSpc>
              <a:spcBef>
                <a:spcPts val="0"/>
              </a:spcBef>
              <a:spcAft>
                <a:spcPts val="400"/>
              </a:spcAft>
            </a:pPr>
            <a:r>
              <a:rPr sz="1050" b="1" i="0">
                <a:solidFill>
                  <a:srgbClr val="D9521C"/>
                </a:solidFill>
                <a:latin typeface="Hanken Grotesk"/>
              </a:rPr>
              <a:t>Tip   </a:t>
            </a:r>
            <a:r>
              <a:rPr sz="1050" b="0" i="0">
                <a:solidFill>
                  <a:srgbClr val="3B4A63"/>
                </a:solidFill>
                <a:latin typeface="Hanken Grotesk"/>
              </a:rPr>
              <a:t>The month rolls forward on the 15th, so you always plan the right one.</a:t>
            </a:r>
          </a:p>
        </p:txBody>
      </p:sp>
      <p:sp>
        <p:nvSpPr>
          <p:cNvPr id="19" name="Rounded Rectangle 18"/>
          <p:cNvSpPr/>
          <p:nvPr/>
        </p:nvSpPr>
        <p:spPr>
          <a:xfrm>
            <a:off x="4672583" y="1192149"/>
            <a:ext cx="7040880" cy="440055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17720" y="1118997"/>
            <a:ext cx="7040880" cy="440055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03-forecasting.png"/>
          <p:cNvPicPr>
            <a:picLocks noChangeAspect="1"/>
          </p:cNvPicPr>
          <p:nvPr/>
        </p:nvPicPr>
        <p:blipFill>
          <a:blip r:embed="rId2"/>
          <a:stretch>
            <a:fillRect/>
          </a:stretch>
        </p:blipFill>
        <p:spPr>
          <a:xfrm>
            <a:off x="4617720" y="1118997"/>
            <a:ext cx="7040880" cy="4400550"/>
          </a:xfrm>
          <a:prstGeom prst="rect">
            <a:avLst/>
          </a:prstGeom>
          <a:ln w="12700">
            <a:solidFill>
              <a:srgbClr val="D6DBE3"/>
            </a:solidFill>
          </a:ln>
        </p:spPr>
      </p:pic>
      <p:sp>
        <p:nvSpPr>
          <p:cNvPr id="22" name="Rectangle 21"/>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Group Head Guide</a:t>
            </a:r>
          </a:p>
        </p:txBody>
      </p:sp>
      <p:sp>
        <p:nvSpPr>
          <p:cNvPr id="24" name="TextBox 23"/>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PLANNING &amp; FORECASTING</a:t>
            </a:r>
          </a:p>
        </p:txBody>
      </p:sp>
      <p:sp>
        <p:nvSpPr>
          <p:cNvPr id="25" name="TextBox 24"/>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20 /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603504"/>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49808"/>
            <a:ext cx="370332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FORECAST ENTRY</a:t>
            </a:r>
          </a:p>
        </p:txBody>
      </p:sp>
      <p:sp>
        <p:nvSpPr>
          <p:cNvPr id="6" name="TextBox 5"/>
          <p:cNvSpPr txBox="1"/>
          <p:nvPr/>
        </p:nvSpPr>
        <p:spPr>
          <a:xfrm>
            <a:off x="548640" y="1060704"/>
            <a:ext cx="3721607" cy="11887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16243C"/>
                </a:solidFill>
                <a:latin typeface="Hanken Grotesk"/>
              </a:rPr>
              <a:t>Entering a forecast</a:t>
            </a:r>
          </a:p>
        </p:txBody>
      </p:sp>
      <p:sp>
        <p:nvSpPr>
          <p:cNvPr id="7" name="TextBox 6"/>
          <p:cNvSpPr txBox="1"/>
          <p:nvPr/>
        </p:nvSpPr>
        <p:spPr>
          <a:xfrm>
            <a:off x="566928" y="1645919"/>
            <a:ext cx="3685032" cy="1188720"/>
          </a:xfrm>
          <a:prstGeom prst="rect">
            <a:avLst/>
          </a:prstGeom>
          <a:noFill/>
        </p:spPr>
        <p:txBody>
          <a:bodyPr wrap="square" anchor="t" lIns="0" rIns="0" tIns="0" bIns="0">
            <a:spAutoFit/>
          </a:bodyPr>
          <a:lstStyle/>
          <a:p>
            <a:pPr algn="l">
              <a:lnSpc>
                <a:spcPct val="118000"/>
              </a:lnSpc>
              <a:spcBef>
                <a:spcPts val="0"/>
              </a:spcBef>
              <a:spcAft>
                <a:spcPts val="400"/>
              </a:spcAft>
            </a:pPr>
            <a:r>
              <a:rPr sz="1250" b="0" i="0">
                <a:solidFill>
                  <a:srgbClr val="3B4A63"/>
                </a:solidFill>
                <a:latin typeface="Hanken Grotesk"/>
              </a:rPr>
              <a:t>Inside a client, you set an amount per channel. Orbit adds it up and splits it by medium as you go.</a:t>
            </a:r>
          </a:p>
        </p:txBody>
      </p:sp>
      <p:sp>
        <p:nvSpPr>
          <p:cNvPr id="8" name="TextBox 7"/>
          <p:cNvSpPr txBox="1"/>
          <p:nvPr/>
        </p:nvSpPr>
        <p:spPr>
          <a:xfrm>
            <a:off x="566928" y="2510027"/>
            <a:ext cx="370332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1" i="0" spc="120">
                <a:solidFill>
                  <a:srgbClr val="6B7790"/>
                </a:solidFill>
                <a:latin typeface="Hanken Grotesk"/>
              </a:rPr>
              <a:t>WHAT YOU CAN DO HERE</a:t>
            </a:r>
          </a:p>
        </p:txBody>
      </p:sp>
      <p:sp>
        <p:nvSpPr>
          <p:cNvPr id="9" name="Oval 8"/>
          <p:cNvSpPr/>
          <p:nvPr/>
        </p:nvSpPr>
        <p:spPr>
          <a:xfrm>
            <a:off x="603504" y="2903219"/>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839211"/>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Enter an amount for each channel you will use</a:t>
            </a:r>
          </a:p>
        </p:txBody>
      </p:sp>
      <p:sp>
        <p:nvSpPr>
          <p:cNvPr id="11" name="Oval 10"/>
          <p:cNvSpPr/>
          <p:nvPr/>
        </p:nvSpPr>
        <p:spPr>
          <a:xfrm>
            <a:off x="603504" y="3438143"/>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74135"/>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Add a short note against any line</a:t>
            </a:r>
          </a:p>
        </p:txBody>
      </p:sp>
      <p:sp>
        <p:nvSpPr>
          <p:cNvPr id="13" name="Oval 12"/>
          <p:cNvSpPr/>
          <p:nvPr/>
        </p:nvSpPr>
        <p:spPr>
          <a:xfrm>
            <a:off x="603504" y="3767328"/>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703320"/>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Copy last month to start from a known base</a:t>
            </a:r>
          </a:p>
        </p:txBody>
      </p:sp>
      <p:sp>
        <p:nvSpPr>
          <p:cNvPr id="15" name="Oval 14"/>
          <p:cNvSpPr/>
          <p:nvPr/>
        </p:nvSpPr>
        <p:spPr>
          <a:xfrm>
            <a:off x="603504" y="4096512"/>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32504"/>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Submit once the total looks right</a:t>
            </a:r>
          </a:p>
        </p:txBody>
      </p:sp>
      <p:sp>
        <p:nvSpPr>
          <p:cNvPr id="17" name="Rounded Rectangle 16"/>
          <p:cNvSpPr/>
          <p:nvPr/>
        </p:nvSpPr>
        <p:spPr>
          <a:xfrm>
            <a:off x="4672583" y="1192149"/>
            <a:ext cx="7040880" cy="440055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617720" y="1118997"/>
            <a:ext cx="7040880" cy="440055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03b-forecast-entry.png"/>
          <p:cNvPicPr>
            <a:picLocks noChangeAspect="1"/>
          </p:cNvPicPr>
          <p:nvPr/>
        </p:nvPicPr>
        <p:blipFill>
          <a:blip r:embed="rId2"/>
          <a:stretch>
            <a:fillRect/>
          </a:stretch>
        </p:blipFill>
        <p:spPr>
          <a:xfrm>
            <a:off x="4617720" y="1118997"/>
            <a:ext cx="7040880" cy="4400550"/>
          </a:xfrm>
          <a:prstGeom prst="rect">
            <a:avLst/>
          </a:prstGeom>
          <a:ln w="12700">
            <a:solidFill>
              <a:srgbClr val="D6DBE3"/>
            </a:solidFill>
          </a:ln>
        </p:spPr>
      </p:pic>
      <p:sp>
        <p:nvSpPr>
          <p:cNvPr id="20" name="Rectangle 19"/>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Group Head Guide</a:t>
            </a:r>
          </a:p>
        </p:txBody>
      </p:sp>
      <p:sp>
        <p:nvSpPr>
          <p:cNvPr id="22" name="TextBox 21"/>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PLANNING &amp; FORECASTING</a:t>
            </a:r>
          </a:p>
        </p:txBody>
      </p:sp>
      <p:sp>
        <p:nvSpPr>
          <p:cNvPr id="23" name="TextBox 22"/>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21 /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603504"/>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49808"/>
            <a:ext cx="370332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OVERALL BUDGET</a:t>
            </a:r>
          </a:p>
        </p:txBody>
      </p:sp>
      <p:sp>
        <p:nvSpPr>
          <p:cNvPr id="6" name="TextBox 5"/>
          <p:cNvSpPr txBox="1"/>
          <p:nvPr/>
        </p:nvSpPr>
        <p:spPr>
          <a:xfrm>
            <a:off x="548640" y="1060704"/>
            <a:ext cx="3721607" cy="11887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16243C"/>
                </a:solidFill>
                <a:latin typeface="Hanken Grotesk"/>
              </a:rPr>
              <a:t>The overall budget worksheet</a:t>
            </a:r>
          </a:p>
        </p:txBody>
      </p:sp>
      <p:sp>
        <p:nvSpPr>
          <p:cNvPr id="7" name="TextBox 6"/>
          <p:cNvSpPr txBox="1"/>
          <p:nvPr/>
        </p:nvSpPr>
        <p:spPr>
          <a:xfrm>
            <a:off x="566928" y="2029968"/>
            <a:ext cx="3685032" cy="1188720"/>
          </a:xfrm>
          <a:prstGeom prst="rect">
            <a:avLst/>
          </a:prstGeom>
          <a:noFill/>
        </p:spPr>
        <p:txBody>
          <a:bodyPr wrap="square" anchor="t" lIns="0" rIns="0" tIns="0" bIns="0">
            <a:spAutoFit/>
          </a:bodyPr>
          <a:lstStyle/>
          <a:p>
            <a:pPr algn="l">
              <a:lnSpc>
                <a:spcPct val="118000"/>
              </a:lnSpc>
              <a:spcBef>
                <a:spcPts val="0"/>
              </a:spcBef>
              <a:spcAft>
                <a:spcPts val="400"/>
              </a:spcAft>
            </a:pPr>
            <a:r>
              <a:rPr sz="1250" b="0" i="0">
                <a:solidFill>
                  <a:srgbClr val="3B4A63"/>
                </a:solidFill>
                <a:latin typeface="Hanken Grotesk"/>
              </a:rPr>
              <a:t>A per client worksheet that mirrors your reference sheet: actual, best case, commission and last month billing.</a:t>
            </a:r>
          </a:p>
        </p:txBody>
      </p:sp>
      <p:sp>
        <p:nvSpPr>
          <p:cNvPr id="8" name="TextBox 7"/>
          <p:cNvSpPr txBox="1"/>
          <p:nvPr/>
        </p:nvSpPr>
        <p:spPr>
          <a:xfrm>
            <a:off x="566928" y="2894076"/>
            <a:ext cx="370332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1" i="0" spc="120">
                <a:solidFill>
                  <a:srgbClr val="6B7790"/>
                </a:solidFill>
                <a:latin typeface="Hanken Grotesk"/>
              </a:rPr>
              <a:t>WHAT YOU CAN DO HERE</a:t>
            </a:r>
          </a:p>
        </p:txBody>
      </p:sp>
      <p:sp>
        <p:nvSpPr>
          <p:cNvPr id="9" name="Oval 8"/>
          <p:cNvSpPr/>
          <p:nvPr/>
        </p:nvSpPr>
        <p:spPr>
          <a:xfrm>
            <a:off x="603504" y="3287268"/>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223260"/>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See actual auto filled from your forecasts</a:t>
            </a:r>
          </a:p>
        </p:txBody>
      </p:sp>
      <p:sp>
        <p:nvSpPr>
          <p:cNvPr id="11" name="Oval 10"/>
          <p:cNvSpPr/>
          <p:nvPr/>
        </p:nvSpPr>
        <p:spPr>
          <a:xfrm>
            <a:off x="603504" y="3616451"/>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552444"/>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Enter a best case figure for each client</a:t>
            </a:r>
          </a:p>
        </p:txBody>
      </p:sp>
      <p:sp>
        <p:nvSpPr>
          <p:cNvPr id="13" name="Oval 12"/>
          <p:cNvSpPr/>
          <p:nvPr/>
        </p:nvSpPr>
        <p:spPr>
          <a:xfrm>
            <a:off x="603504" y="3945636"/>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881628"/>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Record last month billing beside it</a:t>
            </a:r>
          </a:p>
        </p:txBody>
      </p:sp>
      <p:sp>
        <p:nvSpPr>
          <p:cNvPr id="15" name="Oval 14"/>
          <p:cNvSpPr/>
          <p:nvPr/>
        </p:nvSpPr>
        <p:spPr>
          <a:xfrm>
            <a:off x="603504" y="4274820"/>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210812"/>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Read commission and running totals per client</a:t>
            </a:r>
          </a:p>
        </p:txBody>
      </p:sp>
      <p:sp>
        <p:nvSpPr>
          <p:cNvPr id="17" name="Rounded Rectangle 16"/>
          <p:cNvSpPr/>
          <p:nvPr/>
        </p:nvSpPr>
        <p:spPr>
          <a:xfrm>
            <a:off x="566928" y="5760720"/>
            <a:ext cx="3931920" cy="566928"/>
          </a:xfrm>
          <a:prstGeom prst="roundRect">
            <a:avLst/>
          </a:prstGeom>
          <a:solidFill>
            <a:srgbClr val="FBEEE7"/>
          </a:solidFill>
          <a:ln w="9525">
            <a:solidFill>
              <a:srgbClr val="F2C9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5843016"/>
            <a:ext cx="3721607" cy="457200"/>
          </a:xfrm>
          <a:prstGeom prst="rect">
            <a:avLst/>
          </a:prstGeom>
          <a:noFill/>
        </p:spPr>
        <p:txBody>
          <a:bodyPr wrap="square" anchor="ctr" lIns="0" rIns="0" tIns="0" bIns="0">
            <a:spAutoFit/>
          </a:bodyPr>
          <a:lstStyle/>
          <a:p>
            <a:pPr algn="l">
              <a:lnSpc>
                <a:spcPct val="108000"/>
              </a:lnSpc>
              <a:spcBef>
                <a:spcPts val="0"/>
              </a:spcBef>
              <a:spcAft>
                <a:spcPts val="400"/>
              </a:spcAft>
            </a:pPr>
            <a:r>
              <a:rPr sz="1050" b="1" i="0">
                <a:solidFill>
                  <a:srgbClr val="D9521C"/>
                </a:solidFill>
                <a:latin typeface="Hanken Grotesk"/>
              </a:rPr>
              <a:t>Tip   </a:t>
            </a:r>
            <a:r>
              <a:rPr sz="1050" b="0" i="0">
                <a:solidFill>
                  <a:srgbClr val="3B4A63"/>
                </a:solidFill>
                <a:latin typeface="Hanken Grotesk"/>
              </a:rPr>
              <a:t>Best case and billing save on their own as you type, so nothing is lost.</a:t>
            </a:r>
          </a:p>
        </p:txBody>
      </p:sp>
      <p:sp>
        <p:nvSpPr>
          <p:cNvPr id="19" name="Rounded Rectangle 18"/>
          <p:cNvSpPr/>
          <p:nvPr/>
        </p:nvSpPr>
        <p:spPr>
          <a:xfrm>
            <a:off x="4672583" y="1192149"/>
            <a:ext cx="7040880" cy="440055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17720" y="1118997"/>
            <a:ext cx="7040880" cy="440055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04-overall-budget.png"/>
          <p:cNvPicPr>
            <a:picLocks noChangeAspect="1"/>
          </p:cNvPicPr>
          <p:nvPr/>
        </p:nvPicPr>
        <p:blipFill>
          <a:blip r:embed="rId2"/>
          <a:stretch>
            <a:fillRect/>
          </a:stretch>
        </p:blipFill>
        <p:spPr>
          <a:xfrm>
            <a:off x="4617720" y="1118997"/>
            <a:ext cx="7040880" cy="4400550"/>
          </a:xfrm>
          <a:prstGeom prst="rect">
            <a:avLst/>
          </a:prstGeom>
          <a:ln w="12700">
            <a:solidFill>
              <a:srgbClr val="D6DBE3"/>
            </a:solidFill>
          </a:ln>
        </p:spPr>
      </p:pic>
      <p:sp>
        <p:nvSpPr>
          <p:cNvPr id="22" name="Rectangle 21"/>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Group Head Guide</a:t>
            </a:r>
          </a:p>
        </p:txBody>
      </p:sp>
      <p:sp>
        <p:nvSpPr>
          <p:cNvPr id="24" name="TextBox 23"/>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PLANNING &amp; FORECASTING</a:t>
            </a:r>
          </a:p>
        </p:txBody>
      </p:sp>
      <p:sp>
        <p:nvSpPr>
          <p:cNvPr id="25" name="TextBox 24"/>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22 /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48840"/>
            <a:ext cx="2743200" cy="1280160"/>
          </a:xfrm>
          <a:prstGeom prst="rect">
            <a:avLst/>
          </a:prstGeom>
          <a:noFill/>
        </p:spPr>
        <p:txBody>
          <a:bodyPr wrap="square" anchor="t" lIns="0" rIns="0" tIns="0" bIns="0">
            <a:spAutoFit/>
          </a:bodyPr>
          <a:lstStyle/>
          <a:p>
            <a:pPr algn="l">
              <a:lnSpc>
                <a:spcPct val="100000"/>
              </a:lnSpc>
              <a:spcBef>
                <a:spcPts val="0"/>
              </a:spcBef>
              <a:spcAft>
                <a:spcPts val="400"/>
              </a:spcAft>
            </a:pPr>
            <a:r>
              <a:rPr sz="9200" b="1" i="1">
                <a:solidFill>
                  <a:srgbClr val="243452"/>
                </a:solidFill>
                <a:latin typeface="Newsreader"/>
              </a:rPr>
              <a:t>04</a:t>
            </a:r>
          </a:p>
        </p:txBody>
      </p:sp>
      <p:sp>
        <p:nvSpPr>
          <p:cNvPr id="5" name="TextBox 4"/>
          <p:cNvSpPr txBox="1"/>
          <p:nvPr/>
        </p:nvSpPr>
        <p:spPr>
          <a:xfrm>
            <a:off x="2514600" y="2240280"/>
            <a:ext cx="8686800" cy="457200"/>
          </a:xfrm>
          <a:prstGeom prst="rect">
            <a:avLst/>
          </a:prstGeom>
          <a:noFill/>
        </p:spPr>
        <p:txBody>
          <a:bodyPr wrap="square" anchor="t" lIns="0" rIns="0" tIns="0" bIns="0">
            <a:spAutoFit/>
          </a:bodyPr>
          <a:lstStyle/>
          <a:p>
            <a:pPr algn="l">
              <a:lnSpc>
                <a:spcPct val="100000"/>
              </a:lnSpc>
              <a:spcBef>
                <a:spcPts val="0"/>
              </a:spcBef>
              <a:spcAft>
                <a:spcPts val="400"/>
              </a:spcAft>
            </a:pPr>
            <a:r>
              <a:rPr sz="1300" b="1" i="0" spc="240">
                <a:solidFill>
                  <a:srgbClr val="F0703F"/>
                </a:solidFill>
                <a:latin typeface="Hanken Grotesk"/>
              </a:rPr>
              <a:t>COLLABORATION &amp; ACCOUNT</a:t>
            </a:r>
          </a:p>
        </p:txBody>
      </p:sp>
      <p:sp>
        <p:nvSpPr>
          <p:cNvPr id="6" name="TextBox 5"/>
          <p:cNvSpPr txBox="1"/>
          <p:nvPr/>
        </p:nvSpPr>
        <p:spPr>
          <a:xfrm>
            <a:off x="2487168" y="2651760"/>
            <a:ext cx="8869680" cy="1280160"/>
          </a:xfrm>
          <a:prstGeom prst="rect">
            <a:avLst/>
          </a:prstGeom>
          <a:noFill/>
        </p:spPr>
        <p:txBody>
          <a:bodyPr wrap="square" anchor="t" lIns="0" rIns="0" tIns="0" bIns="0">
            <a:spAutoFit/>
          </a:bodyPr>
          <a:lstStyle/>
          <a:p>
            <a:pPr algn="l">
              <a:lnSpc>
                <a:spcPct val="102000"/>
              </a:lnSpc>
              <a:spcBef>
                <a:spcPts val="0"/>
              </a:spcBef>
              <a:spcAft>
                <a:spcPts val="400"/>
              </a:spcAft>
            </a:pPr>
            <a:r>
              <a:rPr sz="4000" b="1" i="0">
                <a:solidFill>
                  <a:srgbClr val="FFFFFF"/>
                </a:solidFill>
                <a:latin typeface="Hanken Grotesk"/>
              </a:rPr>
              <a:t>Working with the
media team</a:t>
            </a:r>
          </a:p>
        </p:txBody>
      </p:sp>
      <p:sp>
        <p:nvSpPr>
          <p:cNvPr id="7" name="TextBox 6"/>
          <p:cNvSpPr txBox="1"/>
          <p:nvPr/>
        </p:nvSpPr>
        <p:spPr>
          <a:xfrm>
            <a:off x="2514600" y="3977639"/>
            <a:ext cx="7955279" cy="914400"/>
          </a:xfrm>
          <a:prstGeom prst="rect">
            <a:avLst/>
          </a:prstGeom>
          <a:noFill/>
        </p:spPr>
        <p:txBody>
          <a:bodyPr wrap="square" anchor="t" lIns="0" rIns="0" tIns="0" bIns="0">
            <a:spAutoFit/>
          </a:bodyPr>
          <a:lstStyle/>
          <a:p>
            <a:pPr algn="l">
              <a:lnSpc>
                <a:spcPct val="120000"/>
              </a:lnSpc>
              <a:spcBef>
                <a:spcPts val="0"/>
              </a:spcBef>
              <a:spcAft>
                <a:spcPts val="400"/>
              </a:spcAft>
            </a:pPr>
            <a:r>
              <a:rPr sz="1450" b="0" i="0">
                <a:solidFill>
                  <a:srgbClr val="9FB0CE"/>
                </a:solidFill>
                <a:latin typeface="Hanken Grotesk"/>
              </a:rPr>
              <a:t>How proposals reach you, and how you keep your own account in order.</a:t>
            </a:r>
          </a:p>
        </p:txBody>
      </p:sp>
      <p:sp>
        <p:nvSpPr>
          <p:cNvPr id="8" name="Oval 7"/>
          <p:cNvSpPr/>
          <p:nvPr/>
        </p:nvSpPr>
        <p:spPr>
          <a:xfrm>
            <a:off x="10981944" y="466344"/>
            <a:ext cx="621792" cy="621792"/>
          </a:xfrm>
          <a:prstGeom prst="ellipse">
            <a:avLst/>
          </a:prstGeom>
          <a:noFill/>
          <a:ln w="12700">
            <a:solidFill>
              <a:srgbClr val="3A4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100084" y="584484"/>
            <a:ext cx="385511" cy="385511"/>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00084" y="566196"/>
            <a:ext cx="385511" cy="385511"/>
          </a:xfrm>
          <a:prstGeom prst="rect">
            <a:avLst/>
          </a:prstGeom>
          <a:noFill/>
        </p:spPr>
        <p:txBody>
          <a:bodyPr wrap="square" anchor="ctr" lIns="0" rIns="0" tIns="0" bIns="0">
            <a:spAutoFit/>
          </a:bodyPr>
          <a:lstStyle/>
          <a:p>
            <a:pPr algn="ctr">
              <a:lnSpc>
                <a:spcPct val="100000"/>
              </a:lnSpc>
              <a:spcBef>
                <a:spcPts val="0"/>
              </a:spcBef>
              <a:spcAft>
                <a:spcPts val="400"/>
              </a:spcAft>
            </a:pPr>
            <a:r>
              <a:rPr sz="800" b="1" i="0">
                <a:solidFill>
                  <a:srgbClr val="FFFFFF"/>
                </a:solidFill>
                <a:latin typeface="Hanken Grotesk"/>
              </a:rPr>
              <a:t>O</a:t>
            </a:r>
          </a:p>
        </p:txBody>
      </p:sp>
      <p:sp>
        <p:nvSpPr>
          <p:cNvPr id="11" name="Oval 10"/>
          <p:cNvSpPr/>
          <p:nvPr/>
        </p:nvSpPr>
        <p:spPr>
          <a:xfrm>
            <a:off x="11485595" y="484997"/>
            <a:ext cx="99486" cy="99486"/>
          </a:xfrm>
          <a:prstGeom prst="ellipse">
            <a:avLst/>
          </a:prstGeom>
          <a:solidFill>
            <a:srgbClr val="F07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308384" y="1013520"/>
            <a:ext cx="62179" cy="62179"/>
          </a:xfrm>
          <a:prstGeom prst="ellipse">
            <a:avLst/>
          </a:prstGeom>
          <a:solidFill>
            <a:srgbClr val="6E8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603504"/>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49808"/>
            <a:ext cx="370332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MEDIA PACKAGES</a:t>
            </a:r>
          </a:p>
        </p:txBody>
      </p:sp>
      <p:sp>
        <p:nvSpPr>
          <p:cNvPr id="6" name="TextBox 5"/>
          <p:cNvSpPr txBox="1"/>
          <p:nvPr/>
        </p:nvSpPr>
        <p:spPr>
          <a:xfrm>
            <a:off x="548640" y="1060704"/>
            <a:ext cx="3721607" cy="11887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16243C"/>
                </a:solidFill>
                <a:latin typeface="Hanken Grotesk"/>
              </a:rPr>
              <a:t>Media packages</a:t>
            </a:r>
          </a:p>
        </p:txBody>
      </p:sp>
      <p:sp>
        <p:nvSpPr>
          <p:cNvPr id="7" name="TextBox 6"/>
          <p:cNvSpPr txBox="1"/>
          <p:nvPr/>
        </p:nvSpPr>
        <p:spPr>
          <a:xfrm>
            <a:off x="566928" y="1645919"/>
            <a:ext cx="3685032" cy="1188720"/>
          </a:xfrm>
          <a:prstGeom prst="rect">
            <a:avLst/>
          </a:prstGeom>
          <a:noFill/>
        </p:spPr>
        <p:txBody>
          <a:bodyPr wrap="square" anchor="t" lIns="0" rIns="0" tIns="0" bIns="0">
            <a:spAutoFit/>
          </a:bodyPr>
          <a:lstStyle/>
          <a:p>
            <a:pPr algn="l">
              <a:lnSpc>
                <a:spcPct val="118000"/>
              </a:lnSpc>
              <a:spcBef>
                <a:spcPts val="0"/>
              </a:spcBef>
              <a:spcAft>
                <a:spcPts val="400"/>
              </a:spcAft>
            </a:pPr>
            <a:r>
              <a:rPr sz="1250" b="0" i="0">
                <a:solidFill>
                  <a:srgbClr val="3B4A63"/>
                </a:solidFill>
                <a:latin typeface="Hanken Grotesk"/>
              </a:rPr>
              <a:t>When the media team negotiates a bundle, it arrives here for you to review and respond to.</a:t>
            </a:r>
          </a:p>
        </p:txBody>
      </p:sp>
      <p:sp>
        <p:nvSpPr>
          <p:cNvPr id="8" name="TextBox 7"/>
          <p:cNvSpPr txBox="1"/>
          <p:nvPr/>
        </p:nvSpPr>
        <p:spPr>
          <a:xfrm>
            <a:off x="566928" y="2295144"/>
            <a:ext cx="370332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1" i="0" spc="120">
                <a:solidFill>
                  <a:srgbClr val="6B7790"/>
                </a:solidFill>
                <a:latin typeface="Hanken Grotesk"/>
              </a:rPr>
              <a:t>WHAT YOU CAN DO HERE</a:t>
            </a:r>
          </a:p>
        </p:txBody>
      </p:sp>
      <p:sp>
        <p:nvSpPr>
          <p:cNvPr id="9" name="Oval 8"/>
          <p:cNvSpPr/>
          <p:nvPr/>
        </p:nvSpPr>
        <p:spPr>
          <a:xfrm>
            <a:off x="603504" y="2688335"/>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624327"/>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Read the channels and rates in each package</a:t>
            </a:r>
          </a:p>
        </p:txBody>
      </p:sp>
      <p:sp>
        <p:nvSpPr>
          <p:cNvPr id="11" name="Oval 10"/>
          <p:cNvSpPr/>
          <p:nvPr/>
        </p:nvSpPr>
        <p:spPr>
          <a:xfrm>
            <a:off x="603504" y="3017519"/>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953511"/>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Reply Interested, Open to negotiate or Not interested</a:t>
            </a:r>
          </a:p>
        </p:txBody>
      </p:sp>
      <p:sp>
        <p:nvSpPr>
          <p:cNvPr id="13" name="Oval 12"/>
          <p:cNvSpPr/>
          <p:nvPr/>
        </p:nvSpPr>
        <p:spPr>
          <a:xfrm>
            <a:off x="603504" y="3552443"/>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488435"/>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Flag exactly which of your clients are keen</a:t>
            </a:r>
          </a:p>
        </p:txBody>
      </p:sp>
      <p:sp>
        <p:nvSpPr>
          <p:cNvPr id="15" name="Oval 14"/>
          <p:cNvSpPr/>
          <p:nvPr/>
        </p:nvSpPr>
        <p:spPr>
          <a:xfrm>
            <a:off x="603504" y="3881628"/>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817620"/>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Add a budget note or comment for the team</a:t>
            </a:r>
          </a:p>
        </p:txBody>
      </p:sp>
      <p:sp>
        <p:nvSpPr>
          <p:cNvPr id="17" name="Rounded Rectangle 16"/>
          <p:cNvSpPr/>
          <p:nvPr/>
        </p:nvSpPr>
        <p:spPr>
          <a:xfrm>
            <a:off x="566928" y="5760720"/>
            <a:ext cx="3931920" cy="566928"/>
          </a:xfrm>
          <a:prstGeom prst="roundRect">
            <a:avLst/>
          </a:prstGeom>
          <a:solidFill>
            <a:srgbClr val="FBEEE7"/>
          </a:solidFill>
          <a:ln w="9525">
            <a:solidFill>
              <a:srgbClr val="F2C9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5843016"/>
            <a:ext cx="3721607" cy="457200"/>
          </a:xfrm>
          <a:prstGeom prst="rect">
            <a:avLst/>
          </a:prstGeom>
          <a:noFill/>
        </p:spPr>
        <p:txBody>
          <a:bodyPr wrap="square" anchor="ctr" lIns="0" rIns="0" tIns="0" bIns="0">
            <a:spAutoFit/>
          </a:bodyPr>
          <a:lstStyle/>
          <a:p>
            <a:pPr algn="l">
              <a:lnSpc>
                <a:spcPct val="108000"/>
              </a:lnSpc>
              <a:spcBef>
                <a:spcPts val="0"/>
              </a:spcBef>
              <a:spcAft>
                <a:spcPts val="400"/>
              </a:spcAft>
            </a:pPr>
            <a:r>
              <a:rPr sz="1050" b="1" i="0">
                <a:solidFill>
                  <a:srgbClr val="D9521C"/>
                </a:solidFill>
                <a:latin typeface="Hanken Grotesk"/>
              </a:rPr>
              <a:t>Tip   </a:t>
            </a:r>
            <a:r>
              <a:rPr sz="1050" b="0" i="0">
                <a:solidFill>
                  <a:srgbClr val="3B4A63"/>
                </a:solidFill>
                <a:latin typeface="Hanken Grotesk"/>
              </a:rPr>
              <a:t>Your response and follow up status are visible to the media team instantly.</a:t>
            </a:r>
          </a:p>
        </p:txBody>
      </p:sp>
      <p:sp>
        <p:nvSpPr>
          <p:cNvPr id="19" name="Rounded Rectangle 18"/>
          <p:cNvSpPr/>
          <p:nvPr/>
        </p:nvSpPr>
        <p:spPr>
          <a:xfrm>
            <a:off x="4672583" y="1192149"/>
            <a:ext cx="7040880" cy="440055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617720" y="1118997"/>
            <a:ext cx="7040880" cy="440055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13-my-packages.png"/>
          <p:cNvPicPr>
            <a:picLocks noChangeAspect="1"/>
          </p:cNvPicPr>
          <p:nvPr/>
        </p:nvPicPr>
        <p:blipFill>
          <a:blip r:embed="rId2"/>
          <a:stretch>
            <a:fillRect/>
          </a:stretch>
        </p:blipFill>
        <p:spPr>
          <a:xfrm>
            <a:off x="4617720" y="1118997"/>
            <a:ext cx="7040880" cy="4400550"/>
          </a:xfrm>
          <a:prstGeom prst="rect">
            <a:avLst/>
          </a:prstGeom>
          <a:ln w="12700">
            <a:solidFill>
              <a:srgbClr val="D6DBE3"/>
            </a:solidFill>
          </a:ln>
        </p:spPr>
      </p:pic>
      <p:sp>
        <p:nvSpPr>
          <p:cNvPr id="22" name="Rectangle 21"/>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Group Head Guide</a:t>
            </a:r>
          </a:p>
        </p:txBody>
      </p:sp>
      <p:sp>
        <p:nvSpPr>
          <p:cNvPr id="24" name="TextBox 23"/>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COLLABORATION &amp; ACCOUNT</a:t>
            </a:r>
          </a:p>
        </p:txBody>
      </p:sp>
      <p:sp>
        <p:nvSpPr>
          <p:cNvPr id="25" name="TextBox 24"/>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24 /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603504"/>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749808"/>
            <a:ext cx="370332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PROFILE</a:t>
            </a:r>
          </a:p>
        </p:txBody>
      </p:sp>
      <p:sp>
        <p:nvSpPr>
          <p:cNvPr id="6" name="TextBox 5"/>
          <p:cNvSpPr txBox="1"/>
          <p:nvPr/>
        </p:nvSpPr>
        <p:spPr>
          <a:xfrm>
            <a:off x="548640" y="1060704"/>
            <a:ext cx="3721607" cy="1188720"/>
          </a:xfrm>
          <a:prstGeom prst="rect">
            <a:avLst/>
          </a:prstGeom>
          <a:noFill/>
        </p:spPr>
        <p:txBody>
          <a:bodyPr wrap="square" anchor="t" lIns="0" rIns="0" tIns="0" bIns="0">
            <a:spAutoFit/>
          </a:bodyPr>
          <a:lstStyle/>
          <a:p>
            <a:pPr algn="l">
              <a:lnSpc>
                <a:spcPct val="100000"/>
              </a:lnSpc>
              <a:spcBef>
                <a:spcPts val="0"/>
              </a:spcBef>
              <a:spcAft>
                <a:spcPts val="400"/>
              </a:spcAft>
            </a:pPr>
            <a:r>
              <a:rPr sz="2600" b="1" i="0">
                <a:solidFill>
                  <a:srgbClr val="16243C"/>
                </a:solidFill>
                <a:latin typeface="Hanken Grotesk"/>
              </a:rPr>
              <a:t>Your profile and security</a:t>
            </a:r>
          </a:p>
        </p:txBody>
      </p:sp>
      <p:sp>
        <p:nvSpPr>
          <p:cNvPr id="7" name="TextBox 6"/>
          <p:cNvSpPr txBox="1"/>
          <p:nvPr/>
        </p:nvSpPr>
        <p:spPr>
          <a:xfrm>
            <a:off x="566928" y="2029968"/>
            <a:ext cx="3685032" cy="1188720"/>
          </a:xfrm>
          <a:prstGeom prst="rect">
            <a:avLst/>
          </a:prstGeom>
          <a:noFill/>
        </p:spPr>
        <p:txBody>
          <a:bodyPr wrap="square" anchor="t" lIns="0" rIns="0" tIns="0" bIns="0">
            <a:spAutoFit/>
          </a:bodyPr>
          <a:lstStyle/>
          <a:p>
            <a:pPr algn="l">
              <a:lnSpc>
                <a:spcPct val="118000"/>
              </a:lnSpc>
              <a:spcBef>
                <a:spcPts val="0"/>
              </a:spcBef>
              <a:spcAft>
                <a:spcPts val="400"/>
              </a:spcAft>
            </a:pPr>
            <a:r>
              <a:rPr sz="1250" b="0" i="0">
                <a:solidFill>
                  <a:srgbClr val="3B4A63"/>
                </a:solidFill>
                <a:latin typeface="Hanken Grotesk"/>
              </a:rPr>
              <a:t>Keep your own details current and your account secure from a single screen.</a:t>
            </a:r>
          </a:p>
        </p:txBody>
      </p:sp>
      <p:sp>
        <p:nvSpPr>
          <p:cNvPr id="8" name="TextBox 7"/>
          <p:cNvSpPr txBox="1"/>
          <p:nvPr/>
        </p:nvSpPr>
        <p:spPr>
          <a:xfrm>
            <a:off x="566928" y="2679192"/>
            <a:ext cx="3703320" cy="274320"/>
          </a:xfrm>
          <a:prstGeom prst="rect">
            <a:avLst/>
          </a:prstGeom>
          <a:noFill/>
        </p:spPr>
        <p:txBody>
          <a:bodyPr wrap="square" anchor="t" lIns="0" rIns="0" tIns="0" bIns="0">
            <a:spAutoFit/>
          </a:bodyPr>
          <a:lstStyle/>
          <a:p>
            <a:pPr algn="l">
              <a:lnSpc>
                <a:spcPct val="100000"/>
              </a:lnSpc>
              <a:spcBef>
                <a:spcPts val="0"/>
              </a:spcBef>
              <a:spcAft>
                <a:spcPts val="400"/>
              </a:spcAft>
            </a:pPr>
            <a:r>
              <a:rPr sz="950" b="1" i="0" spc="120">
                <a:solidFill>
                  <a:srgbClr val="6B7790"/>
                </a:solidFill>
                <a:latin typeface="Hanken Grotesk"/>
              </a:rPr>
              <a:t>WHAT YOU CAN DO HERE</a:t>
            </a:r>
          </a:p>
        </p:txBody>
      </p:sp>
      <p:sp>
        <p:nvSpPr>
          <p:cNvPr id="9" name="Oval 8"/>
          <p:cNvSpPr/>
          <p:nvPr/>
        </p:nvSpPr>
        <p:spPr>
          <a:xfrm>
            <a:off x="603504" y="3072384"/>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008376"/>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Review your name, role and contact email</a:t>
            </a:r>
          </a:p>
        </p:txBody>
      </p:sp>
      <p:sp>
        <p:nvSpPr>
          <p:cNvPr id="11" name="Oval 10"/>
          <p:cNvSpPr/>
          <p:nvPr/>
        </p:nvSpPr>
        <p:spPr>
          <a:xfrm>
            <a:off x="603504" y="3401568"/>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37560"/>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Change your password whenever you need to</a:t>
            </a:r>
          </a:p>
        </p:txBody>
      </p:sp>
      <p:sp>
        <p:nvSpPr>
          <p:cNvPr id="13" name="Oval 12"/>
          <p:cNvSpPr/>
          <p:nvPr/>
        </p:nvSpPr>
        <p:spPr>
          <a:xfrm>
            <a:off x="603504" y="3730752"/>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66744"/>
            <a:ext cx="3429000" cy="731520"/>
          </a:xfrm>
          <a:prstGeom prst="rect">
            <a:avLst/>
          </a:prstGeom>
          <a:noFill/>
        </p:spPr>
        <p:txBody>
          <a:bodyPr wrap="square" anchor="t" lIns="0" rIns="0" tIns="0" bIns="0">
            <a:spAutoFit/>
          </a:bodyPr>
          <a:lstStyle/>
          <a:p>
            <a:pPr algn="l">
              <a:lnSpc>
                <a:spcPct val="110000"/>
              </a:lnSpc>
              <a:spcBef>
                <a:spcPts val="0"/>
              </a:spcBef>
              <a:spcAft>
                <a:spcPts val="400"/>
              </a:spcAft>
            </a:pPr>
            <a:r>
              <a:rPr sz="1200" b="0" i="0">
                <a:solidFill>
                  <a:srgbClr val="16243C"/>
                </a:solidFill>
                <a:latin typeface="Hanken Grotesk"/>
              </a:rPr>
              <a:t>Sign out safely from any device</a:t>
            </a:r>
          </a:p>
        </p:txBody>
      </p:sp>
      <p:sp>
        <p:nvSpPr>
          <p:cNvPr id="15" name="Rounded Rectangle 14"/>
          <p:cNvSpPr/>
          <p:nvPr/>
        </p:nvSpPr>
        <p:spPr>
          <a:xfrm>
            <a:off x="4672583" y="1192149"/>
            <a:ext cx="7040880" cy="4400550"/>
          </a:xfrm>
          <a:prstGeom prst="roundRect">
            <a:avLst>
              <a:gd name="adj" fmla="val 2000"/>
            </a:avLst>
          </a:prstGeom>
          <a:solidFill>
            <a:srgbClr val="DD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17720" y="1118997"/>
            <a:ext cx="7040880" cy="4400550"/>
          </a:xfrm>
          <a:prstGeom prst="roundRect">
            <a:avLst>
              <a:gd name="adj" fmla="val 2000"/>
            </a:avLst>
          </a:prstGeom>
          <a:solidFill>
            <a:srgbClr val="FFFFFF"/>
          </a:solidFill>
          <a:ln w="12700">
            <a:solidFill>
              <a:srgbClr val="D6DB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14-profile.png"/>
          <p:cNvPicPr>
            <a:picLocks noChangeAspect="1"/>
          </p:cNvPicPr>
          <p:nvPr/>
        </p:nvPicPr>
        <p:blipFill>
          <a:blip r:embed="rId2"/>
          <a:stretch>
            <a:fillRect/>
          </a:stretch>
        </p:blipFill>
        <p:spPr>
          <a:xfrm>
            <a:off x="4617720" y="1118997"/>
            <a:ext cx="7040880" cy="4400550"/>
          </a:xfrm>
          <a:prstGeom prst="rect">
            <a:avLst/>
          </a:prstGeom>
          <a:ln w="12700">
            <a:solidFill>
              <a:srgbClr val="D6DBE3"/>
            </a:solidFill>
          </a:ln>
        </p:spPr>
      </p:pic>
      <p:sp>
        <p:nvSpPr>
          <p:cNvPr id="18" name="Rectangle 17"/>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Group Head Guide</a:t>
            </a:r>
          </a:p>
        </p:txBody>
      </p:sp>
      <p:sp>
        <p:nvSpPr>
          <p:cNvPr id="20" name="TextBox 19"/>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COLLABORATION &amp; ACCOUNT</a:t>
            </a:r>
          </a:p>
        </p:txBody>
      </p:sp>
      <p:sp>
        <p:nvSpPr>
          <p:cNvPr id="21" name="TextBox 20"/>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25 /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640080"/>
            <a:ext cx="384048" cy="5029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786384"/>
            <a:ext cx="10058400" cy="365760"/>
          </a:xfrm>
          <a:prstGeom prst="rect">
            <a:avLst/>
          </a:prstGeom>
          <a:noFill/>
        </p:spPr>
        <p:txBody>
          <a:bodyPr wrap="square" anchor="t" lIns="0" rIns="0" tIns="0" bIns="0">
            <a:spAutoFit/>
          </a:bodyPr>
          <a:lstStyle/>
          <a:p>
            <a:pPr algn="l">
              <a:lnSpc>
                <a:spcPct val="100000"/>
              </a:lnSpc>
              <a:spcBef>
                <a:spcPts val="0"/>
              </a:spcBef>
              <a:spcAft>
                <a:spcPts val="400"/>
              </a:spcAft>
            </a:pPr>
            <a:r>
              <a:rPr sz="1100" b="1" i="0" spc="180">
                <a:solidFill>
                  <a:srgbClr val="D9521C"/>
                </a:solidFill>
                <a:latin typeface="Hanken Grotesk"/>
              </a:rPr>
              <a:t>A SIMPLE RHYTHM</a:t>
            </a:r>
          </a:p>
        </p:txBody>
      </p:sp>
      <p:sp>
        <p:nvSpPr>
          <p:cNvPr id="5" name="TextBox 4"/>
          <p:cNvSpPr txBox="1"/>
          <p:nvPr/>
        </p:nvSpPr>
        <p:spPr>
          <a:xfrm>
            <a:off x="548640" y="1097280"/>
            <a:ext cx="10972800" cy="640080"/>
          </a:xfrm>
          <a:prstGeom prst="rect">
            <a:avLst/>
          </a:prstGeom>
          <a:noFill/>
        </p:spPr>
        <p:txBody>
          <a:bodyPr wrap="square" anchor="t" lIns="0" rIns="0" tIns="0" bIns="0">
            <a:spAutoFit/>
          </a:bodyPr>
          <a:lstStyle/>
          <a:p>
            <a:pPr algn="l">
              <a:lnSpc>
                <a:spcPct val="100000"/>
              </a:lnSpc>
              <a:spcBef>
                <a:spcPts val="0"/>
              </a:spcBef>
              <a:spcAft>
                <a:spcPts val="400"/>
              </a:spcAft>
            </a:pPr>
            <a:r>
              <a:rPr sz="3000" b="1" i="0">
                <a:solidFill>
                  <a:srgbClr val="16243C"/>
                </a:solidFill>
                <a:latin typeface="Hanken Grotesk"/>
              </a:rPr>
              <a:t>Your month in Orbit</a:t>
            </a:r>
          </a:p>
        </p:txBody>
      </p:sp>
      <p:sp>
        <p:nvSpPr>
          <p:cNvPr id="6" name="TextBox 5"/>
          <p:cNvSpPr txBox="1"/>
          <p:nvPr/>
        </p:nvSpPr>
        <p:spPr>
          <a:xfrm>
            <a:off x="566928" y="1810512"/>
            <a:ext cx="10698480" cy="548640"/>
          </a:xfrm>
          <a:prstGeom prst="rect">
            <a:avLst/>
          </a:prstGeom>
          <a:noFill/>
        </p:spPr>
        <p:txBody>
          <a:bodyPr wrap="square" anchor="t" lIns="0" rIns="0" tIns="0" bIns="0">
            <a:spAutoFit/>
          </a:bodyPr>
          <a:lstStyle/>
          <a:p>
            <a:pPr algn="l">
              <a:lnSpc>
                <a:spcPct val="120000"/>
              </a:lnSpc>
              <a:spcBef>
                <a:spcPts val="0"/>
              </a:spcBef>
              <a:spcAft>
                <a:spcPts val="400"/>
              </a:spcAft>
            </a:pPr>
            <a:r>
              <a:rPr sz="1400" b="0" i="0">
                <a:solidFill>
                  <a:srgbClr val="3B4A63"/>
                </a:solidFill>
                <a:latin typeface="Hanken Grotesk"/>
              </a:rPr>
              <a:t>Four light habits keep your accounts accurate and your planning effortless.</a:t>
            </a:r>
          </a:p>
        </p:txBody>
      </p:sp>
      <p:sp>
        <p:nvSpPr>
          <p:cNvPr id="7" name="Rounded Rectangle 6"/>
          <p:cNvSpPr/>
          <p:nvPr/>
        </p:nvSpPr>
        <p:spPr>
          <a:xfrm>
            <a:off x="566928" y="2788920"/>
            <a:ext cx="2651760" cy="2788920"/>
          </a:xfrm>
          <a:prstGeom prst="roundRect">
            <a:avLst>
              <a:gd name="adj" fmla="val 5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9536" y="3118103"/>
            <a:ext cx="786384" cy="786384"/>
          </a:xfrm>
          <a:prstGeom prst="ellipse">
            <a:avLst/>
          </a:prstGeom>
          <a:solidFill>
            <a:srgbClr val="0A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3118103"/>
            <a:ext cx="786384" cy="786384"/>
          </a:xfrm>
          <a:prstGeom prst="rect">
            <a:avLst/>
          </a:prstGeom>
          <a:noFill/>
        </p:spPr>
        <p:txBody>
          <a:bodyPr wrap="square" anchor="ctr" lIns="0" rIns="0" tIns="0" bIns="0">
            <a:spAutoFit/>
          </a:bodyPr>
          <a:lstStyle/>
          <a:p>
            <a:pPr algn="ctr">
              <a:lnSpc>
                <a:spcPct val="100000"/>
              </a:lnSpc>
              <a:spcBef>
                <a:spcPts val="0"/>
              </a:spcBef>
              <a:spcAft>
                <a:spcPts val="400"/>
              </a:spcAft>
            </a:pPr>
            <a:r>
              <a:rPr sz="2600" b="1" i="1">
                <a:solidFill>
                  <a:srgbClr val="F0703F"/>
                </a:solidFill>
                <a:latin typeface="Newsreader"/>
              </a:rPr>
              <a:t>1</a:t>
            </a:r>
          </a:p>
        </p:txBody>
      </p:sp>
      <p:sp>
        <p:nvSpPr>
          <p:cNvPr id="10" name="TextBox 9"/>
          <p:cNvSpPr txBox="1"/>
          <p:nvPr/>
        </p:nvSpPr>
        <p:spPr>
          <a:xfrm>
            <a:off x="859536" y="4087368"/>
            <a:ext cx="2103120" cy="457200"/>
          </a:xfrm>
          <a:prstGeom prst="rect">
            <a:avLst/>
          </a:prstGeom>
          <a:noFill/>
        </p:spPr>
        <p:txBody>
          <a:bodyPr wrap="square" anchor="t" lIns="0" rIns="0" tIns="0" bIns="0">
            <a:spAutoFit/>
          </a:bodyPr>
          <a:lstStyle/>
          <a:p>
            <a:pPr algn="l">
              <a:lnSpc>
                <a:spcPct val="100000"/>
              </a:lnSpc>
              <a:spcBef>
                <a:spcPts val="0"/>
              </a:spcBef>
              <a:spcAft>
                <a:spcPts val="400"/>
              </a:spcAft>
            </a:pPr>
            <a:r>
              <a:rPr sz="1800" b="1" i="0">
                <a:solidFill>
                  <a:srgbClr val="16243C"/>
                </a:solidFill>
                <a:latin typeface="Hanken Grotesk"/>
              </a:rPr>
              <a:t>Log</a:t>
            </a:r>
          </a:p>
        </p:txBody>
      </p:sp>
      <p:sp>
        <p:nvSpPr>
          <p:cNvPr id="11" name="TextBox 10"/>
          <p:cNvSpPr txBox="1"/>
          <p:nvPr/>
        </p:nvSpPr>
        <p:spPr>
          <a:xfrm>
            <a:off x="859536" y="4544568"/>
            <a:ext cx="2148839" cy="1005840"/>
          </a:xfrm>
          <a:prstGeom prst="rect">
            <a:avLst/>
          </a:prstGeom>
          <a:noFill/>
        </p:spPr>
        <p:txBody>
          <a:bodyPr wrap="square" anchor="t" lIns="0" rIns="0" tIns="0" bIns="0">
            <a:spAutoFit/>
          </a:bodyPr>
          <a:lstStyle/>
          <a:p>
            <a:pPr algn="l">
              <a:lnSpc>
                <a:spcPct val="118000"/>
              </a:lnSpc>
              <a:spcBef>
                <a:spcPts val="0"/>
              </a:spcBef>
              <a:spcAft>
                <a:spcPts val="400"/>
              </a:spcAft>
            </a:pPr>
            <a:r>
              <a:rPr sz="1150" b="0" i="0">
                <a:solidFill>
                  <a:srgbClr val="3B4A63"/>
                </a:solidFill>
                <a:latin typeface="Hanken Grotesk"/>
              </a:rPr>
              <a:t>Upload or paste each client's schedule as it is confirmed, so records stay current.</a:t>
            </a:r>
          </a:p>
        </p:txBody>
      </p:sp>
      <p:sp>
        <p:nvSpPr>
          <p:cNvPr id="12" name="Rounded Rectangle 11"/>
          <p:cNvSpPr/>
          <p:nvPr/>
        </p:nvSpPr>
        <p:spPr>
          <a:xfrm>
            <a:off x="3493008" y="2788920"/>
            <a:ext cx="2651760" cy="2788920"/>
          </a:xfrm>
          <a:prstGeom prst="roundRect">
            <a:avLst>
              <a:gd name="adj" fmla="val 5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785615" y="3118103"/>
            <a:ext cx="786384" cy="786384"/>
          </a:xfrm>
          <a:prstGeom prst="ellipse">
            <a:avLst/>
          </a:prstGeom>
          <a:solidFill>
            <a:srgbClr val="0A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85615" y="3118103"/>
            <a:ext cx="786384" cy="786384"/>
          </a:xfrm>
          <a:prstGeom prst="rect">
            <a:avLst/>
          </a:prstGeom>
          <a:noFill/>
        </p:spPr>
        <p:txBody>
          <a:bodyPr wrap="square" anchor="ctr" lIns="0" rIns="0" tIns="0" bIns="0">
            <a:spAutoFit/>
          </a:bodyPr>
          <a:lstStyle/>
          <a:p>
            <a:pPr algn="ctr">
              <a:lnSpc>
                <a:spcPct val="100000"/>
              </a:lnSpc>
              <a:spcBef>
                <a:spcPts val="0"/>
              </a:spcBef>
              <a:spcAft>
                <a:spcPts val="400"/>
              </a:spcAft>
            </a:pPr>
            <a:r>
              <a:rPr sz="2600" b="1" i="1">
                <a:solidFill>
                  <a:srgbClr val="F0703F"/>
                </a:solidFill>
                <a:latin typeface="Newsreader"/>
              </a:rPr>
              <a:t>2</a:t>
            </a:r>
          </a:p>
        </p:txBody>
      </p:sp>
      <p:sp>
        <p:nvSpPr>
          <p:cNvPr id="15" name="TextBox 14"/>
          <p:cNvSpPr txBox="1"/>
          <p:nvPr/>
        </p:nvSpPr>
        <p:spPr>
          <a:xfrm>
            <a:off x="3785615" y="4087368"/>
            <a:ext cx="2103120" cy="457200"/>
          </a:xfrm>
          <a:prstGeom prst="rect">
            <a:avLst/>
          </a:prstGeom>
          <a:noFill/>
        </p:spPr>
        <p:txBody>
          <a:bodyPr wrap="square" anchor="t" lIns="0" rIns="0" tIns="0" bIns="0">
            <a:spAutoFit/>
          </a:bodyPr>
          <a:lstStyle/>
          <a:p>
            <a:pPr algn="l">
              <a:lnSpc>
                <a:spcPct val="100000"/>
              </a:lnSpc>
              <a:spcBef>
                <a:spcPts val="0"/>
              </a:spcBef>
              <a:spcAft>
                <a:spcPts val="400"/>
              </a:spcAft>
            </a:pPr>
            <a:r>
              <a:rPr sz="1800" b="1" i="0">
                <a:solidFill>
                  <a:srgbClr val="16243C"/>
                </a:solidFill>
                <a:latin typeface="Hanken Grotesk"/>
              </a:rPr>
              <a:t>Read</a:t>
            </a:r>
          </a:p>
        </p:txBody>
      </p:sp>
      <p:sp>
        <p:nvSpPr>
          <p:cNvPr id="16" name="TextBox 15"/>
          <p:cNvSpPr txBox="1"/>
          <p:nvPr/>
        </p:nvSpPr>
        <p:spPr>
          <a:xfrm>
            <a:off x="3785615" y="4544568"/>
            <a:ext cx="2148839" cy="1005840"/>
          </a:xfrm>
          <a:prstGeom prst="rect">
            <a:avLst/>
          </a:prstGeom>
          <a:noFill/>
        </p:spPr>
        <p:txBody>
          <a:bodyPr wrap="square" anchor="t" lIns="0" rIns="0" tIns="0" bIns="0">
            <a:spAutoFit/>
          </a:bodyPr>
          <a:lstStyle/>
          <a:p>
            <a:pPr algn="l">
              <a:lnSpc>
                <a:spcPct val="118000"/>
              </a:lnSpc>
              <a:spcBef>
                <a:spcPts val="0"/>
              </a:spcBef>
              <a:spcAft>
                <a:spcPts val="400"/>
              </a:spcAft>
            </a:pPr>
            <a:r>
              <a:rPr sz="1150" b="0" i="0">
                <a:solidFill>
                  <a:srgbClr val="3B4A63"/>
                </a:solidFill>
                <a:latin typeface="Hanken Grotesk"/>
              </a:rPr>
              <a:t>Open Spend Analytics and your client dashboards before reviews to know your numbers.</a:t>
            </a:r>
          </a:p>
        </p:txBody>
      </p:sp>
      <p:sp>
        <p:nvSpPr>
          <p:cNvPr id="17" name="Rounded Rectangle 16"/>
          <p:cNvSpPr/>
          <p:nvPr/>
        </p:nvSpPr>
        <p:spPr>
          <a:xfrm>
            <a:off x="6419088" y="2788920"/>
            <a:ext cx="2651760" cy="2788920"/>
          </a:xfrm>
          <a:prstGeom prst="roundRect">
            <a:avLst>
              <a:gd name="adj" fmla="val 5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711696" y="3118103"/>
            <a:ext cx="786384" cy="786384"/>
          </a:xfrm>
          <a:prstGeom prst="ellipse">
            <a:avLst/>
          </a:prstGeom>
          <a:solidFill>
            <a:srgbClr val="0A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11696" y="3118103"/>
            <a:ext cx="786384" cy="786384"/>
          </a:xfrm>
          <a:prstGeom prst="rect">
            <a:avLst/>
          </a:prstGeom>
          <a:noFill/>
        </p:spPr>
        <p:txBody>
          <a:bodyPr wrap="square" anchor="ctr" lIns="0" rIns="0" tIns="0" bIns="0">
            <a:spAutoFit/>
          </a:bodyPr>
          <a:lstStyle/>
          <a:p>
            <a:pPr algn="ctr">
              <a:lnSpc>
                <a:spcPct val="100000"/>
              </a:lnSpc>
              <a:spcBef>
                <a:spcPts val="0"/>
              </a:spcBef>
              <a:spcAft>
                <a:spcPts val="400"/>
              </a:spcAft>
            </a:pPr>
            <a:r>
              <a:rPr sz="2600" b="1" i="1">
                <a:solidFill>
                  <a:srgbClr val="F0703F"/>
                </a:solidFill>
                <a:latin typeface="Newsreader"/>
              </a:rPr>
              <a:t>3</a:t>
            </a:r>
          </a:p>
        </p:txBody>
      </p:sp>
      <p:sp>
        <p:nvSpPr>
          <p:cNvPr id="20" name="TextBox 19"/>
          <p:cNvSpPr txBox="1"/>
          <p:nvPr/>
        </p:nvSpPr>
        <p:spPr>
          <a:xfrm>
            <a:off x="6711696" y="4087368"/>
            <a:ext cx="2103120" cy="457200"/>
          </a:xfrm>
          <a:prstGeom prst="rect">
            <a:avLst/>
          </a:prstGeom>
          <a:noFill/>
        </p:spPr>
        <p:txBody>
          <a:bodyPr wrap="square" anchor="t" lIns="0" rIns="0" tIns="0" bIns="0">
            <a:spAutoFit/>
          </a:bodyPr>
          <a:lstStyle/>
          <a:p>
            <a:pPr algn="l">
              <a:lnSpc>
                <a:spcPct val="100000"/>
              </a:lnSpc>
              <a:spcBef>
                <a:spcPts val="0"/>
              </a:spcBef>
              <a:spcAft>
                <a:spcPts val="400"/>
              </a:spcAft>
            </a:pPr>
            <a:r>
              <a:rPr sz="1800" b="1" i="0">
                <a:solidFill>
                  <a:srgbClr val="16243C"/>
                </a:solidFill>
                <a:latin typeface="Hanken Grotesk"/>
              </a:rPr>
              <a:t>Record</a:t>
            </a:r>
          </a:p>
        </p:txBody>
      </p:sp>
      <p:sp>
        <p:nvSpPr>
          <p:cNvPr id="21" name="TextBox 20"/>
          <p:cNvSpPr txBox="1"/>
          <p:nvPr/>
        </p:nvSpPr>
        <p:spPr>
          <a:xfrm>
            <a:off x="6711696" y="4544568"/>
            <a:ext cx="2148839" cy="1005840"/>
          </a:xfrm>
          <a:prstGeom prst="rect">
            <a:avLst/>
          </a:prstGeom>
          <a:noFill/>
        </p:spPr>
        <p:txBody>
          <a:bodyPr wrap="square" anchor="t" lIns="0" rIns="0" tIns="0" bIns="0">
            <a:spAutoFit/>
          </a:bodyPr>
          <a:lstStyle/>
          <a:p>
            <a:pPr algn="l">
              <a:lnSpc>
                <a:spcPct val="118000"/>
              </a:lnSpc>
              <a:spcBef>
                <a:spcPts val="0"/>
              </a:spcBef>
              <a:spcAft>
                <a:spcPts val="400"/>
              </a:spcAft>
            </a:pPr>
            <a:r>
              <a:rPr sz="1150" b="0" i="0">
                <a:solidFill>
                  <a:srgbClr val="3B4A63"/>
                </a:solidFill>
                <a:latin typeface="Hanken Grotesk"/>
              </a:rPr>
              <a:t>Capture negotiated deal terms and properties on the channel while they are fresh.</a:t>
            </a:r>
          </a:p>
        </p:txBody>
      </p:sp>
      <p:sp>
        <p:nvSpPr>
          <p:cNvPr id="22" name="Rounded Rectangle 21"/>
          <p:cNvSpPr/>
          <p:nvPr/>
        </p:nvSpPr>
        <p:spPr>
          <a:xfrm>
            <a:off x="9345167" y="2788920"/>
            <a:ext cx="2651760" cy="2788920"/>
          </a:xfrm>
          <a:prstGeom prst="roundRect">
            <a:avLst>
              <a:gd name="adj" fmla="val 5000"/>
            </a:avLst>
          </a:prstGeom>
          <a:solidFill>
            <a:srgbClr val="FFFFFF"/>
          </a:solidFill>
          <a:ln w="12700">
            <a:solidFill>
              <a:srgbClr val="E5E8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637776" y="3118103"/>
            <a:ext cx="786384" cy="786384"/>
          </a:xfrm>
          <a:prstGeom prst="ellipse">
            <a:avLst/>
          </a:prstGeom>
          <a:solidFill>
            <a:srgbClr val="0A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37776" y="3118103"/>
            <a:ext cx="786384" cy="786384"/>
          </a:xfrm>
          <a:prstGeom prst="rect">
            <a:avLst/>
          </a:prstGeom>
          <a:noFill/>
        </p:spPr>
        <p:txBody>
          <a:bodyPr wrap="square" anchor="ctr" lIns="0" rIns="0" tIns="0" bIns="0">
            <a:spAutoFit/>
          </a:bodyPr>
          <a:lstStyle/>
          <a:p>
            <a:pPr algn="ctr">
              <a:lnSpc>
                <a:spcPct val="100000"/>
              </a:lnSpc>
              <a:spcBef>
                <a:spcPts val="0"/>
              </a:spcBef>
              <a:spcAft>
                <a:spcPts val="400"/>
              </a:spcAft>
            </a:pPr>
            <a:r>
              <a:rPr sz="2600" b="1" i="1">
                <a:solidFill>
                  <a:srgbClr val="F0703F"/>
                </a:solidFill>
                <a:latin typeface="Newsreader"/>
              </a:rPr>
              <a:t>4</a:t>
            </a:r>
          </a:p>
        </p:txBody>
      </p:sp>
      <p:sp>
        <p:nvSpPr>
          <p:cNvPr id="25" name="TextBox 24"/>
          <p:cNvSpPr txBox="1"/>
          <p:nvPr/>
        </p:nvSpPr>
        <p:spPr>
          <a:xfrm>
            <a:off x="9637776" y="4087368"/>
            <a:ext cx="2103120" cy="457200"/>
          </a:xfrm>
          <a:prstGeom prst="rect">
            <a:avLst/>
          </a:prstGeom>
          <a:noFill/>
        </p:spPr>
        <p:txBody>
          <a:bodyPr wrap="square" anchor="t" lIns="0" rIns="0" tIns="0" bIns="0">
            <a:spAutoFit/>
          </a:bodyPr>
          <a:lstStyle/>
          <a:p>
            <a:pPr algn="l">
              <a:lnSpc>
                <a:spcPct val="100000"/>
              </a:lnSpc>
              <a:spcBef>
                <a:spcPts val="0"/>
              </a:spcBef>
              <a:spcAft>
                <a:spcPts val="400"/>
              </a:spcAft>
            </a:pPr>
            <a:r>
              <a:rPr sz="1800" b="1" i="0">
                <a:solidFill>
                  <a:srgbClr val="16243C"/>
                </a:solidFill>
                <a:latin typeface="Hanken Grotesk"/>
              </a:rPr>
              <a:t>Plan</a:t>
            </a:r>
          </a:p>
        </p:txBody>
      </p:sp>
      <p:sp>
        <p:nvSpPr>
          <p:cNvPr id="26" name="TextBox 25"/>
          <p:cNvSpPr txBox="1"/>
          <p:nvPr/>
        </p:nvSpPr>
        <p:spPr>
          <a:xfrm>
            <a:off x="9637776" y="4544568"/>
            <a:ext cx="2148839" cy="1005840"/>
          </a:xfrm>
          <a:prstGeom prst="rect">
            <a:avLst/>
          </a:prstGeom>
          <a:noFill/>
        </p:spPr>
        <p:txBody>
          <a:bodyPr wrap="square" anchor="t" lIns="0" rIns="0" tIns="0" bIns="0">
            <a:spAutoFit/>
          </a:bodyPr>
          <a:lstStyle/>
          <a:p>
            <a:pPr algn="l">
              <a:lnSpc>
                <a:spcPct val="118000"/>
              </a:lnSpc>
              <a:spcBef>
                <a:spcPts val="0"/>
              </a:spcBef>
              <a:spcAft>
                <a:spcPts val="400"/>
              </a:spcAft>
            </a:pPr>
            <a:r>
              <a:rPr sz="1150" b="0" i="0">
                <a:solidFill>
                  <a:srgbClr val="3B4A63"/>
                </a:solidFill>
                <a:latin typeface="Hanken Grotesk"/>
              </a:rPr>
              <a:t>Enter next month's forecast and overall budget before the cycle closes.</a:t>
            </a:r>
          </a:p>
        </p:txBody>
      </p:sp>
      <p:sp>
        <p:nvSpPr>
          <p:cNvPr id="27" name="Rectangle 26"/>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6510528"/>
            <a:ext cx="7315200" cy="274320"/>
          </a:xfrm>
          <a:prstGeom prst="rect">
            <a:avLst/>
          </a:prstGeom>
          <a:noFill/>
        </p:spPr>
        <p:txBody>
          <a:bodyPr wrap="square" anchor="t" lIns="0" rIns="0" tIns="0" bIns="0">
            <a:spAutoFit/>
          </a:bodyPr>
          <a:lstStyle/>
          <a:p>
            <a:pPr algn="l">
              <a:lnSpc>
                <a:spcPct val="100000"/>
              </a:lnSpc>
              <a:spcBef>
                <a:spcPts val="0"/>
              </a:spcBef>
              <a:spcAft>
                <a:spcPts val="400"/>
              </a:spcAft>
            </a:pPr>
            <a:r>
              <a:rPr sz="850" b="1" i="0" spc="40">
                <a:solidFill>
                  <a:srgbClr val="D9521C"/>
                </a:solidFill>
                <a:latin typeface="Hanken Grotesk"/>
              </a:rPr>
              <a:t>Ogilvy Orbit</a:t>
            </a:r>
            <a:r>
              <a:rPr sz="850" b="0" i="0" spc="40">
                <a:solidFill>
                  <a:srgbClr val="6B7790"/>
                </a:solidFill>
                <a:latin typeface="Hanken Grotesk"/>
              </a:rPr>
              <a:t>   Group Head Guide</a:t>
            </a:r>
          </a:p>
        </p:txBody>
      </p:sp>
      <p:sp>
        <p:nvSpPr>
          <p:cNvPr id="29" name="TextBox 28"/>
          <p:cNvSpPr txBox="1"/>
          <p:nvPr/>
        </p:nvSpPr>
        <p:spPr>
          <a:xfrm>
            <a:off x="548640" y="6510528"/>
            <a:ext cx="10515600" cy="274320"/>
          </a:xfrm>
          <a:prstGeom prst="rect">
            <a:avLst/>
          </a:prstGeom>
          <a:noFill/>
        </p:spPr>
        <p:txBody>
          <a:bodyPr wrap="square" anchor="t" lIns="0" rIns="0" tIns="0" bIns="0">
            <a:spAutoFit/>
          </a:bodyPr>
          <a:lstStyle/>
          <a:p>
            <a:pPr algn="ctr">
              <a:lnSpc>
                <a:spcPct val="100000"/>
              </a:lnSpc>
              <a:spcBef>
                <a:spcPts val="0"/>
              </a:spcBef>
              <a:spcAft>
                <a:spcPts val="400"/>
              </a:spcAft>
            </a:pPr>
            <a:r>
              <a:rPr sz="850" b="1" i="0" spc="80">
                <a:solidFill>
                  <a:srgbClr val="9AA6BC"/>
                </a:solidFill>
                <a:latin typeface="Hanken Grotesk"/>
              </a:rPr>
              <a:t>COLLABORATION &amp; ACCOUNT</a:t>
            </a:r>
          </a:p>
        </p:txBody>
      </p:sp>
      <p:sp>
        <p:nvSpPr>
          <p:cNvPr id="30" name="TextBox 29"/>
          <p:cNvSpPr txBox="1"/>
          <p:nvPr/>
        </p:nvSpPr>
        <p:spPr>
          <a:xfrm>
            <a:off x="4325112" y="6510528"/>
            <a:ext cx="7315200" cy="274320"/>
          </a:xfrm>
          <a:prstGeom prst="rect">
            <a:avLst/>
          </a:prstGeom>
          <a:noFill/>
        </p:spPr>
        <p:txBody>
          <a:bodyPr wrap="square" anchor="t" lIns="0" rIns="0" tIns="0" bIns="0">
            <a:spAutoFit/>
          </a:bodyPr>
          <a:lstStyle/>
          <a:p>
            <a:pPr algn="r">
              <a:lnSpc>
                <a:spcPct val="100000"/>
              </a:lnSpc>
              <a:spcBef>
                <a:spcPts val="0"/>
              </a:spcBef>
              <a:spcAft>
                <a:spcPts val="400"/>
              </a:spcAft>
            </a:pPr>
            <a:r>
              <a:rPr sz="850" b="0" i="0">
                <a:solidFill>
                  <a:srgbClr val="6B7790"/>
                </a:solidFill>
                <a:latin typeface="Spline Sans Mono"/>
              </a:rPr>
              <a:t>26 /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522976" y="1444752"/>
            <a:ext cx="1133856" cy="1133856"/>
          </a:xfrm>
          <a:prstGeom prst="ellipse">
            <a:avLst/>
          </a:prstGeom>
          <a:noFill/>
          <a:ln w="12700">
            <a:solidFill>
              <a:srgbClr val="3A4A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738408" y="1660184"/>
            <a:ext cx="702990" cy="702990"/>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38408" y="1641896"/>
            <a:ext cx="702990" cy="702990"/>
          </a:xfrm>
          <a:prstGeom prst="rect">
            <a:avLst/>
          </a:prstGeom>
          <a:noFill/>
        </p:spPr>
        <p:txBody>
          <a:bodyPr wrap="square" anchor="ctr" lIns="0" rIns="0" tIns="0" bIns="0">
            <a:spAutoFit/>
          </a:bodyPr>
          <a:lstStyle/>
          <a:p>
            <a:pPr algn="ctr">
              <a:lnSpc>
                <a:spcPct val="100000"/>
              </a:lnSpc>
              <a:spcBef>
                <a:spcPts val="0"/>
              </a:spcBef>
              <a:spcAft>
                <a:spcPts val="400"/>
              </a:spcAft>
            </a:pPr>
            <a:r>
              <a:rPr sz="1500" b="1" i="0">
                <a:solidFill>
                  <a:srgbClr val="FFFFFF"/>
                </a:solidFill>
                <a:latin typeface="Hanken Grotesk"/>
              </a:rPr>
              <a:t>O</a:t>
            </a:r>
          </a:p>
        </p:txBody>
      </p:sp>
      <p:sp>
        <p:nvSpPr>
          <p:cNvPr id="6" name="Oval 5"/>
          <p:cNvSpPr/>
          <p:nvPr/>
        </p:nvSpPr>
        <p:spPr>
          <a:xfrm>
            <a:off x="6441399" y="1478767"/>
            <a:ext cx="181416" cy="181416"/>
          </a:xfrm>
          <a:prstGeom prst="ellipse">
            <a:avLst/>
          </a:prstGeom>
          <a:solidFill>
            <a:srgbClr val="F07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118250" y="2442545"/>
            <a:ext cx="113385" cy="113385"/>
          </a:xfrm>
          <a:prstGeom prst="ellipse">
            <a:avLst/>
          </a:prstGeom>
          <a:solidFill>
            <a:srgbClr val="6E86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3063240"/>
            <a:ext cx="11091672" cy="822960"/>
          </a:xfrm>
          <a:prstGeom prst="rect">
            <a:avLst/>
          </a:prstGeom>
          <a:noFill/>
        </p:spPr>
        <p:txBody>
          <a:bodyPr wrap="square" anchor="t" lIns="0" rIns="0" tIns="0" bIns="0">
            <a:spAutoFit/>
          </a:bodyPr>
          <a:lstStyle/>
          <a:p>
            <a:pPr algn="ctr">
              <a:lnSpc>
                <a:spcPct val="100000"/>
              </a:lnSpc>
              <a:spcBef>
                <a:spcPts val="0"/>
              </a:spcBef>
              <a:spcAft>
                <a:spcPts val="400"/>
              </a:spcAft>
            </a:pPr>
            <a:r>
              <a:rPr sz="3800" b="1" i="0">
                <a:solidFill>
                  <a:srgbClr val="FFFFFF"/>
                </a:solidFill>
                <a:latin typeface="Hanken Grotesk"/>
              </a:rPr>
              <a:t>You are ready to fly.</a:t>
            </a:r>
          </a:p>
        </p:txBody>
      </p:sp>
      <p:sp>
        <p:nvSpPr>
          <p:cNvPr id="9" name="TextBox 8"/>
          <p:cNvSpPr txBox="1"/>
          <p:nvPr/>
        </p:nvSpPr>
        <p:spPr>
          <a:xfrm>
            <a:off x="1371600" y="4069080"/>
            <a:ext cx="9445752" cy="822960"/>
          </a:xfrm>
          <a:prstGeom prst="rect">
            <a:avLst/>
          </a:prstGeom>
          <a:noFill/>
        </p:spPr>
        <p:txBody>
          <a:bodyPr wrap="square" anchor="t" lIns="0" rIns="0" tIns="0" bIns="0">
            <a:spAutoFit/>
          </a:bodyPr>
          <a:lstStyle/>
          <a:p>
            <a:pPr algn="ctr">
              <a:lnSpc>
                <a:spcPct val="125000"/>
              </a:lnSpc>
              <a:spcBef>
                <a:spcPts val="0"/>
              </a:spcBef>
              <a:spcAft>
                <a:spcPts val="400"/>
              </a:spcAft>
            </a:pPr>
            <a:r>
              <a:rPr sz="1450" b="0" i="0">
                <a:solidFill>
                  <a:srgbClr val="9FB0CE"/>
                </a:solidFill>
                <a:latin typeface="Hanken Grotesk"/>
              </a:rPr>
              <a:t>Sign in at your Orbit workspace, open your clients, and keep each month current. Your forecasts and records feed every report the leadership team sees.</a:t>
            </a:r>
          </a:p>
        </p:txBody>
      </p:sp>
      <p:sp>
        <p:nvSpPr>
          <p:cNvPr id="10" name="Rectangle 9"/>
          <p:cNvSpPr/>
          <p:nvPr/>
        </p:nvSpPr>
        <p:spPr>
          <a:xfrm>
            <a:off x="5394960" y="5257800"/>
            <a:ext cx="1399032" cy="27432"/>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5440680"/>
            <a:ext cx="11091672" cy="457200"/>
          </a:xfrm>
          <a:prstGeom prst="rect">
            <a:avLst/>
          </a:prstGeom>
          <a:noFill/>
        </p:spPr>
        <p:txBody>
          <a:bodyPr wrap="square" anchor="t" lIns="0" rIns="0" tIns="0" bIns="0">
            <a:spAutoFit/>
          </a:bodyPr>
          <a:lstStyle/>
          <a:p>
            <a:pPr algn="ctr">
              <a:lnSpc>
                <a:spcPct val="100000"/>
              </a:lnSpc>
              <a:spcBef>
                <a:spcPts val="0"/>
              </a:spcBef>
              <a:spcAft>
                <a:spcPts val="400"/>
              </a:spcAft>
            </a:pPr>
            <a:r>
              <a:rPr sz="1200" b="0" i="0">
                <a:solidFill>
                  <a:srgbClr val="9AA6BC"/>
                </a:solidFill>
                <a:latin typeface="Hanken Grotesk"/>
              </a:rPr>
              <a:t>Questions on any screen reach the media team through your admin.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640080"/>
            <a:ext cx="384048" cy="54864"/>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786384"/>
            <a:ext cx="10515600" cy="365760"/>
          </a:xfrm>
          <a:prstGeom prst="rect">
            <a:avLst/>
          </a:prstGeom>
          <a:noFill/>
        </p:spPr>
        <p:txBody>
          <a:bodyPr wrap="square" lIns="0" rIns="0" tIns="0" bIns="0">
            <a:spAutoFit/>
          </a:bodyPr>
          <a:lstStyle/>
          <a:p>
            <a:pPr algn="l"/>
            <a:r>
              <a:rPr sz="1100" b="1">
                <a:solidFill>
                  <a:srgbClr val="D9521C"/>
                </a:solidFill>
                <a:latin typeface="Hanken Grotesk"/>
              </a:rPr>
              <a:t>SPEND ANALYTICS</a:t>
            </a:r>
          </a:p>
        </p:txBody>
      </p:sp>
      <p:sp>
        <p:nvSpPr>
          <p:cNvPr id="5" name="TextBox 4"/>
          <p:cNvSpPr txBox="1"/>
          <p:nvPr/>
        </p:nvSpPr>
        <p:spPr>
          <a:xfrm>
            <a:off x="548640" y="1097280"/>
            <a:ext cx="10972800" cy="731520"/>
          </a:xfrm>
          <a:prstGeom prst="rect">
            <a:avLst/>
          </a:prstGeom>
          <a:noFill/>
        </p:spPr>
        <p:txBody>
          <a:bodyPr wrap="square" lIns="0" rIns="0" tIns="0" bIns="0">
            <a:spAutoFit/>
          </a:bodyPr>
          <a:lstStyle/>
          <a:p>
            <a:pPr algn="l"/>
            <a:r>
              <a:rPr sz="2700" b="1">
                <a:solidFill>
                  <a:srgbClr val="16243C"/>
                </a:solidFill>
                <a:latin typeface="Hanken Grotesk"/>
              </a:rPr>
              <a:t>Spend Analytics, chart by chart</a:t>
            </a:r>
          </a:p>
        </p:txBody>
      </p:sp>
      <p:sp>
        <p:nvSpPr>
          <p:cNvPr id="6" name="TextBox 5"/>
          <p:cNvSpPr txBox="1"/>
          <p:nvPr/>
        </p:nvSpPr>
        <p:spPr>
          <a:xfrm>
            <a:off x="566928" y="1810512"/>
            <a:ext cx="10698480" cy="822960"/>
          </a:xfrm>
          <a:prstGeom prst="rect">
            <a:avLst/>
          </a:prstGeom>
          <a:noFill/>
        </p:spPr>
        <p:txBody>
          <a:bodyPr wrap="square" lIns="0" rIns="0" tIns="0" bIns="0">
            <a:spAutoFit/>
          </a:bodyPr>
          <a:lstStyle/>
          <a:p>
            <a:pPr algn="l"/>
            <a:r>
              <a:rPr sz="1300" b="0">
                <a:solidFill>
                  <a:srgbClr val="3B4A63"/>
                </a:solidFill>
                <a:latin typeface="Hanken Grotesk"/>
              </a:rPr>
              <a:t>Every chart is scoped to your own clients, so the numbers you read are the numbers you own.</a:t>
            </a:r>
          </a:p>
        </p:txBody>
      </p:sp>
      <p:sp>
        <p:nvSpPr>
          <p:cNvPr id="7" name="Oval 6"/>
          <p:cNvSpPr/>
          <p:nvPr/>
        </p:nvSpPr>
        <p:spPr>
          <a:xfrm>
            <a:off x="603504" y="2706624"/>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2615184"/>
            <a:ext cx="10698480" cy="461772"/>
          </a:xfrm>
          <a:prstGeom prst="rect">
            <a:avLst/>
          </a:prstGeom>
          <a:noFill/>
        </p:spPr>
        <p:txBody>
          <a:bodyPr wrap="square" lIns="0" rIns="0" tIns="0" bIns="0">
            <a:spAutoFit/>
          </a:bodyPr>
          <a:lstStyle/>
          <a:p>
            <a:pPr algn="l"/>
            <a:r>
              <a:rPr sz="1200" b="1">
                <a:solidFill>
                  <a:srgbClr val="16243C"/>
                </a:solidFill>
                <a:latin typeface="Hanken Grotesk"/>
              </a:rPr>
              <a:t>Agency Annual Achievement  </a:t>
            </a:r>
            <a:r>
              <a:rPr sz="1150" b="0">
                <a:solidFill>
                  <a:srgbClr val="3B4A63"/>
                </a:solidFill>
                <a:latin typeface="Hanken Grotesk"/>
              </a:rPr>
              <a:t>— Your agency budget vs the target to date, with actual plus forecast fill and a % badge.</a:t>
            </a:r>
          </a:p>
        </p:txBody>
      </p:sp>
      <p:sp>
        <p:nvSpPr>
          <p:cNvPr id="9" name="Oval 8"/>
          <p:cNvSpPr/>
          <p:nvPr/>
        </p:nvSpPr>
        <p:spPr>
          <a:xfrm>
            <a:off x="603504" y="3168396"/>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3076956"/>
            <a:ext cx="10698480" cy="461772"/>
          </a:xfrm>
          <a:prstGeom prst="rect">
            <a:avLst/>
          </a:prstGeom>
          <a:noFill/>
        </p:spPr>
        <p:txBody>
          <a:bodyPr wrap="square" lIns="0" rIns="0" tIns="0" bIns="0">
            <a:spAutoFit/>
          </a:bodyPr>
          <a:lstStyle/>
          <a:p>
            <a:pPr algn="l"/>
            <a:r>
              <a:rPr sz="1200" b="1">
                <a:solidFill>
                  <a:srgbClr val="16243C"/>
                </a:solidFill>
                <a:latin typeface="Hanken Grotesk"/>
              </a:rPr>
              <a:t>Monthly Spend Trend  </a:t>
            </a:r>
            <a:r>
              <a:rPr sz="1150" b="0">
                <a:solidFill>
                  <a:srgbClr val="3B4A63"/>
                </a:solidFill>
                <a:latin typeface="Hanken Grotesk"/>
              </a:rPr>
              <a:t>— One line per year on a fixed Jan to Dec axis, so years compare side by side.</a:t>
            </a:r>
          </a:p>
        </p:txBody>
      </p:sp>
      <p:sp>
        <p:nvSpPr>
          <p:cNvPr id="11" name="Oval 10"/>
          <p:cNvSpPr/>
          <p:nvPr/>
        </p:nvSpPr>
        <p:spPr>
          <a:xfrm>
            <a:off x="603504" y="3630168"/>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3538728"/>
            <a:ext cx="10698480" cy="461772"/>
          </a:xfrm>
          <a:prstGeom prst="rect">
            <a:avLst/>
          </a:prstGeom>
          <a:noFill/>
        </p:spPr>
        <p:txBody>
          <a:bodyPr wrap="square" lIns="0" rIns="0" tIns="0" bIns="0">
            <a:spAutoFit/>
          </a:bodyPr>
          <a:lstStyle/>
          <a:p>
            <a:pPr algn="l"/>
            <a:r>
              <a:rPr sz="1200" b="1">
                <a:solidFill>
                  <a:srgbClr val="16243C"/>
                </a:solidFill>
                <a:latin typeface="Hanken Grotesk"/>
              </a:rPr>
              <a:t>Cumulative Spend  </a:t>
            </a:r>
            <a:r>
              <a:rPr sz="1150" b="0">
                <a:solidFill>
                  <a:srgbClr val="3B4A63"/>
                </a:solidFill>
                <a:latin typeface="Hanken Grotesk"/>
              </a:rPr>
              <a:t>— The running total of committed value building up across the year.</a:t>
            </a:r>
          </a:p>
        </p:txBody>
      </p:sp>
      <p:sp>
        <p:nvSpPr>
          <p:cNvPr id="13" name="Oval 12"/>
          <p:cNvSpPr/>
          <p:nvPr/>
        </p:nvSpPr>
        <p:spPr>
          <a:xfrm>
            <a:off x="603504" y="4091939"/>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4000500"/>
            <a:ext cx="10698480" cy="461772"/>
          </a:xfrm>
          <a:prstGeom prst="rect">
            <a:avLst/>
          </a:prstGeom>
          <a:noFill/>
        </p:spPr>
        <p:txBody>
          <a:bodyPr wrap="square" lIns="0" rIns="0" tIns="0" bIns="0">
            <a:spAutoFit/>
          </a:bodyPr>
          <a:lstStyle/>
          <a:p>
            <a:pPr algn="l"/>
            <a:r>
              <a:rPr sz="1200" b="1">
                <a:solidFill>
                  <a:srgbClr val="16243C"/>
                </a:solidFill>
                <a:latin typeface="Hanken Grotesk"/>
              </a:rPr>
              <a:t>Medium Mix Shift  </a:t>
            </a:r>
            <a:r>
              <a:rPr sz="1150" b="0">
                <a:solidFill>
                  <a:srgbClr val="3B4A63"/>
                </a:solidFill>
                <a:latin typeface="Hanken Grotesk"/>
              </a:rPr>
              <a:t>— A 100% stacked area showing how the TV, Radio and Print share moves over time.</a:t>
            </a:r>
          </a:p>
        </p:txBody>
      </p:sp>
      <p:sp>
        <p:nvSpPr>
          <p:cNvPr id="15" name="Oval 14"/>
          <p:cNvSpPr/>
          <p:nvPr/>
        </p:nvSpPr>
        <p:spPr>
          <a:xfrm>
            <a:off x="603504" y="4553712"/>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4462272"/>
            <a:ext cx="10698480" cy="461772"/>
          </a:xfrm>
          <a:prstGeom prst="rect">
            <a:avLst/>
          </a:prstGeom>
          <a:noFill/>
        </p:spPr>
        <p:txBody>
          <a:bodyPr wrap="square" lIns="0" rIns="0" tIns="0" bIns="0">
            <a:spAutoFit/>
          </a:bodyPr>
          <a:lstStyle/>
          <a:p>
            <a:pPr algn="l"/>
            <a:r>
              <a:rPr sz="1200" b="1">
                <a:solidFill>
                  <a:srgbClr val="16243C"/>
                </a:solidFill>
                <a:latin typeface="Hanken Grotesk"/>
              </a:rPr>
              <a:t>Brand and Client views  </a:t>
            </a:r>
            <a:r>
              <a:rPr sz="1150" b="0">
                <a:solidFill>
                  <a:srgbClr val="3B4A63"/>
                </a:solidFill>
                <a:latin typeface="Hanken Grotesk"/>
              </a:rPr>
              <a:t>— Brand spend trend lines, a client tenure and value bubble, and a flighting calendar.</a:t>
            </a:r>
          </a:p>
        </p:txBody>
      </p:sp>
      <p:sp>
        <p:nvSpPr>
          <p:cNvPr id="17" name="Oval 16"/>
          <p:cNvSpPr/>
          <p:nvPr/>
        </p:nvSpPr>
        <p:spPr>
          <a:xfrm>
            <a:off x="603504" y="5015483"/>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924044"/>
            <a:ext cx="10698480" cy="461772"/>
          </a:xfrm>
          <a:prstGeom prst="rect">
            <a:avLst/>
          </a:prstGeom>
          <a:noFill/>
        </p:spPr>
        <p:txBody>
          <a:bodyPr wrap="square" lIns="0" rIns="0" tIns="0" bIns="0">
            <a:spAutoFit/>
          </a:bodyPr>
          <a:lstStyle/>
          <a:p>
            <a:pPr algn="l"/>
            <a:r>
              <a:rPr sz="1200" b="1">
                <a:solidFill>
                  <a:srgbClr val="16243C"/>
                </a:solidFill>
                <a:latin typeface="Hanken Grotesk"/>
              </a:rPr>
              <a:t>Medium and Media Group donuts  </a:t>
            </a:r>
            <a:r>
              <a:rPr sz="1150" b="0">
                <a:solidFill>
                  <a:srgbClr val="3B4A63"/>
                </a:solidFill>
                <a:latin typeface="Hanken Grotesk"/>
              </a:rPr>
              <a:t>— Share of spend by medium; click a slice to cross filter the channel view.</a:t>
            </a:r>
          </a:p>
        </p:txBody>
      </p:sp>
      <p:sp>
        <p:nvSpPr>
          <p:cNvPr id="19" name="Oval 18"/>
          <p:cNvSpPr/>
          <p:nvPr/>
        </p:nvSpPr>
        <p:spPr>
          <a:xfrm>
            <a:off x="603504" y="5477255"/>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385816"/>
            <a:ext cx="10698480" cy="461772"/>
          </a:xfrm>
          <a:prstGeom prst="rect">
            <a:avLst/>
          </a:prstGeom>
          <a:noFill/>
        </p:spPr>
        <p:txBody>
          <a:bodyPr wrap="square" lIns="0" rIns="0" tIns="0" bIns="0">
            <a:spAutoFit/>
          </a:bodyPr>
          <a:lstStyle/>
          <a:p>
            <a:pPr algn="l"/>
            <a:r>
              <a:rPr sz="1200" b="1">
                <a:solidFill>
                  <a:srgbClr val="16243C"/>
                </a:solidFill>
                <a:latin typeface="Hanken Grotesk"/>
              </a:rPr>
              <a:t>Spend by Channel and Client  </a:t>
            </a:r>
            <a:r>
              <a:rPr sz="1150" b="0">
                <a:solidFill>
                  <a:srgbClr val="3B4A63"/>
                </a:solidFill>
                <a:latin typeface="Hanken Grotesk"/>
              </a:rPr>
              <a:t>— Ranked, clickable lists that jump to Channel Intelligence or the Client Dashboard.</a:t>
            </a:r>
          </a:p>
        </p:txBody>
      </p:sp>
      <p:sp>
        <p:nvSpPr>
          <p:cNvPr id="21" name="Oval 20"/>
          <p:cNvSpPr/>
          <p:nvPr/>
        </p:nvSpPr>
        <p:spPr>
          <a:xfrm>
            <a:off x="603504" y="5939027"/>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847588"/>
            <a:ext cx="10698480" cy="461772"/>
          </a:xfrm>
          <a:prstGeom prst="rect">
            <a:avLst/>
          </a:prstGeom>
          <a:noFill/>
        </p:spPr>
        <p:txBody>
          <a:bodyPr wrap="square" lIns="0" rIns="0" tIns="0" bIns="0">
            <a:spAutoFit/>
          </a:bodyPr>
          <a:lstStyle/>
          <a:p>
            <a:pPr algn="l"/>
            <a:r>
              <a:rPr sz="1200" b="1">
                <a:solidFill>
                  <a:srgbClr val="16243C"/>
                </a:solidFill>
                <a:latin typeface="Hanken Grotesk"/>
              </a:rPr>
              <a:t>Deals and Properties, plus export  </a:t>
            </a:r>
            <a:r>
              <a:rPr sz="1150" b="0">
                <a:solidFill>
                  <a:srgbClr val="3B4A63"/>
                </a:solidFill>
                <a:latin typeface="Hanken Grotesk"/>
              </a:rPr>
              <a:t>— Every negotiated term for your clients, with one click Excel and PDF export.</a:t>
            </a:r>
          </a:p>
        </p:txBody>
      </p:sp>
      <p:sp>
        <p:nvSpPr>
          <p:cNvPr id="23" name="Rectangle 22"/>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6510528"/>
            <a:ext cx="7315200" cy="274320"/>
          </a:xfrm>
          <a:prstGeom prst="rect">
            <a:avLst/>
          </a:prstGeom>
          <a:noFill/>
        </p:spPr>
        <p:txBody>
          <a:bodyPr wrap="square" lIns="0" rIns="0" tIns="0" bIns="0">
            <a:spAutoFit/>
          </a:bodyPr>
          <a:lstStyle/>
          <a:p>
            <a:pPr algn="l"/>
            <a:r>
              <a:rPr sz="850" b="1">
                <a:solidFill>
                  <a:srgbClr val="D9521C"/>
                </a:solidFill>
                <a:latin typeface="Hanken Grotesk"/>
              </a:rPr>
              <a:t>Ogilvy Orbit</a:t>
            </a:r>
            <a:r>
              <a:rPr sz="850" b="0">
                <a:solidFill>
                  <a:srgbClr val="6B7790"/>
                </a:solidFill>
                <a:latin typeface="Hanken Grotesk"/>
              </a:rPr>
              <a:t>   Group Head Guide</a:t>
            </a:r>
          </a:p>
        </p:txBody>
      </p:sp>
      <p:sp>
        <p:nvSpPr>
          <p:cNvPr id="25" name="TextBox 24"/>
          <p:cNvSpPr txBox="1"/>
          <p:nvPr/>
        </p:nvSpPr>
        <p:spPr>
          <a:xfrm>
            <a:off x="548640" y="6510528"/>
            <a:ext cx="10515600" cy="274320"/>
          </a:xfrm>
          <a:prstGeom prst="rect">
            <a:avLst/>
          </a:prstGeom>
          <a:noFill/>
        </p:spPr>
        <p:txBody>
          <a:bodyPr wrap="square" lIns="0" rIns="0" tIns="0" bIns="0">
            <a:spAutoFit/>
          </a:bodyPr>
          <a:lstStyle/>
          <a:p>
            <a:pPr algn="ctr"/>
            <a:r>
              <a:rPr sz="850" b="1">
                <a:solidFill>
                  <a:srgbClr val="9AA6BC"/>
                </a:solidFill>
                <a:latin typeface="Hanken Grotesk"/>
              </a:rPr>
              <a:t>DAILY WORKSPACE</a:t>
            </a:r>
          </a:p>
        </p:txBody>
      </p:sp>
      <p:sp>
        <p:nvSpPr>
          <p:cNvPr id="26" name="TextBox 25"/>
          <p:cNvSpPr txBox="1"/>
          <p:nvPr/>
        </p:nvSpPr>
        <p:spPr>
          <a:xfrm>
            <a:off x="4325112" y="6510528"/>
            <a:ext cx="7315200" cy="274320"/>
          </a:xfrm>
          <a:prstGeom prst="rect">
            <a:avLst/>
          </a:prstGeom>
          <a:noFill/>
        </p:spPr>
        <p:txBody>
          <a:bodyPr wrap="square" lIns="0" rIns="0" tIns="0" bIns="0">
            <a:spAutoFit/>
          </a:bodyPr>
          <a:lstStyle/>
          <a:p>
            <a:pPr algn="r"/>
            <a:r>
              <a:rPr sz="850" b="0">
                <a:solidFill>
                  <a:srgbClr val="6B7790"/>
                </a:solidFill>
                <a:latin typeface="Spline Sans Mono"/>
              </a:rPr>
              <a:t>09 /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640080"/>
            <a:ext cx="384048" cy="54864"/>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786384"/>
            <a:ext cx="10515600" cy="365760"/>
          </a:xfrm>
          <a:prstGeom prst="rect">
            <a:avLst/>
          </a:prstGeom>
          <a:noFill/>
        </p:spPr>
        <p:txBody>
          <a:bodyPr wrap="square" lIns="0" rIns="0" tIns="0" bIns="0">
            <a:spAutoFit/>
          </a:bodyPr>
          <a:lstStyle/>
          <a:p>
            <a:pPr algn="l"/>
            <a:r>
              <a:rPr sz="1100" b="1">
                <a:solidFill>
                  <a:srgbClr val="D9521C"/>
                </a:solidFill>
                <a:latin typeface="Hanken Grotesk"/>
              </a:rPr>
              <a:t>CLIENT DASHBOARD</a:t>
            </a:r>
          </a:p>
        </p:txBody>
      </p:sp>
      <p:sp>
        <p:nvSpPr>
          <p:cNvPr id="5" name="TextBox 4"/>
          <p:cNvSpPr txBox="1"/>
          <p:nvPr/>
        </p:nvSpPr>
        <p:spPr>
          <a:xfrm>
            <a:off x="548640" y="1097280"/>
            <a:ext cx="10972800" cy="731520"/>
          </a:xfrm>
          <a:prstGeom prst="rect">
            <a:avLst/>
          </a:prstGeom>
          <a:noFill/>
        </p:spPr>
        <p:txBody>
          <a:bodyPr wrap="square" lIns="0" rIns="0" tIns="0" bIns="0">
            <a:spAutoFit/>
          </a:bodyPr>
          <a:lstStyle/>
          <a:p>
            <a:pPr algn="l"/>
            <a:r>
              <a:rPr sz="2700" b="1">
                <a:solidFill>
                  <a:srgbClr val="16243C"/>
                </a:solidFill>
                <a:latin typeface="Hanken Grotesk"/>
              </a:rPr>
              <a:t>The Client Dashboard, in detail</a:t>
            </a:r>
          </a:p>
        </p:txBody>
      </p:sp>
      <p:sp>
        <p:nvSpPr>
          <p:cNvPr id="6" name="TextBox 5"/>
          <p:cNvSpPr txBox="1"/>
          <p:nvPr/>
        </p:nvSpPr>
        <p:spPr>
          <a:xfrm>
            <a:off x="566928" y="1810512"/>
            <a:ext cx="10698480" cy="822960"/>
          </a:xfrm>
          <a:prstGeom prst="rect">
            <a:avLst/>
          </a:prstGeom>
          <a:noFill/>
        </p:spPr>
        <p:txBody>
          <a:bodyPr wrap="square" lIns="0" rIns="0" tIns="0" bIns="0">
            <a:spAutoFit/>
          </a:bodyPr>
          <a:lstStyle/>
          <a:p>
            <a:pPr algn="l"/>
            <a:r>
              <a:rPr sz="1300" b="0">
                <a:solidFill>
                  <a:srgbClr val="3B4A63"/>
                </a:solidFill>
                <a:latin typeface="Hanken Grotesk"/>
              </a:rPr>
              <a:t>A focused, chart led view of a single client, so you walk into any review prepared.</a:t>
            </a:r>
          </a:p>
        </p:txBody>
      </p:sp>
      <p:sp>
        <p:nvSpPr>
          <p:cNvPr id="7" name="Oval 6"/>
          <p:cNvSpPr/>
          <p:nvPr/>
        </p:nvSpPr>
        <p:spPr>
          <a:xfrm>
            <a:off x="603504" y="2834640"/>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2743200"/>
            <a:ext cx="10698480" cy="493776"/>
          </a:xfrm>
          <a:prstGeom prst="rect">
            <a:avLst/>
          </a:prstGeom>
          <a:noFill/>
        </p:spPr>
        <p:txBody>
          <a:bodyPr wrap="square" lIns="0" rIns="0" tIns="0" bIns="0">
            <a:spAutoFit/>
          </a:bodyPr>
          <a:lstStyle/>
          <a:p>
            <a:pPr algn="l"/>
            <a:r>
              <a:rPr sz="1200" b="1">
                <a:solidFill>
                  <a:srgbClr val="16243C"/>
                </a:solidFill>
                <a:latin typeface="Hanken Grotesk"/>
              </a:rPr>
              <a:t>Spend trend and channel mix  </a:t>
            </a:r>
            <a:r>
              <a:rPr sz="1150" b="0">
                <a:solidFill>
                  <a:srgbClr val="3B4A63"/>
                </a:solidFill>
                <a:latin typeface="Hanken Grotesk"/>
              </a:rPr>
              <a:t>— How the client investment moves month to month and where it goes.</a:t>
            </a:r>
          </a:p>
        </p:txBody>
      </p:sp>
      <p:sp>
        <p:nvSpPr>
          <p:cNvPr id="9" name="Oval 8"/>
          <p:cNvSpPr/>
          <p:nvPr/>
        </p:nvSpPr>
        <p:spPr>
          <a:xfrm>
            <a:off x="603504" y="3328416"/>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3236976"/>
            <a:ext cx="10698480" cy="493776"/>
          </a:xfrm>
          <a:prstGeom prst="rect">
            <a:avLst/>
          </a:prstGeom>
          <a:noFill/>
        </p:spPr>
        <p:txBody>
          <a:bodyPr wrap="square" lIns="0" rIns="0" tIns="0" bIns="0">
            <a:spAutoFit/>
          </a:bodyPr>
          <a:lstStyle/>
          <a:p>
            <a:pPr algn="l"/>
            <a:r>
              <a:rPr sz="1200" b="1">
                <a:solidFill>
                  <a:srgbClr val="16243C"/>
                </a:solidFill>
                <a:latin typeface="Hanken Grotesk"/>
              </a:rPr>
              <a:t>Year over year growth  </a:t>
            </a:r>
            <a:r>
              <a:rPr sz="1150" b="0">
                <a:solidFill>
                  <a:srgbClr val="3B4A63"/>
                </a:solidFill>
                <a:latin typeface="Hanken Grotesk"/>
              </a:rPr>
              <a:t>— This year to date against the same months last year, so growth is like for like.</a:t>
            </a:r>
          </a:p>
        </p:txBody>
      </p:sp>
      <p:sp>
        <p:nvSpPr>
          <p:cNvPr id="11" name="Oval 10"/>
          <p:cNvSpPr/>
          <p:nvPr/>
        </p:nvSpPr>
        <p:spPr>
          <a:xfrm>
            <a:off x="603504" y="3822191"/>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3730752"/>
            <a:ext cx="10698480" cy="493776"/>
          </a:xfrm>
          <a:prstGeom prst="rect">
            <a:avLst/>
          </a:prstGeom>
          <a:noFill/>
        </p:spPr>
        <p:txBody>
          <a:bodyPr wrap="square" lIns="0" rIns="0" tIns="0" bIns="0">
            <a:spAutoFit/>
          </a:bodyPr>
          <a:lstStyle/>
          <a:p>
            <a:pPr algn="l"/>
            <a:r>
              <a:rPr sz="1200" b="1">
                <a:solidFill>
                  <a:srgbClr val="16243C"/>
                </a:solidFill>
                <a:latin typeface="Hanken Grotesk"/>
              </a:rPr>
              <a:t>Channel Directory  </a:t>
            </a:r>
            <a:r>
              <a:rPr sz="1150" b="0">
                <a:solidFill>
                  <a:srgbClr val="3B4A63"/>
                </a:solidFill>
                <a:latin typeface="Hanken Grotesk"/>
              </a:rPr>
              <a:t>— Every channel the client uses, laid out as cards you can scan at a glance.</a:t>
            </a:r>
          </a:p>
        </p:txBody>
      </p:sp>
      <p:sp>
        <p:nvSpPr>
          <p:cNvPr id="13" name="Oval 12"/>
          <p:cNvSpPr/>
          <p:nvPr/>
        </p:nvSpPr>
        <p:spPr>
          <a:xfrm>
            <a:off x="603504" y="4315968"/>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4224528"/>
            <a:ext cx="10698480" cy="493776"/>
          </a:xfrm>
          <a:prstGeom prst="rect">
            <a:avLst/>
          </a:prstGeom>
          <a:noFill/>
        </p:spPr>
        <p:txBody>
          <a:bodyPr wrap="square" lIns="0" rIns="0" tIns="0" bIns="0">
            <a:spAutoFit/>
          </a:bodyPr>
          <a:lstStyle/>
          <a:p>
            <a:pPr algn="l"/>
            <a:r>
              <a:rPr sz="1200" b="1">
                <a:solidFill>
                  <a:srgbClr val="16243C"/>
                </a:solidFill>
                <a:latin typeface="Hanken Grotesk"/>
              </a:rPr>
              <a:t>Contacts on each card  </a:t>
            </a:r>
            <a:r>
              <a:rPr sz="1150" b="0">
                <a:solidFill>
                  <a:srgbClr val="3B4A63"/>
                </a:solidFill>
                <a:latin typeface="Hanken Grotesk"/>
              </a:rPr>
              <a:t>— The channel rep name, email and mobile you captured on the channel.</a:t>
            </a:r>
          </a:p>
        </p:txBody>
      </p:sp>
      <p:sp>
        <p:nvSpPr>
          <p:cNvPr id="15" name="Oval 14"/>
          <p:cNvSpPr/>
          <p:nvPr/>
        </p:nvSpPr>
        <p:spPr>
          <a:xfrm>
            <a:off x="603504" y="4809744"/>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4718304"/>
            <a:ext cx="10698480" cy="493776"/>
          </a:xfrm>
          <a:prstGeom prst="rect">
            <a:avLst/>
          </a:prstGeom>
          <a:noFill/>
        </p:spPr>
        <p:txBody>
          <a:bodyPr wrap="square" lIns="0" rIns="0" tIns="0" bIns="0">
            <a:spAutoFit/>
          </a:bodyPr>
          <a:lstStyle/>
          <a:p>
            <a:pPr algn="l"/>
            <a:r>
              <a:rPr sz="1200" b="1">
                <a:solidFill>
                  <a:srgbClr val="16243C"/>
                </a:solidFill>
                <a:latin typeface="Hanken Grotesk"/>
              </a:rPr>
              <a:t>Deal terms on each card  </a:t>
            </a:r>
            <a:r>
              <a:rPr sz="1150" b="0">
                <a:solidFill>
                  <a:srgbClr val="3B4A63"/>
                </a:solidFill>
                <a:latin typeface="Hanken Grotesk"/>
              </a:rPr>
              <a:t>— The discount and bonus terms recorded for that client and channel.</a:t>
            </a:r>
          </a:p>
        </p:txBody>
      </p:sp>
      <p:sp>
        <p:nvSpPr>
          <p:cNvPr id="17" name="Oval 16"/>
          <p:cNvSpPr/>
          <p:nvPr/>
        </p:nvSpPr>
        <p:spPr>
          <a:xfrm>
            <a:off x="603504" y="5303520"/>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5212080"/>
            <a:ext cx="10698480" cy="493776"/>
          </a:xfrm>
          <a:prstGeom prst="rect">
            <a:avLst/>
          </a:prstGeom>
          <a:noFill/>
        </p:spPr>
        <p:txBody>
          <a:bodyPr wrap="square" lIns="0" rIns="0" tIns="0" bIns="0">
            <a:spAutoFit/>
          </a:bodyPr>
          <a:lstStyle/>
          <a:p>
            <a:pPr algn="l"/>
            <a:r>
              <a:rPr sz="1200" b="1">
                <a:solidFill>
                  <a:srgbClr val="16243C"/>
                </a:solidFill>
                <a:latin typeface="Hanken Grotesk"/>
              </a:rPr>
              <a:t>Rate cards on each card  </a:t>
            </a:r>
            <a:r>
              <a:rPr sz="1150" b="0">
                <a:solidFill>
                  <a:srgbClr val="3B4A63"/>
                </a:solidFill>
                <a:latin typeface="Hanken Grotesk"/>
              </a:rPr>
              <a:t>— View or download the channel latest negotiated rate card, right from the card.</a:t>
            </a:r>
          </a:p>
        </p:txBody>
      </p:sp>
      <p:sp>
        <p:nvSpPr>
          <p:cNvPr id="19" name="Oval 18"/>
          <p:cNvSpPr/>
          <p:nvPr/>
        </p:nvSpPr>
        <p:spPr>
          <a:xfrm>
            <a:off x="603504" y="5797296"/>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705856"/>
            <a:ext cx="10698480" cy="493776"/>
          </a:xfrm>
          <a:prstGeom prst="rect">
            <a:avLst/>
          </a:prstGeom>
          <a:noFill/>
        </p:spPr>
        <p:txBody>
          <a:bodyPr wrap="square" lIns="0" rIns="0" tIns="0" bIns="0">
            <a:spAutoFit/>
          </a:bodyPr>
          <a:lstStyle/>
          <a:p>
            <a:pPr algn="l"/>
            <a:r>
              <a:rPr sz="1200" b="1">
                <a:solidFill>
                  <a:srgbClr val="16243C"/>
                </a:solidFill>
                <a:latin typeface="Hanken Grotesk"/>
              </a:rPr>
              <a:t>Click through to intelligence  </a:t>
            </a:r>
            <a:r>
              <a:rPr sz="1150" b="0">
                <a:solidFill>
                  <a:srgbClr val="3B4A63"/>
                </a:solidFill>
                <a:latin typeface="Hanken Grotesk"/>
              </a:rPr>
              <a:t>— Open any channel straight into Channel Intelligence for the deeper read.</a:t>
            </a:r>
          </a:p>
        </p:txBody>
      </p:sp>
      <p:sp>
        <p:nvSpPr>
          <p:cNvPr id="21" name="Rectangle 20"/>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6510528"/>
            <a:ext cx="7315200" cy="274320"/>
          </a:xfrm>
          <a:prstGeom prst="rect">
            <a:avLst/>
          </a:prstGeom>
          <a:noFill/>
        </p:spPr>
        <p:txBody>
          <a:bodyPr wrap="square" lIns="0" rIns="0" tIns="0" bIns="0">
            <a:spAutoFit/>
          </a:bodyPr>
          <a:lstStyle/>
          <a:p>
            <a:pPr algn="l"/>
            <a:r>
              <a:rPr sz="850" b="1">
                <a:solidFill>
                  <a:srgbClr val="D9521C"/>
                </a:solidFill>
                <a:latin typeface="Hanken Grotesk"/>
              </a:rPr>
              <a:t>Ogilvy Orbit</a:t>
            </a:r>
            <a:r>
              <a:rPr sz="850" b="0">
                <a:solidFill>
                  <a:srgbClr val="6B7790"/>
                </a:solidFill>
                <a:latin typeface="Hanken Grotesk"/>
              </a:rPr>
              <a:t>   Group Head Guide</a:t>
            </a:r>
          </a:p>
        </p:txBody>
      </p:sp>
      <p:sp>
        <p:nvSpPr>
          <p:cNvPr id="23" name="TextBox 22"/>
          <p:cNvSpPr txBox="1"/>
          <p:nvPr/>
        </p:nvSpPr>
        <p:spPr>
          <a:xfrm>
            <a:off x="548640" y="6510528"/>
            <a:ext cx="10515600" cy="274320"/>
          </a:xfrm>
          <a:prstGeom prst="rect">
            <a:avLst/>
          </a:prstGeom>
          <a:noFill/>
        </p:spPr>
        <p:txBody>
          <a:bodyPr wrap="square" lIns="0" rIns="0" tIns="0" bIns="0">
            <a:spAutoFit/>
          </a:bodyPr>
          <a:lstStyle/>
          <a:p>
            <a:pPr algn="ctr"/>
            <a:r>
              <a:rPr sz="850" b="1">
                <a:solidFill>
                  <a:srgbClr val="9AA6BC"/>
                </a:solidFill>
                <a:latin typeface="Hanken Grotesk"/>
              </a:rPr>
              <a:t>DAILY WORKSPACE</a:t>
            </a:r>
          </a:p>
        </p:txBody>
      </p:sp>
      <p:sp>
        <p:nvSpPr>
          <p:cNvPr id="24" name="TextBox 23"/>
          <p:cNvSpPr txBox="1"/>
          <p:nvPr/>
        </p:nvSpPr>
        <p:spPr>
          <a:xfrm>
            <a:off x="4325112" y="6510528"/>
            <a:ext cx="7315200" cy="274320"/>
          </a:xfrm>
          <a:prstGeom prst="rect">
            <a:avLst/>
          </a:prstGeom>
          <a:noFill/>
        </p:spPr>
        <p:txBody>
          <a:bodyPr wrap="square" lIns="0" rIns="0" tIns="0" bIns="0">
            <a:spAutoFit/>
          </a:bodyPr>
          <a:lstStyle/>
          <a:p>
            <a:pPr algn="r"/>
            <a:r>
              <a:rPr sz="850" b="0">
                <a:solidFill>
                  <a:srgbClr val="6B7790"/>
                </a:solidFill>
                <a:latin typeface="Spline Sans Mono"/>
              </a:rPr>
              <a:t>14 /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640080"/>
            <a:ext cx="384048" cy="54864"/>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786384"/>
            <a:ext cx="10515600" cy="365760"/>
          </a:xfrm>
          <a:prstGeom prst="rect">
            <a:avLst/>
          </a:prstGeom>
          <a:noFill/>
        </p:spPr>
        <p:txBody>
          <a:bodyPr wrap="square" lIns="0" rIns="0" tIns="0" bIns="0">
            <a:spAutoFit/>
          </a:bodyPr>
          <a:lstStyle/>
          <a:p>
            <a:pPr algn="l"/>
            <a:r>
              <a:rPr sz="1100" b="1">
                <a:solidFill>
                  <a:srgbClr val="D9521C"/>
                </a:solidFill>
                <a:latin typeface="Hanken Grotesk"/>
              </a:rPr>
              <a:t>RATE CARDS</a:t>
            </a:r>
          </a:p>
        </p:txBody>
      </p:sp>
      <p:sp>
        <p:nvSpPr>
          <p:cNvPr id="5" name="TextBox 4"/>
          <p:cNvSpPr txBox="1"/>
          <p:nvPr/>
        </p:nvSpPr>
        <p:spPr>
          <a:xfrm>
            <a:off x="548640" y="1097280"/>
            <a:ext cx="10972800" cy="731520"/>
          </a:xfrm>
          <a:prstGeom prst="rect">
            <a:avLst/>
          </a:prstGeom>
          <a:noFill/>
        </p:spPr>
        <p:txBody>
          <a:bodyPr wrap="square" lIns="0" rIns="0" tIns="0" bIns="0">
            <a:spAutoFit/>
          </a:bodyPr>
          <a:lstStyle/>
          <a:p>
            <a:pPr algn="l"/>
            <a:r>
              <a:rPr sz="2700" b="1">
                <a:solidFill>
                  <a:srgbClr val="16243C"/>
                </a:solidFill>
                <a:latin typeface="Hanken Grotesk"/>
              </a:rPr>
              <a:t>Rate cards, where you work</a:t>
            </a:r>
          </a:p>
        </p:txBody>
      </p:sp>
      <p:sp>
        <p:nvSpPr>
          <p:cNvPr id="6" name="TextBox 5"/>
          <p:cNvSpPr txBox="1"/>
          <p:nvPr/>
        </p:nvSpPr>
        <p:spPr>
          <a:xfrm>
            <a:off x="566928" y="1810512"/>
            <a:ext cx="10698480" cy="822960"/>
          </a:xfrm>
          <a:prstGeom prst="rect">
            <a:avLst/>
          </a:prstGeom>
          <a:noFill/>
        </p:spPr>
        <p:txBody>
          <a:bodyPr wrap="square" lIns="0" rIns="0" tIns="0" bIns="0">
            <a:spAutoFit/>
          </a:bodyPr>
          <a:lstStyle/>
          <a:p>
            <a:pPr algn="l"/>
            <a:r>
              <a:rPr sz="1300" b="0">
                <a:solidFill>
                  <a:srgbClr val="3B4A63"/>
                </a:solidFill>
                <a:latin typeface="Hanken Grotesk"/>
              </a:rPr>
              <a:t>Each channel negotiated rate card, kept in one place and always shown as the newest version.</a:t>
            </a:r>
          </a:p>
        </p:txBody>
      </p:sp>
      <p:sp>
        <p:nvSpPr>
          <p:cNvPr id="7" name="Oval 6"/>
          <p:cNvSpPr/>
          <p:nvPr/>
        </p:nvSpPr>
        <p:spPr>
          <a:xfrm>
            <a:off x="603504" y="2834640"/>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2743200"/>
            <a:ext cx="10698480" cy="512064"/>
          </a:xfrm>
          <a:prstGeom prst="rect">
            <a:avLst/>
          </a:prstGeom>
          <a:noFill/>
        </p:spPr>
        <p:txBody>
          <a:bodyPr wrap="square" lIns="0" rIns="0" tIns="0" bIns="0">
            <a:spAutoFit/>
          </a:bodyPr>
          <a:lstStyle/>
          <a:p>
            <a:pPr algn="l"/>
            <a:r>
              <a:rPr sz="1200" b="1">
                <a:solidFill>
                  <a:srgbClr val="16243C"/>
                </a:solidFill>
                <a:latin typeface="Hanken Grotesk"/>
              </a:rPr>
              <a:t>On the channel  </a:t>
            </a:r>
            <a:r>
              <a:rPr sz="1150" b="0">
                <a:solidFill>
                  <a:srgbClr val="3B4A63"/>
                </a:solidFill>
                <a:latin typeface="Hanken Grotesk"/>
              </a:rPr>
              <a:t>— Open a channel inside your client to see its current rate card.</a:t>
            </a:r>
          </a:p>
        </p:txBody>
      </p:sp>
      <p:sp>
        <p:nvSpPr>
          <p:cNvPr id="9" name="Oval 8"/>
          <p:cNvSpPr/>
          <p:nvPr/>
        </p:nvSpPr>
        <p:spPr>
          <a:xfrm>
            <a:off x="603504" y="3346704"/>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3255264"/>
            <a:ext cx="10698480" cy="512064"/>
          </a:xfrm>
          <a:prstGeom prst="rect">
            <a:avLst/>
          </a:prstGeom>
          <a:noFill/>
        </p:spPr>
        <p:txBody>
          <a:bodyPr wrap="square" lIns="0" rIns="0" tIns="0" bIns="0">
            <a:spAutoFit/>
          </a:bodyPr>
          <a:lstStyle/>
          <a:p>
            <a:pPr algn="l"/>
            <a:r>
              <a:rPr sz="1200" b="1">
                <a:solidFill>
                  <a:srgbClr val="16243C"/>
                </a:solidFill>
                <a:latin typeface="Hanken Grotesk"/>
              </a:rPr>
              <a:t>On Channel Intelligence  </a:t>
            </a:r>
            <a:r>
              <a:rPr sz="1150" b="0">
                <a:solidFill>
                  <a:srgbClr val="3B4A63"/>
                </a:solidFill>
                <a:latin typeface="Hanken Grotesk"/>
              </a:rPr>
              <a:t>— The channel header shows the latest rate card with a download link.</a:t>
            </a:r>
          </a:p>
        </p:txBody>
      </p:sp>
      <p:sp>
        <p:nvSpPr>
          <p:cNvPr id="11" name="Oval 10"/>
          <p:cNvSpPr/>
          <p:nvPr/>
        </p:nvSpPr>
        <p:spPr>
          <a:xfrm>
            <a:off x="603504" y="3858768"/>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3767328"/>
            <a:ext cx="10698480" cy="512064"/>
          </a:xfrm>
          <a:prstGeom prst="rect">
            <a:avLst/>
          </a:prstGeom>
          <a:noFill/>
        </p:spPr>
        <p:txBody>
          <a:bodyPr wrap="square" lIns="0" rIns="0" tIns="0" bIns="0">
            <a:spAutoFit/>
          </a:bodyPr>
          <a:lstStyle/>
          <a:p>
            <a:pPr algn="l"/>
            <a:r>
              <a:rPr sz="1200" b="1">
                <a:solidFill>
                  <a:srgbClr val="16243C"/>
                </a:solidFill>
                <a:latin typeface="Hanken Grotesk"/>
              </a:rPr>
              <a:t>On the Client Dashboard  </a:t>
            </a:r>
            <a:r>
              <a:rPr sz="1150" b="0">
                <a:solidFill>
                  <a:srgbClr val="3B4A63"/>
                </a:solidFill>
                <a:latin typeface="Hanken Grotesk"/>
              </a:rPr>
              <a:t>— Each channel card in the directory links straight to its rate card.</a:t>
            </a:r>
          </a:p>
        </p:txBody>
      </p:sp>
      <p:sp>
        <p:nvSpPr>
          <p:cNvPr id="13" name="Oval 12"/>
          <p:cNvSpPr/>
          <p:nvPr/>
        </p:nvSpPr>
        <p:spPr>
          <a:xfrm>
            <a:off x="603504" y="4370831"/>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4279392"/>
            <a:ext cx="10698480" cy="512064"/>
          </a:xfrm>
          <a:prstGeom prst="rect">
            <a:avLst/>
          </a:prstGeom>
          <a:noFill/>
        </p:spPr>
        <p:txBody>
          <a:bodyPr wrap="square" lIns="0" rIns="0" tIns="0" bIns="0">
            <a:spAutoFit/>
          </a:bodyPr>
          <a:lstStyle/>
          <a:p>
            <a:pPr algn="l"/>
            <a:r>
              <a:rPr sz="1200" b="1">
                <a:solidFill>
                  <a:srgbClr val="16243C"/>
                </a:solidFill>
                <a:latin typeface="Hanken Grotesk"/>
              </a:rPr>
              <a:t>Always the latest  </a:t>
            </a:r>
            <a:r>
              <a:rPr sz="1150" b="0">
                <a:solidFill>
                  <a:srgbClr val="3B4A63"/>
                </a:solidFill>
                <a:latin typeface="Hanken Grotesk"/>
              </a:rPr>
              <a:t>— When a rate card is updated, Orbit shows the newest and keeps older versions.</a:t>
            </a:r>
          </a:p>
        </p:txBody>
      </p:sp>
      <p:sp>
        <p:nvSpPr>
          <p:cNvPr id="15" name="Oval 14"/>
          <p:cNvSpPr/>
          <p:nvPr/>
        </p:nvSpPr>
        <p:spPr>
          <a:xfrm>
            <a:off x="603504" y="4882896"/>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4791456"/>
            <a:ext cx="10698480" cy="512064"/>
          </a:xfrm>
          <a:prstGeom prst="rect">
            <a:avLst/>
          </a:prstGeom>
          <a:noFill/>
        </p:spPr>
        <p:txBody>
          <a:bodyPr wrap="square" lIns="0" rIns="0" tIns="0" bIns="0">
            <a:spAutoFit/>
          </a:bodyPr>
          <a:lstStyle/>
          <a:p>
            <a:pPr algn="l"/>
            <a:r>
              <a:rPr sz="1200" b="1">
                <a:solidFill>
                  <a:srgbClr val="16243C"/>
                </a:solidFill>
                <a:latin typeface="Hanken Grotesk"/>
              </a:rPr>
              <a:t>View or download  </a:t>
            </a:r>
            <a:r>
              <a:rPr sz="1150" b="0">
                <a:solidFill>
                  <a:srgbClr val="3B4A63"/>
                </a:solidFill>
                <a:latin typeface="Hanken Grotesk"/>
              </a:rPr>
              <a:t>— Open it inline or save the PDF or file to share with your client.</a:t>
            </a:r>
          </a:p>
        </p:txBody>
      </p:sp>
      <p:sp>
        <p:nvSpPr>
          <p:cNvPr id="17" name="Oval 16"/>
          <p:cNvSpPr/>
          <p:nvPr/>
        </p:nvSpPr>
        <p:spPr>
          <a:xfrm>
            <a:off x="603504" y="5394960"/>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5303520"/>
            <a:ext cx="10698480" cy="512064"/>
          </a:xfrm>
          <a:prstGeom prst="rect">
            <a:avLst/>
          </a:prstGeom>
          <a:noFill/>
        </p:spPr>
        <p:txBody>
          <a:bodyPr wrap="square" lIns="0" rIns="0" tIns="0" bIns="0">
            <a:spAutoFit/>
          </a:bodyPr>
          <a:lstStyle/>
          <a:p>
            <a:pPr algn="l"/>
            <a:r>
              <a:rPr sz="1200" b="1">
                <a:solidFill>
                  <a:srgbClr val="16243C"/>
                </a:solidFill>
                <a:latin typeface="Hanken Grotesk"/>
              </a:rPr>
              <a:t>Managed centrally  </a:t>
            </a:r>
            <a:r>
              <a:rPr sz="1150" b="0">
                <a:solidFill>
                  <a:srgbClr val="3B4A63"/>
                </a:solidFill>
                <a:latin typeface="Hanken Grotesk"/>
              </a:rPr>
              <a:t>— The admin team uploads rate cards; you always see the current one for your channels.</a:t>
            </a:r>
          </a:p>
        </p:txBody>
      </p:sp>
      <p:sp>
        <p:nvSpPr>
          <p:cNvPr id="19" name="Rectangle 18"/>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0528"/>
            <a:ext cx="7315200" cy="274320"/>
          </a:xfrm>
          <a:prstGeom prst="rect">
            <a:avLst/>
          </a:prstGeom>
          <a:noFill/>
        </p:spPr>
        <p:txBody>
          <a:bodyPr wrap="square" lIns="0" rIns="0" tIns="0" bIns="0">
            <a:spAutoFit/>
          </a:bodyPr>
          <a:lstStyle/>
          <a:p>
            <a:pPr algn="l"/>
            <a:r>
              <a:rPr sz="850" b="1">
                <a:solidFill>
                  <a:srgbClr val="D9521C"/>
                </a:solidFill>
                <a:latin typeface="Hanken Grotesk"/>
              </a:rPr>
              <a:t>Ogilvy Orbit</a:t>
            </a:r>
            <a:r>
              <a:rPr sz="850" b="0">
                <a:solidFill>
                  <a:srgbClr val="6B7790"/>
                </a:solidFill>
                <a:latin typeface="Hanken Grotesk"/>
              </a:rPr>
              <a:t>   Group Head Guide</a:t>
            </a:r>
          </a:p>
        </p:txBody>
      </p:sp>
      <p:sp>
        <p:nvSpPr>
          <p:cNvPr id="21" name="TextBox 20"/>
          <p:cNvSpPr txBox="1"/>
          <p:nvPr/>
        </p:nvSpPr>
        <p:spPr>
          <a:xfrm>
            <a:off x="548640" y="6510528"/>
            <a:ext cx="10515600" cy="274320"/>
          </a:xfrm>
          <a:prstGeom prst="rect">
            <a:avLst/>
          </a:prstGeom>
          <a:noFill/>
        </p:spPr>
        <p:txBody>
          <a:bodyPr wrap="square" lIns="0" rIns="0" tIns="0" bIns="0">
            <a:spAutoFit/>
          </a:bodyPr>
          <a:lstStyle/>
          <a:p>
            <a:pPr algn="ctr"/>
            <a:r>
              <a:rPr sz="850" b="1">
                <a:solidFill>
                  <a:srgbClr val="9AA6BC"/>
                </a:solidFill>
                <a:latin typeface="Hanken Grotesk"/>
              </a:rPr>
              <a:t>DAILY WORKSPACE</a:t>
            </a:r>
          </a:p>
        </p:txBody>
      </p:sp>
      <p:sp>
        <p:nvSpPr>
          <p:cNvPr id="22" name="TextBox 21"/>
          <p:cNvSpPr txBox="1"/>
          <p:nvPr/>
        </p:nvSpPr>
        <p:spPr>
          <a:xfrm>
            <a:off x="4325112" y="6510528"/>
            <a:ext cx="7315200" cy="274320"/>
          </a:xfrm>
          <a:prstGeom prst="rect">
            <a:avLst/>
          </a:prstGeom>
          <a:noFill/>
        </p:spPr>
        <p:txBody>
          <a:bodyPr wrap="square" lIns="0" rIns="0" tIns="0" bIns="0">
            <a:spAutoFit/>
          </a:bodyPr>
          <a:lstStyle/>
          <a:p>
            <a:pPr algn="r"/>
            <a:r>
              <a:rPr sz="850" b="0">
                <a:solidFill>
                  <a:srgbClr val="6B7790"/>
                </a:solidFill>
                <a:latin typeface="Spline Sans Mono"/>
              </a:rPr>
              <a:t>16 /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640080"/>
            <a:ext cx="384048" cy="54864"/>
          </a:xfrm>
          <a:prstGeom prst="rect">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786384"/>
            <a:ext cx="10515600" cy="365760"/>
          </a:xfrm>
          <a:prstGeom prst="rect">
            <a:avLst/>
          </a:prstGeom>
          <a:noFill/>
        </p:spPr>
        <p:txBody>
          <a:bodyPr wrap="square" lIns="0" rIns="0" tIns="0" bIns="0">
            <a:spAutoFit/>
          </a:bodyPr>
          <a:lstStyle/>
          <a:p>
            <a:pPr algn="l"/>
            <a:r>
              <a:rPr sz="1100" b="1">
                <a:solidFill>
                  <a:srgbClr val="D9521C"/>
                </a:solidFill>
                <a:latin typeface="Hanken Grotesk"/>
              </a:rPr>
              <a:t>CHANNEL INTELLIGENCE</a:t>
            </a:r>
          </a:p>
        </p:txBody>
      </p:sp>
      <p:sp>
        <p:nvSpPr>
          <p:cNvPr id="5" name="TextBox 4"/>
          <p:cNvSpPr txBox="1"/>
          <p:nvPr/>
        </p:nvSpPr>
        <p:spPr>
          <a:xfrm>
            <a:off x="548640" y="1097280"/>
            <a:ext cx="10972800" cy="731520"/>
          </a:xfrm>
          <a:prstGeom prst="rect">
            <a:avLst/>
          </a:prstGeom>
          <a:noFill/>
        </p:spPr>
        <p:txBody>
          <a:bodyPr wrap="square" lIns="0" rIns="0" tIns="0" bIns="0">
            <a:spAutoFit/>
          </a:bodyPr>
          <a:lstStyle/>
          <a:p>
            <a:pPr algn="l"/>
            <a:r>
              <a:rPr sz="2700" b="1">
                <a:solidFill>
                  <a:srgbClr val="16243C"/>
                </a:solidFill>
                <a:latin typeface="Hanken Grotesk"/>
              </a:rPr>
              <a:t>Channel Intelligence, chart by chart</a:t>
            </a:r>
          </a:p>
        </p:txBody>
      </p:sp>
      <p:sp>
        <p:nvSpPr>
          <p:cNvPr id="6" name="TextBox 5"/>
          <p:cNvSpPr txBox="1"/>
          <p:nvPr/>
        </p:nvSpPr>
        <p:spPr>
          <a:xfrm>
            <a:off x="566928" y="1810512"/>
            <a:ext cx="10698480" cy="822960"/>
          </a:xfrm>
          <a:prstGeom prst="rect">
            <a:avLst/>
          </a:prstGeom>
          <a:noFill/>
        </p:spPr>
        <p:txBody>
          <a:bodyPr wrap="square" lIns="0" rIns="0" tIns="0" bIns="0">
            <a:spAutoFit/>
          </a:bodyPr>
          <a:lstStyle/>
          <a:p>
            <a:pPr algn="l"/>
            <a:r>
              <a:rPr sz="1300" b="0">
                <a:solidFill>
                  <a:srgbClr val="3B4A63"/>
                </a:solidFill>
                <a:latin typeface="Hanken Grotesk"/>
              </a:rPr>
              <a:t>A deep, evidence led read on one channel across your clients, so you negotiate from proof.</a:t>
            </a:r>
          </a:p>
        </p:txBody>
      </p:sp>
      <p:sp>
        <p:nvSpPr>
          <p:cNvPr id="7" name="Oval 6"/>
          <p:cNvSpPr/>
          <p:nvPr/>
        </p:nvSpPr>
        <p:spPr>
          <a:xfrm>
            <a:off x="603504" y="2706624"/>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2615184"/>
            <a:ext cx="10698480" cy="461772"/>
          </a:xfrm>
          <a:prstGeom prst="rect">
            <a:avLst/>
          </a:prstGeom>
          <a:noFill/>
        </p:spPr>
        <p:txBody>
          <a:bodyPr wrap="square" lIns="0" rIns="0" tIns="0" bIns="0">
            <a:spAutoFit/>
          </a:bodyPr>
          <a:lstStyle/>
          <a:p>
            <a:pPr algn="l"/>
            <a:r>
              <a:rPr sz="1200" b="1">
                <a:solidFill>
                  <a:srgbClr val="16243C"/>
                </a:solidFill>
                <a:latin typeface="Hanken Grotesk"/>
              </a:rPr>
              <a:t>Spend cards by year  </a:t>
            </a:r>
            <a:r>
              <a:rPr sz="1150" b="0">
                <a:solidFill>
                  <a:srgbClr val="3B4A63"/>
                </a:solidFill>
                <a:latin typeface="Hanken Grotesk"/>
              </a:rPr>
              <a:t>— One card per recent year, plus the peak month and year over year growth.</a:t>
            </a:r>
          </a:p>
        </p:txBody>
      </p:sp>
      <p:sp>
        <p:nvSpPr>
          <p:cNvPr id="9" name="Oval 8"/>
          <p:cNvSpPr/>
          <p:nvPr/>
        </p:nvSpPr>
        <p:spPr>
          <a:xfrm>
            <a:off x="603504" y="3168396"/>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3076956"/>
            <a:ext cx="10698480" cy="461772"/>
          </a:xfrm>
          <a:prstGeom prst="rect">
            <a:avLst/>
          </a:prstGeom>
          <a:noFill/>
        </p:spPr>
        <p:txBody>
          <a:bodyPr wrap="square" lIns="0" rIns="0" tIns="0" bIns="0">
            <a:spAutoFit/>
          </a:bodyPr>
          <a:lstStyle/>
          <a:p>
            <a:pPr algn="l"/>
            <a:r>
              <a:rPr sz="1200" b="1">
                <a:solidFill>
                  <a:srgbClr val="16243C"/>
                </a:solidFill>
                <a:latin typeface="Hanken Grotesk"/>
              </a:rPr>
              <a:t>Monthly Spend Trend  </a:t>
            </a:r>
            <a:r>
              <a:rPr sz="1150" b="0">
                <a:solidFill>
                  <a:srgbClr val="3B4A63"/>
                </a:solidFill>
                <a:latin typeface="Hanken Grotesk"/>
              </a:rPr>
              <a:t>— One line per year on a Jan to Dec axis; click a dot to drill into that month.</a:t>
            </a:r>
          </a:p>
        </p:txBody>
      </p:sp>
      <p:sp>
        <p:nvSpPr>
          <p:cNvPr id="11" name="Oval 10"/>
          <p:cNvSpPr/>
          <p:nvPr/>
        </p:nvSpPr>
        <p:spPr>
          <a:xfrm>
            <a:off x="603504" y="3630168"/>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3538728"/>
            <a:ext cx="10698480" cy="461772"/>
          </a:xfrm>
          <a:prstGeom prst="rect">
            <a:avLst/>
          </a:prstGeom>
          <a:noFill/>
        </p:spPr>
        <p:txBody>
          <a:bodyPr wrap="square" lIns="0" rIns="0" tIns="0" bIns="0">
            <a:spAutoFit/>
          </a:bodyPr>
          <a:lstStyle/>
          <a:p>
            <a:pPr algn="l"/>
            <a:r>
              <a:rPr sz="1200" b="1">
                <a:solidFill>
                  <a:srgbClr val="16243C"/>
                </a:solidFill>
                <a:latin typeface="Hanken Grotesk"/>
              </a:rPr>
              <a:t>Month drill down  </a:t>
            </a:r>
            <a:r>
              <a:rPr sz="1150" b="0">
                <a:solidFill>
                  <a:srgbClr val="3B4A63"/>
                </a:solidFill>
                <a:latin typeface="Hanken Grotesk"/>
              </a:rPr>
              <a:t>— Trace any month back to the exact schedules, grouped by client, that built it.</a:t>
            </a:r>
          </a:p>
        </p:txBody>
      </p:sp>
      <p:sp>
        <p:nvSpPr>
          <p:cNvPr id="13" name="Oval 12"/>
          <p:cNvSpPr/>
          <p:nvPr/>
        </p:nvSpPr>
        <p:spPr>
          <a:xfrm>
            <a:off x="603504" y="4091939"/>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4000500"/>
            <a:ext cx="10698480" cy="461772"/>
          </a:xfrm>
          <a:prstGeom prst="rect">
            <a:avLst/>
          </a:prstGeom>
          <a:noFill/>
        </p:spPr>
        <p:txBody>
          <a:bodyPr wrap="square" lIns="0" rIns="0" tIns="0" bIns="0">
            <a:spAutoFit/>
          </a:bodyPr>
          <a:lstStyle/>
          <a:p>
            <a:pPr algn="l"/>
            <a:r>
              <a:rPr sz="1200" b="1">
                <a:solidFill>
                  <a:srgbClr val="16243C"/>
                </a:solidFill>
                <a:latin typeface="Hanken Grotesk"/>
              </a:rPr>
              <a:t>Spend by Agency over time  </a:t>
            </a:r>
            <a:r>
              <a:rPr sz="1150" b="0">
                <a:solidFill>
                  <a:srgbClr val="3B4A63"/>
                </a:solidFill>
                <a:latin typeface="Hanken Grotesk"/>
              </a:rPr>
              <a:t>— A multi line view of how each agency spend on the channel has moved.</a:t>
            </a:r>
          </a:p>
        </p:txBody>
      </p:sp>
      <p:sp>
        <p:nvSpPr>
          <p:cNvPr id="15" name="Oval 14"/>
          <p:cNvSpPr/>
          <p:nvPr/>
        </p:nvSpPr>
        <p:spPr>
          <a:xfrm>
            <a:off x="603504" y="4553712"/>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4462272"/>
            <a:ext cx="10698480" cy="461772"/>
          </a:xfrm>
          <a:prstGeom prst="rect">
            <a:avLst/>
          </a:prstGeom>
          <a:noFill/>
        </p:spPr>
        <p:txBody>
          <a:bodyPr wrap="square" lIns="0" rIns="0" tIns="0" bIns="0">
            <a:spAutoFit/>
          </a:bodyPr>
          <a:lstStyle/>
          <a:p>
            <a:pPr algn="l"/>
            <a:r>
              <a:rPr sz="1200" b="1">
                <a:solidFill>
                  <a:srgbClr val="16243C"/>
                </a:solidFill>
                <a:latin typeface="Hanken Grotesk"/>
              </a:rPr>
              <a:t>Client Concentration (Pareto)  </a:t>
            </a:r>
            <a:r>
              <a:rPr sz="1150" b="0">
                <a:solidFill>
                  <a:srgbClr val="3B4A63"/>
                </a:solidFill>
                <a:latin typeface="Hanken Grotesk"/>
              </a:rPr>
              <a:t>— Which clients make up the channel spend, with the 80% reference line.</a:t>
            </a:r>
          </a:p>
        </p:txBody>
      </p:sp>
      <p:sp>
        <p:nvSpPr>
          <p:cNvPr id="17" name="Oval 16"/>
          <p:cNvSpPr/>
          <p:nvPr/>
        </p:nvSpPr>
        <p:spPr>
          <a:xfrm>
            <a:off x="603504" y="5015483"/>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924044"/>
            <a:ext cx="10698480" cy="461772"/>
          </a:xfrm>
          <a:prstGeom prst="rect">
            <a:avLst/>
          </a:prstGeom>
          <a:noFill/>
        </p:spPr>
        <p:txBody>
          <a:bodyPr wrap="square" lIns="0" rIns="0" tIns="0" bIns="0">
            <a:spAutoFit/>
          </a:bodyPr>
          <a:lstStyle/>
          <a:p>
            <a:pPr algn="l"/>
            <a:r>
              <a:rPr sz="1200" b="1">
                <a:solidFill>
                  <a:srgbClr val="16243C"/>
                </a:solidFill>
                <a:latin typeface="Hanken Grotesk"/>
              </a:rPr>
              <a:t>Clients on this Channel  </a:t>
            </a:r>
            <a:r>
              <a:rPr sz="1150" b="0">
                <a:solidFill>
                  <a:srgbClr val="3B4A63"/>
                </a:solidFill>
                <a:latin typeface="Hanken Grotesk"/>
              </a:rPr>
              <a:t>— Every client using it, each shown with its own rep contact.</a:t>
            </a:r>
          </a:p>
        </p:txBody>
      </p:sp>
      <p:sp>
        <p:nvSpPr>
          <p:cNvPr id="19" name="Oval 18"/>
          <p:cNvSpPr/>
          <p:nvPr/>
        </p:nvSpPr>
        <p:spPr>
          <a:xfrm>
            <a:off x="603504" y="5477255"/>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385816"/>
            <a:ext cx="10698480" cy="461772"/>
          </a:xfrm>
          <a:prstGeom prst="rect">
            <a:avLst/>
          </a:prstGeom>
          <a:noFill/>
        </p:spPr>
        <p:txBody>
          <a:bodyPr wrap="square" lIns="0" rIns="0" tIns="0" bIns="0">
            <a:spAutoFit/>
          </a:bodyPr>
          <a:lstStyle/>
          <a:p>
            <a:pPr algn="l"/>
            <a:r>
              <a:rPr sz="1200" b="1">
                <a:solidFill>
                  <a:srgbClr val="16243C"/>
                </a:solidFill>
                <a:latin typeface="Hanken Grotesk"/>
              </a:rPr>
              <a:t>Property History Timeline  </a:t>
            </a:r>
            <a:r>
              <a:rPr sz="1150" b="0">
                <a:solidFill>
                  <a:srgbClr val="3B4A63"/>
                </a:solidFill>
                <a:latin typeface="Hanken Grotesk"/>
              </a:rPr>
              <a:t>— The full audit trail of deal terms agreed and changed over time.</a:t>
            </a:r>
          </a:p>
        </p:txBody>
      </p:sp>
      <p:sp>
        <p:nvSpPr>
          <p:cNvPr id="21" name="Oval 20"/>
          <p:cNvSpPr/>
          <p:nvPr/>
        </p:nvSpPr>
        <p:spPr>
          <a:xfrm>
            <a:off x="603504" y="5939027"/>
            <a:ext cx="100584" cy="100584"/>
          </a:xfrm>
          <a:prstGeom prst="ellipse">
            <a:avLst/>
          </a:prstGeom>
          <a:solidFill>
            <a:srgbClr val="D95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847588"/>
            <a:ext cx="10698480" cy="461772"/>
          </a:xfrm>
          <a:prstGeom prst="rect">
            <a:avLst/>
          </a:prstGeom>
          <a:noFill/>
        </p:spPr>
        <p:txBody>
          <a:bodyPr wrap="square" lIns="0" rIns="0" tIns="0" bIns="0">
            <a:spAutoFit/>
          </a:bodyPr>
          <a:lstStyle/>
          <a:p>
            <a:pPr algn="l"/>
            <a:r>
              <a:rPr sz="1200" b="1">
                <a:solidFill>
                  <a:srgbClr val="16243C"/>
                </a:solidFill>
                <a:latin typeface="Hanken Grotesk"/>
              </a:rPr>
              <a:t>Rate card  </a:t>
            </a:r>
            <a:r>
              <a:rPr sz="1150" b="0">
                <a:solidFill>
                  <a:srgbClr val="3B4A63"/>
                </a:solidFill>
                <a:latin typeface="Hanken Grotesk"/>
              </a:rPr>
              <a:t>— View or download the channel latest rate card, with earlier versions kept.</a:t>
            </a:r>
          </a:p>
        </p:txBody>
      </p:sp>
      <p:sp>
        <p:nvSpPr>
          <p:cNvPr id="23" name="Rectangle 22"/>
          <p:cNvSpPr/>
          <p:nvPr/>
        </p:nvSpPr>
        <p:spPr>
          <a:xfrm>
            <a:off x="548640" y="6455664"/>
            <a:ext cx="11091672" cy="10972"/>
          </a:xfrm>
          <a:prstGeom prst="rect">
            <a:avLst/>
          </a:prstGeom>
          <a:solidFill>
            <a:srgbClr val="D6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6510528"/>
            <a:ext cx="7315200" cy="274320"/>
          </a:xfrm>
          <a:prstGeom prst="rect">
            <a:avLst/>
          </a:prstGeom>
          <a:noFill/>
        </p:spPr>
        <p:txBody>
          <a:bodyPr wrap="square" lIns="0" rIns="0" tIns="0" bIns="0">
            <a:spAutoFit/>
          </a:bodyPr>
          <a:lstStyle/>
          <a:p>
            <a:pPr algn="l"/>
            <a:r>
              <a:rPr sz="850" b="1">
                <a:solidFill>
                  <a:srgbClr val="D9521C"/>
                </a:solidFill>
                <a:latin typeface="Hanken Grotesk"/>
              </a:rPr>
              <a:t>Ogilvy Orbit</a:t>
            </a:r>
            <a:r>
              <a:rPr sz="850" b="0">
                <a:solidFill>
                  <a:srgbClr val="6B7790"/>
                </a:solidFill>
                <a:latin typeface="Hanken Grotesk"/>
              </a:rPr>
              <a:t>   Group Head Guide</a:t>
            </a:r>
          </a:p>
        </p:txBody>
      </p:sp>
      <p:sp>
        <p:nvSpPr>
          <p:cNvPr id="25" name="TextBox 24"/>
          <p:cNvSpPr txBox="1"/>
          <p:nvPr/>
        </p:nvSpPr>
        <p:spPr>
          <a:xfrm>
            <a:off x="548640" y="6510528"/>
            <a:ext cx="10515600" cy="274320"/>
          </a:xfrm>
          <a:prstGeom prst="rect">
            <a:avLst/>
          </a:prstGeom>
          <a:noFill/>
        </p:spPr>
        <p:txBody>
          <a:bodyPr wrap="square" lIns="0" rIns="0" tIns="0" bIns="0">
            <a:spAutoFit/>
          </a:bodyPr>
          <a:lstStyle/>
          <a:p>
            <a:pPr algn="ctr"/>
            <a:r>
              <a:rPr sz="850" b="1">
                <a:solidFill>
                  <a:srgbClr val="9AA6BC"/>
                </a:solidFill>
                <a:latin typeface="Hanken Grotesk"/>
              </a:rPr>
              <a:t>DAILY WORKSPACE</a:t>
            </a:r>
          </a:p>
        </p:txBody>
      </p:sp>
      <p:sp>
        <p:nvSpPr>
          <p:cNvPr id="26" name="TextBox 25"/>
          <p:cNvSpPr txBox="1"/>
          <p:nvPr/>
        </p:nvSpPr>
        <p:spPr>
          <a:xfrm>
            <a:off x="4325112" y="6510528"/>
            <a:ext cx="7315200" cy="274320"/>
          </a:xfrm>
          <a:prstGeom prst="rect">
            <a:avLst/>
          </a:prstGeom>
          <a:noFill/>
        </p:spPr>
        <p:txBody>
          <a:bodyPr wrap="square" lIns="0" rIns="0" tIns="0" bIns="0">
            <a:spAutoFit/>
          </a:bodyPr>
          <a:lstStyle/>
          <a:p>
            <a:pPr algn="r"/>
            <a:r>
              <a:rPr sz="850" b="0">
                <a:solidFill>
                  <a:srgbClr val="6B7790"/>
                </a:solidFill>
                <a:latin typeface="Spline Sans Mono"/>
              </a:rPr>
              <a:t>18 /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