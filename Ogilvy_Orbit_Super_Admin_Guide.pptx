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" y="1124712"/>
            <a:ext cx="950976" cy="95097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2517" y="1305397"/>
            <a:ext cx="589605" cy="589605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2517" y="1287109"/>
            <a:ext cx="589605" cy="589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712122" y="1153241"/>
            <a:ext cx="152156" cy="15215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1094" y="1961570"/>
            <a:ext cx="95097" cy="95097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1704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spc="260">
                <a:solidFill>
                  <a:srgbClr val="9AA6BC"/>
                </a:solidFill>
                <a:latin typeface="Hanken Grotesk"/>
              </a:rPr>
              <a:t>OGILVY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81328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Ogilvy </a:t>
            </a:r>
            <a:r>
              <a:rPr sz="4000" b="1" i="1">
                <a:solidFill>
                  <a:srgbClr val="F0703F"/>
                </a:solidFill>
                <a:latin typeface="Newsreader"/>
              </a:rPr>
              <a:t>Orbit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Hanken Grotesk"/>
              </a:rPr>
              <a:t>The Media Buying Records System,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B9C6DE"/>
                </a:solidFill>
                <a:latin typeface="Hanken Grotesk"/>
              </a:rPr>
              <a:t>explained for Super Admins.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9377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The full tour: every dashboard, the finance and negotiation screens, planning, media packages, and the admin controls that run the whole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5943600"/>
            <a:ext cx="457200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AA6BC"/>
                </a:solidFill>
                <a:latin typeface="Hanken Grotesk"/>
              </a:rPr>
              <a:t>Prepared for Super Admins</a:t>
            </a:r>
            <a:r>
              <a:rPr sz="1150" b="0" i="0">
                <a:solidFill>
                  <a:srgbClr val="9AA6BC"/>
                </a:solidFill>
                <a:latin typeface="Spline Sans Mono"/>
              </a:rPr>
              <a:t> 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FULL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One console for
the whole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Every screen, every agency, every user. Nothing is scoped away from you.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Three jobs, all yours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B4A63"/>
                </a:solidFill>
                <a:latin typeface="Hanken Grotesk"/>
              </a:rPr>
              <a:t>As a Super Admin you own the record, the money view and the system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See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Every dashboard and analytics view, across all agencies, unrestricted.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6967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6967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7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Run the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6967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Profit on confirmed spend and the negotiation intelligence behind every deal.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6928" y="2697480"/>
            <a:ext cx="3444239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6928" y="2697480"/>
            <a:ext cx="3444239" cy="82296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6968" y="308152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968" y="30815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Hanken Grotes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6968" y="3931920"/>
            <a:ext cx="280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6243C"/>
                </a:solidFill>
                <a:latin typeface="Hanken Grotesk"/>
              </a:rPr>
              <a:t>Control the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6968" y="4480560"/>
            <a:ext cx="280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B4A63"/>
                </a:solidFill>
                <a:latin typeface="Hanken Grotesk"/>
              </a:rPr>
              <a:t>Users, teams, clients, channels, commissions and the master data underneath.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FULL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40080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YOUR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243C"/>
                </a:solidFill>
                <a:latin typeface="Hanken Grotesk"/>
              </a:rPr>
              <a:t>What a Super Admin can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10512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B4A63"/>
                </a:solidFill>
                <a:latin typeface="Hanken Grotesk"/>
              </a:rPr>
              <a:t>Everything, with nothing scoped away. You see all agencies, run the finance and negotiation views, drive planning, and control every user, team and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779776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Executive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Company-wide billings and pacing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651760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2779776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770632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Deep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63240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Multi year drill down and property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651760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1583" y="2779776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770632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3063240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Every angle on committed spend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57015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685031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75887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68496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Deep read on any single channel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4256" y="3557015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3685031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675887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68496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Branded Excel and PDF on demand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557015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01583" y="3685031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3675887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5" y="3968496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Agency profit on confirmed spend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462272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4590288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58114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Media Buying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73752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Negotiation intelligence and deals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34256" y="4462272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34256" y="4590288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288" y="458114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Forecasting &amp;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4873752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Collect, override and analyse forecasts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01583" y="4462272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3" y="4590288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4581144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Media Packages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5" y="4873752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Build, send and track proposals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367527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" y="5495543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486399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Database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779007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All records, plus multi client import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6" y="5367527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34256" y="5495543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0288" y="5486399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0288" y="5779007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Users, teams, agencies, clients, channels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01583" y="5367527"/>
            <a:ext cx="3538728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01583" y="5495543"/>
            <a:ext cx="64008" cy="493775"/>
          </a:xfrm>
          <a:prstGeom prst="round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57615" y="5486399"/>
            <a:ext cx="32095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243C"/>
                </a:solidFill>
                <a:latin typeface="Hanken Grotesk"/>
              </a:rPr>
              <a:t>Profile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57615" y="5779007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790"/>
                </a:solidFill>
                <a:latin typeface="Hanken Grotesk"/>
              </a:rPr>
              <a:t>Your details and password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FULL CONTROL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SIGNING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secure sign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 sign in with your agency email and a private password. Admin routes are protected on the server, not just hidden in the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in with your Ogilvy email and password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Reset a forgotten password from the same 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1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Every admin action is role checked server side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Sessions are revocable and time out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FULL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Seeing the whole
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The dashboards you lead reviews from, all reading live from the records.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EXECUTIVE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Your home. A billings overview across every agency, with pacing against the annual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Lead with Annual Achievement: budget, pacing, actual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Group Contribution: Budget vs Revenue by head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5818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Compare agencies, mediums and monthly billing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29310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909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a branded summary in one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-exec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DEEP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Deep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drill down for multi year trends, client contribution and property level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Overlay several years on one trend, with a zoom brush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Rank clients and channels by contribution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Sort a property table, including bonus yield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Filter by agency, client and channel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-deep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SPEND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Spend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The deepest analytics screen, unrestricted across every agency and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 dozen charts covering trend, mix and tenure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Filter by agency, client and month range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Cross filter the channel views from the donut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the whole view to Excel or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-spend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09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Channel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 full read on a single channel across every client and agency.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spend, growth and the peak month per channel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Trace any month back to the schedules behind it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5818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9417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which agencies drive the channel over time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29310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909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Gauge how concentrated the channel's clients 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7-channel-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Generate branded, shareable reports for any agency, client or channel, in Excel or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Report by client, agency or canonical channel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Include rate history and property timelines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Download as branded Excel or PDF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Hand a clean document to any stakeholder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8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COMMAND &amp;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THE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Profit and
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The two finance screens only you can see.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Agency profit on confirmed actual spend only. Commission is snapshotted onto each record at entry, so history never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Three cards: Revenue, Profit, Blended percent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Monthly profit trend and profit by agency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Expand any client for its month by month profit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Filter by year, agency and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Commission is frozen at entry, so a later rate change never rewrites past profit.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5-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THE 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MEDIA BUYING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Media Buying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Negotiation intelligence per channel: agency and client discount and bonus deals, year over year, plus a planner.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Track discount and bonus deals by agency and client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year over year trend arrows on each deal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a client breakdown of lifetime spend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9651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Plan a new client's terms against comparable 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-media-buy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THE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Collecting and
analysing forecasts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You collect what group heads submit, override where needed, and analyse the result.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Group heads submit the coming month here. As admin you can target any month and override any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every client and its Submitted or Pending status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Target any month, not just the upcoming one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Enter or correct a client's per channel numbers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Approve client and channel requests from heads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9-forecasting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OVERALL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Overall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The per client worksheet: actual auto filled from forecasts, plus best case, commission and last month 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actual auto filled from entered forecasts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best case and last month billing per client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Commission comes from each client's Admin setting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50799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the worksheet to 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0-forecasting-overall-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FORECASTING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Forecasting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An admin only analytics suite over the forecasts: summary, forecast vs actual, accuracy, trends and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Filter by year, month, agency, client and manager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Read forecast vs actual variance at client or channel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forecast accuracy and best and least accurate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50799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every view to Excel, CSV or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1-forecasting-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DATA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The records and
the proposals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Where the data comes in, and how packages go out.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The schedule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Every schedule record lives here. Beyond per client entry, you can import one file covering every client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Open any client's records and edit in the grid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Import all clients from a single Excel file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673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Resolve clients and channels by name on import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Duplicate rows are detected before anything saves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760720"/>
            <a:ext cx="3931920" cy="566928"/>
          </a:xfrm>
          <a:prstGeom prst="roundRect">
            <a:avLst/>
          </a:prstGeom>
          <a:solidFill>
            <a:srgbClr val="FBEEE7"/>
          </a:solidFill>
          <a:ln w="9525">
            <a:solidFill>
              <a:srgbClr val="F2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43016"/>
            <a:ext cx="3721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D9521C"/>
                </a:solidFill>
                <a:latin typeface="Hanken Grotesk"/>
              </a:rPr>
              <a:t>Tip   </a:t>
            </a:r>
            <a:r>
              <a:rPr sz="1050" b="0" i="0">
                <a:solidFill>
                  <a:srgbClr val="3B4A63"/>
                </a:solidFill>
                <a:latin typeface="Hanken Grotesk"/>
              </a:rPr>
              <a:t>The multi client import handles tens of thousands of rows in one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9-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DATA &amp; COLLABORATION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MEDIA PACKAGES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Media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Build a channel package, send it to group heads, and track every response in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Build a package of channels and rates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Set a proposal deadline, past which it closes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Send to group heads by email and in app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Track interest, follow up and booked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7-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DATA &amp; COLLABORATION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200" b="1" i="1">
                <a:solidFill>
                  <a:srgbClr val="243452"/>
                </a:solidFill>
                <a:latin typeface="Newsread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2402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 spc="240">
                <a:solidFill>
                  <a:srgbClr val="F0703F"/>
                </a:solidFill>
                <a:latin typeface="Hanken Grotesk"/>
              </a:rPr>
              <a:t>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2651760"/>
            <a:ext cx="8869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Hanken Grotesk"/>
              </a:rPr>
              <a:t>Running the
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3977639"/>
            <a:ext cx="79552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The controls that decide who sees what, and keep the master data clean.</a:t>
            </a:r>
          </a:p>
        </p:txBody>
      </p:sp>
      <p:sp>
        <p:nvSpPr>
          <p:cNvPr id="8" name="Oval 7"/>
          <p:cNvSpPr/>
          <p:nvPr/>
        </p:nvSpPr>
        <p:spPr>
          <a:xfrm>
            <a:off x="10981944" y="466344"/>
            <a:ext cx="621792" cy="621792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00084" y="584484"/>
            <a:ext cx="385511" cy="385511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0084" y="566196"/>
            <a:ext cx="385511" cy="385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11" name="Oval 10"/>
          <p:cNvSpPr/>
          <p:nvPr/>
        </p:nvSpPr>
        <p:spPr>
          <a:xfrm>
            <a:off x="11485595" y="484997"/>
            <a:ext cx="99486" cy="9948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08384" y="1013520"/>
            <a:ext cx="62179" cy="62179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Users and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Create users, set their role, and assign the agencies or clients they can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Create a user and set their role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Assign agencies to managers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3467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826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Assign clients directly to heads and planners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1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Export every admin dataset to one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2-admin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Teams and heads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Group clients into teams under a head. The Assign Accounts to Heads card reassigns clients with one click.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Create a team and name its group head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3240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839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Assign clients to a team as instant chips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61587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9757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 client belongs to exactly one team at a time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96511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3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Team structure drives the group contribution 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3-admin-t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Clients and commission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Manage every client, including the agency commission that drives the Profit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Add, edit or move a client between agencies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0175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535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Set commission as a percent or a fixed AOR fee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Choose how a rate change applies to past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0873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Merge duplicate clients in one transaction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4-admin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Channel master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The canonical registry of every channel, with a per row merge to consolidate duplicates.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95144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688335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See every channel with its medium and media group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22325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925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Merge duplicate channels onto one master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5524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884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Reactivate a channel that was auto hidden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88162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1762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Aliases let imports resolve messy names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5-admin-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GROUP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Group revenue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19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Enter each group head's revenue for a month. This drives the Revenue donut on the Executive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002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2903219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9211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Pick a month, defaulting to the one the chart reads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38143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74135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Type a figure per group head, with live shares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9730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09059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A running total keeps the entry honest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43022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82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Saving updates the dashboard at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6-admin-group-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03504"/>
            <a:ext cx="384048" cy="5029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 spc="180">
                <a:solidFill>
                  <a:srgbClr val="D9521C"/>
                </a:solidFill>
                <a:latin typeface="Hanken Grotesk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372160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6243C"/>
                </a:solidFill>
                <a:latin typeface="Hanken Grotesk"/>
              </a:rPr>
              <a:t>Your profile and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29968"/>
            <a:ext cx="36850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B4A63"/>
                </a:solidFill>
                <a:latin typeface="Hanken Grotesk"/>
              </a:rPr>
              <a:t>Keep your own details current and your account secure from a single screen.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79192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spc="120">
                <a:solidFill>
                  <a:srgbClr val="6B7790"/>
                </a:solidFill>
                <a:latin typeface="Hanken Grotesk"/>
              </a:rPr>
              <a:t>WHAT YOU CAN DO HERE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072384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Review your name, role and contact email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401568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Change your password whenever you need to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730752"/>
            <a:ext cx="100584" cy="100584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429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243C"/>
                </a:solidFill>
                <a:latin typeface="Hanken Grotesk"/>
              </a:rPr>
              <a:t>Sign out safely from any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3" y="1110657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DD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037505"/>
            <a:ext cx="7040880" cy="456353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8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37505"/>
            <a:ext cx="7040880" cy="4563533"/>
          </a:xfrm>
          <a:prstGeom prst="rect">
            <a:avLst/>
          </a:prstGeom>
          <a:ln w="12700">
            <a:solidFill>
              <a:srgbClr val="D6DBE3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6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40">
                <a:solidFill>
                  <a:srgbClr val="D9521C"/>
                </a:solidFill>
                <a:latin typeface="Hanken Grotesk"/>
              </a:rPr>
              <a:t>Ogilvy Orbit</a:t>
            </a:r>
            <a:r>
              <a:rPr sz="850" b="0" i="0" spc="40">
                <a:solidFill>
                  <a:srgbClr val="6B7790"/>
                </a:solidFill>
                <a:latin typeface="Hanken Grotesk"/>
              </a:rPr>
              <a:t>   Super Admin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 spc="80">
                <a:solidFill>
                  <a:srgbClr val="9AA6BC"/>
                </a:solidFill>
                <a:latin typeface="Hanken Grotesk"/>
              </a:rPr>
              <a:t>ADMINISTRATION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790"/>
                </a:solidFill>
                <a:latin typeface="Spline Sans Mono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22976" y="1444752"/>
            <a:ext cx="1133856" cy="1133856"/>
          </a:xfrm>
          <a:prstGeom prst="ellipse">
            <a:avLst/>
          </a:prstGeom>
          <a:noFill/>
          <a:ln w="12700">
            <a:solidFill>
              <a:srgbClr val="3A4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738408" y="1660184"/>
            <a:ext cx="702990" cy="702990"/>
          </a:xfrm>
          <a:prstGeom prst="ellipse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38408" y="1641896"/>
            <a:ext cx="702990" cy="7029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anken Grotesk"/>
              </a:rPr>
              <a:t>O</a:t>
            </a:r>
          </a:p>
        </p:txBody>
      </p:sp>
      <p:sp>
        <p:nvSpPr>
          <p:cNvPr id="6" name="Oval 5"/>
          <p:cNvSpPr/>
          <p:nvPr/>
        </p:nvSpPr>
        <p:spPr>
          <a:xfrm>
            <a:off x="6441399" y="1478767"/>
            <a:ext cx="181416" cy="181416"/>
          </a:xfrm>
          <a:prstGeom prst="ellipse">
            <a:avLst/>
          </a:prstGeom>
          <a:solidFill>
            <a:srgbClr val="F07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18250" y="2442545"/>
            <a:ext cx="113385" cy="113385"/>
          </a:xfrm>
          <a:prstGeom prst="ellipse">
            <a:avLst/>
          </a:prstGeom>
          <a:solidFill>
            <a:srgbClr val="6E8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Hanken Grotesk"/>
              </a:rPr>
              <a:t>You run the whole 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69080"/>
            <a:ext cx="9811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9FB0CE"/>
                </a:solidFill>
                <a:latin typeface="Hanken Grotesk"/>
              </a:rPr>
              <a:t>From the executive view down to a single user's role, Orbit is yours to steer. Keep the master data clean, the commissions current, and every screen you have just seen stays trustworthy for everyone below you.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5257800"/>
            <a:ext cx="1399032" cy="27432"/>
          </a:xfrm>
          <a:prstGeom prst="rect">
            <a:avLst/>
          </a:prstGeom>
          <a:solidFill>
            <a:srgbClr val="D9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BC"/>
                </a:solidFill>
                <a:latin typeface="Hanken Grotesk"/>
              </a:rPr>
              <a:t>Questions on any screen reach the media team through your admin.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